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9" roundtripDataSignature="AMtx7mi42vpjsKMxm5AwG/c4IPw8BOj7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22bf27e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22bf27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bc4056dd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bc4056d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b22bf27e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b22bf27e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b22bf27e4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b22bf27e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b22bf27e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b22bf27e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b22bf27e4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b22bf27e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b22bf27e4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b22bf27e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b22bf27e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b22bf27e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b22bf27e4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b22bf27e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b22bf27e4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b22bf27e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b22bf27e4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b22bf27e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c32202a9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bc32202a9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c32202a9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bc32202a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1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b22bf27e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8b22bf27e4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8b22bf27e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g38b22bf27e4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1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1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p1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1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8b22bf27e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g38b22bf27e4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8b22bf27e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g38b22bf27e4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8b22bf27e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g38b22bf27e4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c32202a9c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bc32202a9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1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b22bf27e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g38b22bf27e4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8b22bf27e4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8b22bf27e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1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1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0" name="Google Shape;390;p1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p1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p1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6" name="Google Shape;416;p1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5" name="Google Shape;425;p1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5" name="Google Shape;435;p1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6" name="Google Shape;446;p1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2" name="Google Shape;452;p1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p1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1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p1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p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4" name="Google Shape;484;p1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8b22bf27e4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8b22bf27e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18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" name="Google Shape;27;p1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9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9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9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9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9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8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9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9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5" Type="http://schemas.openxmlformats.org/officeDocument/2006/relationships/image" Target="../media/image3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Relationship Id="rId4" Type="http://schemas.openxmlformats.org/officeDocument/2006/relationships/image" Target="../media/image26.jpg"/><Relationship Id="rId5" Type="http://schemas.openxmlformats.org/officeDocument/2006/relationships/image" Target="../media/image22.png"/><Relationship Id="rId6" Type="http://schemas.openxmlformats.org/officeDocument/2006/relationships/image" Target="../media/image39.jpg"/><Relationship Id="rId7" Type="http://schemas.openxmlformats.org/officeDocument/2006/relationships/image" Target="../media/image32.jpg"/><Relationship Id="rId8" Type="http://schemas.openxmlformats.org/officeDocument/2006/relationships/image" Target="../media/image27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Relationship Id="rId4" Type="http://schemas.openxmlformats.org/officeDocument/2006/relationships/image" Target="../media/image26.jpg"/><Relationship Id="rId9" Type="http://schemas.openxmlformats.org/officeDocument/2006/relationships/image" Target="../media/image45.jpg"/><Relationship Id="rId5" Type="http://schemas.openxmlformats.org/officeDocument/2006/relationships/image" Target="../media/image22.png"/><Relationship Id="rId6" Type="http://schemas.openxmlformats.org/officeDocument/2006/relationships/image" Target="../media/image39.jpg"/><Relationship Id="rId7" Type="http://schemas.openxmlformats.org/officeDocument/2006/relationships/image" Target="../media/image32.jpg"/><Relationship Id="rId8" Type="http://schemas.openxmlformats.org/officeDocument/2006/relationships/image" Target="../media/image27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Relationship Id="rId4" Type="http://schemas.openxmlformats.org/officeDocument/2006/relationships/image" Target="../media/image26.jpg"/><Relationship Id="rId10" Type="http://schemas.openxmlformats.org/officeDocument/2006/relationships/image" Target="../media/image38.jpg"/><Relationship Id="rId9" Type="http://schemas.openxmlformats.org/officeDocument/2006/relationships/image" Target="../media/image45.jpg"/><Relationship Id="rId5" Type="http://schemas.openxmlformats.org/officeDocument/2006/relationships/image" Target="../media/image22.png"/><Relationship Id="rId6" Type="http://schemas.openxmlformats.org/officeDocument/2006/relationships/image" Target="../media/image39.jpg"/><Relationship Id="rId7" Type="http://schemas.openxmlformats.org/officeDocument/2006/relationships/image" Target="../media/image32.jpg"/><Relationship Id="rId8" Type="http://schemas.openxmlformats.org/officeDocument/2006/relationships/image" Target="../media/image27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5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jpg"/><Relationship Id="rId4" Type="http://schemas.openxmlformats.org/officeDocument/2006/relationships/image" Target="../media/image37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7.jpg"/><Relationship Id="rId4" Type="http://schemas.openxmlformats.org/officeDocument/2006/relationships/image" Target="../media/image50.jpg"/><Relationship Id="rId5" Type="http://schemas.openxmlformats.org/officeDocument/2006/relationships/image" Target="../media/image44.png"/><Relationship Id="rId6" Type="http://schemas.openxmlformats.org/officeDocument/2006/relationships/image" Target="../media/image52.png"/><Relationship Id="rId7" Type="http://schemas.openxmlformats.org/officeDocument/2006/relationships/image" Target="../media/image43.jpg"/><Relationship Id="rId8" Type="http://schemas.openxmlformats.org/officeDocument/2006/relationships/image" Target="../media/image4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7.jpg"/><Relationship Id="rId4" Type="http://schemas.openxmlformats.org/officeDocument/2006/relationships/image" Target="../media/image50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7.jpg"/><Relationship Id="rId4" Type="http://schemas.openxmlformats.org/officeDocument/2006/relationships/image" Target="../media/image50.jpg"/><Relationship Id="rId5" Type="http://schemas.openxmlformats.org/officeDocument/2006/relationships/image" Target="../media/image4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7.jpg"/><Relationship Id="rId4" Type="http://schemas.openxmlformats.org/officeDocument/2006/relationships/image" Target="../media/image50.jpg"/><Relationship Id="rId5" Type="http://schemas.openxmlformats.org/officeDocument/2006/relationships/image" Target="../media/image44.png"/><Relationship Id="rId6" Type="http://schemas.openxmlformats.org/officeDocument/2006/relationships/image" Target="../media/image5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7.jpg"/><Relationship Id="rId4" Type="http://schemas.openxmlformats.org/officeDocument/2006/relationships/image" Target="../media/image50.jpg"/><Relationship Id="rId5" Type="http://schemas.openxmlformats.org/officeDocument/2006/relationships/image" Target="../media/image44.png"/><Relationship Id="rId6" Type="http://schemas.openxmlformats.org/officeDocument/2006/relationships/image" Target="../media/image52.png"/><Relationship Id="rId7" Type="http://schemas.openxmlformats.org/officeDocument/2006/relationships/image" Target="../media/image43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2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4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Relationship Id="rId5" Type="http://schemas.openxmlformats.org/officeDocument/2006/relationships/image" Target="../media/image6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9.jpg"/><Relationship Id="rId4" Type="http://schemas.openxmlformats.org/officeDocument/2006/relationships/image" Target="../media/image63.jpg"/><Relationship Id="rId5" Type="http://schemas.openxmlformats.org/officeDocument/2006/relationships/image" Target="../media/image5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to Robotics</a:t>
            </a:r>
            <a:br>
              <a:rPr lang="en-US"/>
            </a:br>
            <a:r>
              <a:rPr lang="en-US"/>
              <a:t>CSE461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Reference Books</a:t>
            </a:r>
            <a:endParaRPr/>
          </a:p>
        </p:txBody>
      </p:sp>
      <p:sp>
        <p:nvSpPr>
          <p:cNvPr id="91" name="Google Shape;91;p10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30861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56250"/>
              <a:buChar char="•"/>
            </a:pPr>
            <a:r>
              <a:rPr lang="en-US"/>
              <a:t>Introduction to AI robotics by Murphy, Robin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56250"/>
              <a:buChar char="•"/>
            </a:pPr>
            <a:r>
              <a:rPr lang="en-US"/>
              <a:t>Intelligent systems and robotics by George W. Zobrist and C.Y. Ho.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56250"/>
              <a:buChar char="•"/>
            </a:pPr>
            <a:r>
              <a:rPr lang="en-US"/>
              <a:t>Springer Handbook of Robotics by Bruno Siciliano, Oussama Khatib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56250"/>
              <a:buChar char="•"/>
            </a:pPr>
            <a:r>
              <a:rPr lang="en-US"/>
              <a:t>Robotics, Vision and Control: Fundamental Algorithms In MATLAB, Second Edition by Peter Corke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56250"/>
              <a:buChar char="•"/>
            </a:pPr>
            <a:r>
              <a:rPr lang="en-US"/>
              <a:t>Modern Robotics: Mechanics, Planning, and Control by Kevin M. Lynch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56250"/>
              <a:buChar char="•"/>
            </a:pPr>
            <a:r>
              <a:rPr lang="en-US"/>
              <a:t>Probabilistic Robotics by Sebastian Thrun, Wolfram Burgard, Dieter Fox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56250"/>
              <a:buChar char="•"/>
            </a:pPr>
            <a:r>
              <a:rPr lang="en-US"/>
              <a:t>Introduction to Robotics by S K Saha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56250"/>
              <a:buChar char="•"/>
            </a:pPr>
            <a:r>
              <a:rPr lang="en-US"/>
              <a:t>Robotics: Control, Sensing, Vision, and Intelligence by K S Fu, Rafael C. Gonzalez, C S G Lee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b22bf27e4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robot?</a:t>
            </a:r>
            <a:endParaRPr/>
          </a:p>
        </p:txBody>
      </p:sp>
      <p:sp>
        <p:nvSpPr>
          <p:cNvPr id="97" name="Google Shape;97;g38b22bf27e4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An </a:t>
            </a:r>
            <a:r>
              <a:rPr lang="en-US">
                <a:solidFill>
                  <a:srgbClr val="0000FF"/>
                </a:solidFill>
              </a:rPr>
              <a:t>embodied agent</a:t>
            </a:r>
            <a:r>
              <a:rPr lang="en-US"/>
              <a:t> that </a:t>
            </a:r>
            <a:r>
              <a:rPr lang="en-US">
                <a:solidFill>
                  <a:srgbClr val="0000FF"/>
                </a:solidFill>
              </a:rPr>
              <a:t>can be programmed</a:t>
            </a:r>
            <a:r>
              <a:rPr lang="en-US"/>
              <a:t> to perform </a:t>
            </a:r>
            <a:r>
              <a:rPr lang="en-US">
                <a:solidFill>
                  <a:srgbClr val="0070C0"/>
                </a:solidFill>
              </a:rPr>
              <a:t>physical tasks</a:t>
            </a:r>
            <a:r>
              <a:rPr lang="en-US"/>
              <a:t>.</a:t>
            </a:r>
            <a:endParaRPr/>
          </a:p>
        </p:txBody>
      </p:sp>
      <p:pic>
        <p:nvPicPr>
          <p:cNvPr id="98" name="Google Shape;98;g38b22bf27e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813" y="2787700"/>
            <a:ext cx="7179474" cy="35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38bc4056dd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500" y="190500"/>
            <a:ext cx="6477000" cy="6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8b22bf27e4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88" y="594225"/>
            <a:ext cx="8129624" cy="541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g38b22bf27e4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300" y="139625"/>
            <a:ext cx="6679400" cy="66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b22bf27e4_0_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Robot?</a:t>
            </a:r>
            <a:endParaRPr/>
          </a:p>
        </p:txBody>
      </p:sp>
      <p:pic>
        <p:nvPicPr>
          <p:cNvPr id="119" name="Google Shape;119;g38b22bf27e4_0_20" title="Screenshot from 2025-10-10 23-06-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00" y="2096100"/>
            <a:ext cx="8725999" cy="35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8b22bf27e4_0_32" title="Screenshot from 2025-10-10 23-09-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1775"/>
            <a:ext cx="9144001" cy="623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8b22bf27e4_0_38" title="Screenshot from 2025-10-10 23-09-12.png"/>
          <p:cNvPicPr preferRelativeResize="0"/>
          <p:nvPr/>
        </p:nvPicPr>
        <p:blipFill rotWithShape="1">
          <a:blip r:embed="rId3">
            <a:alphaModFix/>
          </a:blip>
          <a:srcRect b="0" l="3193" r="3183" t="0"/>
          <a:stretch/>
        </p:blipFill>
        <p:spPr>
          <a:xfrm>
            <a:off x="0" y="98725"/>
            <a:ext cx="9144001" cy="66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8b22bf27e4_0_48" title="Screenshot from 2025-10-10 23-09-28.png"/>
          <p:cNvPicPr preferRelativeResize="0"/>
          <p:nvPr/>
        </p:nvPicPr>
        <p:blipFill rotWithShape="1">
          <a:blip r:embed="rId3">
            <a:alphaModFix/>
          </a:blip>
          <a:srcRect b="0" l="870" r="1349" t="2076"/>
          <a:stretch/>
        </p:blipFill>
        <p:spPr>
          <a:xfrm>
            <a:off x="0" y="223575"/>
            <a:ext cx="9124951" cy="65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8b22bf27e4_0_58" title="Screenshot from 2025-10-10 23-09-37.png"/>
          <p:cNvPicPr preferRelativeResize="0"/>
          <p:nvPr/>
        </p:nvPicPr>
        <p:blipFill rotWithShape="1">
          <a:blip r:embed="rId3">
            <a:alphaModFix/>
          </a:blip>
          <a:srcRect b="0" l="742" r="1669" t="0"/>
          <a:stretch/>
        </p:blipFill>
        <p:spPr>
          <a:xfrm>
            <a:off x="0" y="83125"/>
            <a:ext cx="9144000" cy="67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8b22bf27e4_0_68" title="Screenshot from 2025-10-10 23-10-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" y="237885"/>
            <a:ext cx="9144000" cy="638220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8b22bf27e4_0_68"/>
          <p:cNvSpPr/>
          <p:nvPr/>
        </p:nvSpPr>
        <p:spPr>
          <a:xfrm>
            <a:off x="7783450" y="5689025"/>
            <a:ext cx="730500" cy="84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8b22bf27e4_0_80" title="Screenshot from 2025-10-10 23-18-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50" y="199227"/>
            <a:ext cx="9001500" cy="644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/>
              <a:t>Objective of Robotics</a:t>
            </a:r>
            <a:endParaRPr sz="3959"/>
          </a:p>
        </p:txBody>
      </p:sp>
      <p:sp>
        <p:nvSpPr>
          <p:cNvPr id="156" name="Google Shape;156;p6"/>
          <p:cNvSpPr txBox="1"/>
          <p:nvPr>
            <p:ph idx="1" type="body"/>
          </p:nvPr>
        </p:nvSpPr>
        <p:spPr>
          <a:xfrm>
            <a:off x="457200" y="1600201"/>
            <a:ext cx="8229600" cy="1994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Industry Automation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Smart, IoT and Embedded Systems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Efficient task specific Robot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1131682" y="4300397"/>
            <a:ext cx="7128095" cy="601316"/>
          </a:xfrm>
          <a:prstGeom prst="rect">
            <a:avLst/>
          </a:prstGeom>
          <a:gradFill>
            <a:gsLst>
              <a:gs pos="0">
                <a:srgbClr val="FF932B"/>
              </a:gs>
              <a:gs pos="100000">
                <a:srgbClr val="FFB673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6"/>
              <a:buFont typeface="Calibri"/>
              <a:buNone/>
            </a:pPr>
            <a:r>
              <a:rPr b="0" i="0" lang="en-US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baseline="30000" i="0" lang="en-US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Industrial Revolution</a:t>
            </a:r>
            <a:endParaRPr b="0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Industry Automation</a:t>
            </a:r>
            <a:endParaRPr/>
          </a:p>
        </p:txBody>
      </p:sp>
      <p:pic>
        <p:nvPicPr>
          <p:cNvPr descr="FANUC Industrial Robots at AUDI - YouTube" id="163" name="Google Shape;163;p106"/>
          <p:cNvPicPr preferRelativeResize="0"/>
          <p:nvPr/>
        </p:nvPicPr>
        <p:blipFill rotWithShape="1">
          <a:blip r:embed="rId3">
            <a:alphaModFix/>
          </a:blip>
          <a:srcRect b="0" l="0" r="0" t="19378"/>
          <a:stretch/>
        </p:blipFill>
        <p:spPr>
          <a:xfrm>
            <a:off x="381947" y="2045231"/>
            <a:ext cx="8229600" cy="37320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3529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7"/>
          <p:cNvSpPr/>
          <p:nvPr/>
        </p:nvSpPr>
        <p:spPr>
          <a:xfrm>
            <a:off x="2238975" y="6298969"/>
            <a:ext cx="432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https://www.youtube.com/watch?v=HX6M4QunVmA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452668"/>
            <a:ext cx="9158083" cy="5151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Application specific Robot</a:t>
            </a:r>
            <a:endParaRPr/>
          </a:p>
        </p:txBody>
      </p:sp>
      <p:pic>
        <p:nvPicPr>
          <p:cNvPr descr="Autonomous Security Robot Overview v1.1 - YouTube" id="175" name="Google Shape;175;p1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985" l="0" r="0" t="28092"/>
          <a:stretch/>
        </p:blipFill>
        <p:spPr>
          <a:xfrm>
            <a:off x="478994" y="2032633"/>
            <a:ext cx="8229600" cy="3283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Application specific Robot</a:t>
            </a:r>
            <a:endParaRPr/>
          </a:p>
        </p:txBody>
      </p:sp>
      <p:pic>
        <p:nvPicPr>
          <p:cNvPr descr="Top 10 Amazing Social Robots That Really Exist – RtoZ.Org – Latest  Technology News" id="181" name="Google Shape;181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994" y="2032633"/>
            <a:ext cx="8229600" cy="348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Application specific Robot</a:t>
            </a:r>
            <a:endParaRPr/>
          </a:p>
        </p:txBody>
      </p:sp>
      <p:pic>
        <p:nvPicPr>
          <p:cNvPr descr="5 Benefits of Bringing Robots in the Agricultural Sector – Jeju Media" id="187" name="Google Shape;187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994" y="2078586"/>
            <a:ext cx="8229599" cy="3401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Application specific Robot</a:t>
            </a:r>
            <a:endParaRPr/>
          </a:p>
        </p:txBody>
      </p:sp>
      <p:pic>
        <p:nvPicPr>
          <p:cNvPr descr="The Coolest Medical Robots in Sci-fi Movies - The Medical Futurist - YouTube" id="193" name="Google Shape;193;p114"/>
          <p:cNvPicPr preferRelativeResize="0"/>
          <p:nvPr/>
        </p:nvPicPr>
        <p:blipFill rotWithShape="1">
          <a:blip r:embed="rId3">
            <a:alphaModFix/>
          </a:blip>
          <a:srcRect b="16911" l="0" r="0" t="2089"/>
          <a:stretch/>
        </p:blipFill>
        <p:spPr>
          <a:xfrm>
            <a:off x="478994" y="2032633"/>
            <a:ext cx="8229600" cy="3749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Application specific Robot</a:t>
            </a:r>
            <a:endParaRPr/>
          </a:p>
        </p:txBody>
      </p:sp>
      <p:pic>
        <p:nvPicPr>
          <p:cNvPr descr="Aquanaut, An Autonomous Electric Submarine That Can Transform Itself Into a  Wireless Underwater Robot" id="199" name="Google Shape;199;p115"/>
          <p:cNvPicPr preferRelativeResize="0"/>
          <p:nvPr/>
        </p:nvPicPr>
        <p:blipFill rotWithShape="1">
          <a:blip r:embed="rId3">
            <a:alphaModFix/>
          </a:blip>
          <a:srcRect b="15276" l="0" r="0" t="18117"/>
          <a:stretch/>
        </p:blipFill>
        <p:spPr>
          <a:xfrm>
            <a:off x="478994" y="2032633"/>
            <a:ext cx="8229600" cy="3646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Application specific Robot</a:t>
            </a:r>
            <a:endParaRPr/>
          </a:p>
        </p:txBody>
      </p:sp>
      <p:pic>
        <p:nvPicPr>
          <p:cNvPr descr="Meet Alfred, a robot who can help out in the kitchen - The Boston Globe" id="205" name="Google Shape;205;p116"/>
          <p:cNvPicPr preferRelativeResize="0"/>
          <p:nvPr/>
        </p:nvPicPr>
        <p:blipFill rotWithShape="1">
          <a:blip r:embed="rId3">
            <a:alphaModFix/>
          </a:blip>
          <a:srcRect b="37083" l="0" r="0" t="0"/>
          <a:stretch/>
        </p:blipFill>
        <p:spPr>
          <a:xfrm>
            <a:off x="478994" y="2032633"/>
            <a:ext cx="8229600" cy="3883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Application specific Robot</a:t>
            </a:r>
            <a:endParaRPr/>
          </a:p>
        </p:txBody>
      </p:sp>
      <p:pic>
        <p:nvPicPr>
          <p:cNvPr descr="Image result for perseverance robot" id="211" name="Google Shape;211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92" y="1874067"/>
            <a:ext cx="8238373" cy="4634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.jpg" id="216" name="Google Shape;2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"/>
          <p:cNvSpPr/>
          <p:nvPr/>
        </p:nvSpPr>
        <p:spPr>
          <a:xfrm>
            <a:off x="594225" y="321475"/>
            <a:ext cx="7871100" cy="94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Why Robotics?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5.jpg" id="222" name="Google Shape;2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6.jpg" id="227" name="Google Shape;2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7.jpg" id="232" name="Google Shape;2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8.jpg" id="237" name="Google Shape;2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9.jpg" id="242" name="Google Shape;2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10.jpg" id="247" name="Google Shape;2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bc32202a9c_0_4" title="4d.png"/>
          <p:cNvPicPr preferRelativeResize="0"/>
          <p:nvPr/>
        </p:nvPicPr>
        <p:blipFill rotWithShape="1">
          <a:blip r:embed="rId3">
            <a:alphaModFix/>
          </a:blip>
          <a:srcRect b="9600" l="6220" r="6290" t="9930"/>
          <a:stretch/>
        </p:blipFill>
        <p:spPr>
          <a:xfrm>
            <a:off x="0" y="625400"/>
            <a:ext cx="9144000" cy="5607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c32202a9c_0_0"/>
          <p:cNvSpPr txBox="1"/>
          <p:nvPr/>
        </p:nvSpPr>
        <p:spPr>
          <a:xfrm>
            <a:off x="1766400" y="1977525"/>
            <a:ext cx="59100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Question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 want to build a robot, what kind of challenges you may encounter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Challenges?</a:t>
            </a:r>
            <a:endParaRPr/>
          </a:p>
        </p:txBody>
      </p:sp>
      <p:sp>
        <p:nvSpPr>
          <p:cNvPr id="263" name="Google Shape;263;p1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Limitation of: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Perfect Sensing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Numerical Processing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Muscle Power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Communication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Path planning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Localization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b22bf27e4_0_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Challenges?</a:t>
            </a:r>
            <a:endParaRPr/>
          </a:p>
        </p:txBody>
      </p:sp>
      <p:sp>
        <p:nvSpPr>
          <p:cNvPr id="269" name="Google Shape;269;g38b22bf27e4_0_87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Limitation of: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Perfect Sensing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Numerical Processing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Muscle Power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Communication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Path planning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Localization</a:t>
            </a:r>
            <a:endParaRPr/>
          </a:p>
        </p:txBody>
      </p:sp>
      <p:sp>
        <p:nvSpPr>
          <p:cNvPr id="270" name="Google Shape;270;g38b22bf27e4_0_87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Overcome by: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b22bf27e4_0_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Challenges?</a:t>
            </a:r>
            <a:endParaRPr/>
          </a:p>
        </p:txBody>
      </p:sp>
      <p:sp>
        <p:nvSpPr>
          <p:cNvPr id="276" name="Google Shape;276;g38b22bf27e4_0_93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Limitation of: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Perfect Sensing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Numerical Processing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Muscle Power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Communication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Path planning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Localization</a:t>
            </a:r>
            <a:endParaRPr/>
          </a:p>
        </p:txBody>
      </p:sp>
      <p:sp>
        <p:nvSpPr>
          <p:cNvPr id="277" name="Google Shape;277;g38b22bf27e4_0_93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Overcome by: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Sensor fusion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Computer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Motor, Actuator, Engine and Engineering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Communication Technologies and NLP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Algorithms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GPS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Popular Humanoid Robot</a:t>
            </a:r>
            <a:endParaRPr/>
          </a:p>
        </p:txBody>
      </p:sp>
      <p:pic>
        <p:nvPicPr>
          <p:cNvPr descr="Image result for nao robot" id="283" name="Google Shape;283;p122"/>
          <p:cNvPicPr preferRelativeResize="0"/>
          <p:nvPr/>
        </p:nvPicPr>
        <p:blipFill rotWithShape="1">
          <a:blip r:embed="rId3">
            <a:alphaModFix/>
          </a:blip>
          <a:srcRect b="0" l="26402" r="23432" t="0"/>
          <a:stretch/>
        </p:blipFill>
        <p:spPr>
          <a:xfrm>
            <a:off x="546141" y="2004292"/>
            <a:ext cx="2752254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Popular Humanoid Robot boston" id="284" name="Google Shape;284;p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1370" y="1278256"/>
            <a:ext cx="3657600" cy="5612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simo" id="285" name="Google Shape;285;p1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5127" y="1837698"/>
            <a:ext cx="2794487" cy="449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Popular Humanoid Robot</a:t>
            </a:r>
            <a:endParaRPr/>
          </a:p>
        </p:txBody>
      </p:sp>
      <p:pic>
        <p:nvPicPr>
          <p:cNvPr descr="Image result for nao robot" id="291" name="Google Shape;291;p123"/>
          <p:cNvPicPr preferRelativeResize="0"/>
          <p:nvPr/>
        </p:nvPicPr>
        <p:blipFill rotWithShape="1">
          <a:blip r:embed="rId3">
            <a:alphaModFix/>
          </a:blip>
          <a:srcRect b="0" l="26402" r="23432" t="0"/>
          <a:stretch/>
        </p:blipFill>
        <p:spPr>
          <a:xfrm>
            <a:off x="1339916" y="2199992"/>
            <a:ext cx="2752254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2504" y="1448553"/>
            <a:ext cx="3785480" cy="5047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Popular Humanoid Robot boston" id="293" name="Google Shape;293;p1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1545" y="1078181"/>
            <a:ext cx="3657600" cy="5612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ubo robot" id="294" name="Google Shape;294;p123"/>
          <p:cNvPicPr preferRelativeResize="0"/>
          <p:nvPr/>
        </p:nvPicPr>
        <p:blipFill rotWithShape="1">
          <a:blip r:embed="rId6">
            <a:alphaModFix/>
          </a:blip>
          <a:srcRect b="1653" l="13568" r="12917" t="5955"/>
          <a:stretch/>
        </p:blipFill>
        <p:spPr>
          <a:xfrm>
            <a:off x="0" y="1593407"/>
            <a:ext cx="3023857" cy="454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simo" id="295" name="Google Shape;295;p1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82877" y="1828798"/>
            <a:ext cx="2794488" cy="449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ofia robot" id="296" name="Google Shape;296;p1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3105" y="2009297"/>
            <a:ext cx="3212314" cy="4848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Popular Humanoid Robot</a:t>
            </a:r>
            <a:endParaRPr/>
          </a:p>
        </p:txBody>
      </p:sp>
      <p:pic>
        <p:nvPicPr>
          <p:cNvPr descr="Image result for nao robot" id="302" name="Google Shape;302;p124"/>
          <p:cNvPicPr preferRelativeResize="0"/>
          <p:nvPr/>
        </p:nvPicPr>
        <p:blipFill rotWithShape="1">
          <a:blip r:embed="rId3">
            <a:alphaModFix/>
          </a:blip>
          <a:srcRect b="0" l="26402" r="23432" t="0"/>
          <a:stretch/>
        </p:blipFill>
        <p:spPr>
          <a:xfrm>
            <a:off x="1339916" y="2199992"/>
            <a:ext cx="2752254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2504" y="1448553"/>
            <a:ext cx="3785480" cy="5047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Popular Humanoid Robot boston" id="304" name="Google Shape;304;p1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1545" y="1078181"/>
            <a:ext cx="3657600" cy="5612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ubo robot" id="305" name="Google Shape;305;p124"/>
          <p:cNvPicPr preferRelativeResize="0"/>
          <p:nvPr/>
        </p:nvPicPr>
        <p:blipFill rotWithShape="1">
          <a:blip r:embed="rId6">
            <a:alphaModFix/>
          </a:blip>
          <a:srcRect b="1653" l="13568" r="12917" t="5955"/>
          <a:stretch/>
        </p:blipFill>
        <p:spPr>
          <a:xfrm>
            <a:off x="0" y="1593407"/>
            <a:ext cx="3023857" cy="454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simo" id="306" name="Google Shape;306;p1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82877" y="1828798"/>
            <a:ext cx="2794488" cy="449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ofia robot" id="307" name="Google Shape;307;p1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3105" y="2009297"/>
            <a:ext cx="3212314" cy="4848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Popular Humanoid Robot nasa" id="308" name="Google Shape;308;p1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41545" y="1068310"/>
            <a:ext cx="36576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Popular Humanoid Robot</a:t>
            </a:r>
            <a:endParaRPr/>
          </a:p>
        </p:txBody>
      </p:sp>
      <p:pic>
        <p:nvPicPr>
          <p:cNvPr descr="Image result for nao robot" id="314" name="Google Shape;314;p125"/>
          <p:cNvPicPr preferRelativeResize="0"/>
          <p:nvPr/>
        </p:nvPicPr>
        <p:blipFill rotWithShape="1">
          <a:blip r:embed="rId3">
            <a:alphaModFix/>
          </a:blip>
          <a:srcRect b="0" l="26402" r="23432" t="0"/>
          <a:stretch/>
        </p:blipFill>
        <p:spPr>
          <a:xfrm>
            <a:off x="1339916" y="2199992"/>
            <a:ext cx="2752254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2504" y="1448553"/>
            <a:ext cx="3785480" cy="5047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Popular Humanoid Robot boston" id="316" name="Google Shape;316;p1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1545" y="1078181"/>
            <a:ext cx="3657600" cy="5612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ubo robot" id="317" name="Google Shape;317;p125"/>
          <p:cNvPicPr preferRelativeResize="0"/>
          <p:nvPr/>
        </p:nvPicPr>
        <p:blipFill rotWithShape="1">
          <a:blip r:embed="rId6">
            <a:alphaModFix/>
          </a:blip>
          <a:srcRect b="1653" l="13568" r="12917" t="5955"/>
          <a:stretch/>
        </p:blipFill>
        <p:spPr>
          <a:xfrm>
            <a:off x="0" y="1593407"/>
            <a:ext cx="3023857" cy="454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simo" id="318" name="Google Shape;318;p1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82877" y="1828798"/>
            <a:ext cx="2794488" cy="449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ofia robot" id="319" name="Google Shape;319;p1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3105" y="2009297"/>
            <a:ext cx="3212313" cy="4848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Popular Humanoid Robot nasa" id="320" name="Google Shape;320;p1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41545" y="1068310"/>
            <a:ext cx="36576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titan robot" id="321" name="Google Shape;321;p1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24579" y="271604"/>
            <a:ext cx="4021076" cy="6316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Law of Robot (Asimov)</a:t>
            </a:r>
            <a:endParaRPr/>
          </a:p>
        </p:txBody>
      </p:sp>
      <p:sp>
        <p:nvSpPr>
          <p:cNvPr id="327" name="Google Shape;327;p1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1. </a:t>
            </a:r>
            <a:r>
              <a:rPr b="1" lang="en-US"/>
              <a:t>A robot must not harm human being, nor through in action allow one to come to harm.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28" name="Google Shape;328;p126" title="ChatGPT Image Oct 10, 2025, 11_52_2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4938" y="2756825"/>
            <a:ext cx="2734126" cy="410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b22bf27e4_0_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Law of Robot</a:t>
            </a:r>
            <a:endParaRPr/>
          </a:p>
        </p:txBody>
      </p:sp>
      <p:sp>
        <p:nvSpPr>
          <p:cNvPr id="334" name="Google Shape;334;g38b22bf27e4_0_1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1. A robot must not harm human being, nor through in action allow one to come to harm.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2.</a:t>
            </a:r>
            <a:r>
              <a:rPr lang="en-US"/>
              <a:t> </a:t>
            </a:r>
            <a:r>
              <a:rPr b="1" lang="en-US"/>
              <a:t>A robot must always obey human beings, unless that is in conflict with the first law.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b22bf27e4_0_1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Law of Robot</a:t>
            </a:r>
            <a:endParaRPr/>
          </a:p>
        </p:txBody>
      </p:sp>
      <p:sp>
        <p:nvSpPr>
          <p:cNvPr id="340" name="Google Shape;340;g38b22bf27e4_0_1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3. </a:t>
            </a:r>
            <a:r>
              <a:rPr b="1" lang="en-US"/>
              <a:t>A robot must protect from harm, unless that is in conflict with the first two laws.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41" name="Google Shape;341;g38b22bf27e4_0_118" title="ChatGPT Image Oct 10, 2025, 11_58_2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0963" y="2849947"/>
            <a:ext cx="5322075" cy="35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b22bf27e4_0_1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Law of Robot</a:t>
            </a:r>
            <a:endParaRPr/>
          </a:p>
        </p:txBody>
      </p:sp>
      <p:sp>
        <p:nvSpPr>
          <p:cNvPr id="347" name="Google Shape;347;g38b22bf27e4_0_1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1. A robot must not harm human being, nor through in action allow one to come to harm.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2. A robot must always obey human beings, unless that is in conflict with the first law.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3. A robot must protect from harm, unless that is in conflict with the first two laws.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4. </a:t>
            </a:r>
            <a:r>
              <a:rPr b="1" lang="en-US"/>
              <a:t>A robot always should have a kill switch. </a:t>
            </a:r>
            <a:endParaRPr b="1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c32202a9c_0_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What does the </a:t>
            </a: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Laws of Robotics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 answer??</a:t>
            </a:r>
            <a:endParaRPr sz="3000"/>
          </a:p>
        </p:txBody>
      </p:sp>
      <p:sp>
        <p:nvSpPr>
          <p:cNvPr id="353" name="Google Shape;353;g3bc32202a9c_0_9"/>
          <p:cNvSpPr txBox="1"/>
          <p:nvPr/>
        </p:nvSpPr>
        <p:spPr>
          <a:xfrm>
            <a:off x="853050" y="1656150"/>
            <a:ext cx="7437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How should a robot behave around humans?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How robots must behave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Ethics</a:t>
            </a:r>
            <a:endParaRPr sz="2100"/>
          </a:p>
        </p:txBody>
      </p:sp>
      <p:sp>
        <p:nvSpPr>
          <p:cNvPr id="354" name="Google Shape;354;g3bc32202a9c_0_9"/>
          <p:cNvSpPr txBox="1"/>
          <p:nvPr/>
        </p:nvSpPr>
        <p:spPr>
          <a:xfrm>
            <a:off x="457200" y="3284250"/>
            <a:ext cx="77982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</a:rPr>
              <a:t>Suppose you have built a perfect ethical robot. It knows all the laws and always behaves correctly.</a:t>
            </a:r>
            <a:br>
              <a:rPr i="1" lang="en-US" sz="1500">
                <a:solidFill>
                  <a:schemeClr val="dk1"/>
                </a:solidFill>
              </a:rPr>
            </a:br>
            <a:r>
              <a:rPr i="1" lang="en-US" sz="1500">
                <a:solidFill>
                  <a:schemeClr val="dk1"/>
                </a:solidFill>
              </a:rPr>
              <a:t>Now ask yourself: should we use this robot in every application?</a:t>
            </a:r>
            <a:endParaRPr i="1" sz="1500">
              <a:solidFill>
                <a:schemeClr val="dk1"/>
              </a:solidFill>
            </a:endParaRPr>
          </a:p>
          <a:p>
            <a:pPr indent="0" lvl="0" marL="3810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381000" marR="3810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1500">
                <a:solidFill>
                  <a:schemeClr val="dk1"/>
                </a:solidFill>
              </a:rPr>
              <a:t>Just because a robot can behave ethically does not mean it should replace humans everywhere. We still need to decide </a:t>
            </a:r>
            <a:r>
              <a:rPr b="1" i="1" lang="en-US" sz="1500">
                <a:solidFill>
                  <a:schemeClr val="dk1"/>
                </a:solidFill>
              </a:rPr>
              <a:t>where</a:t>
            </a:r>
            <a:r>
              <a:rPr i="1" lang="en-US" sz="1500">
                <a:solidFill>
                  <a:schemeClr val="dk1"/>
                </a:solidFill>
              </a:rPr>
              <a:t> a robot is appropriate. That decision is guided by the Thumb Rules of Robotics.</a:t>
            </a:r>
            <a:endParaRPr i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Thumb Rules on the decision of a Robot Uses</a:t>
            </a:r>
            <a:endParaRPr/>
          </a:p>
        </p:txBody>
      </p:sp>
      <p:sp>
        <p:nvSpPr>
          <p:cNvPr id="360" name="Google Shape;360;p1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Char char="•"/>
            </a:pPr>
            <a:r>
              <a:rPr lang="en-US"/>
              <a:t>The first rule to consider, what is known as the </a:t>
            </a:r>
            <a:r>
              <a:rPr lang="en-US">
                <a:solidFill>
                  <a:schemeClr val="accent1"/>
                </a:solidFill>
              </a:rPr>
              <a:t>Four Ds of Robotics</a:t>
            </a:r>
            <a:r>
              <a:rPr lang="en-US"/>
              <a:t>, i.e. is the task dirty, dull, dangerous, or difficult? If so, a human will probably not be able to do the job efficiently. Therefore, the job is appropriate for automation or for robotic labor.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Char char="•"/>
            </a:pPr>
            <a:r>
              <a:rPr lang="en-US"/>
              <a:t>The second rule is that a </a:t>
            </a:r>
            <a:r>
              <a:rPr lang="en-US">
                <a:solidFill>
                  <a:schemeClr val="dk2"/>
                </a:solidFill>
              </a:rPr>
              <a:t>robot may not leave a human jobless</a:t>
            </a:r>
            <a:r>
              <a:rPr lang="en-US"/>
              <a:t>. Robotics and automation must serve to make our lives more enjoyable, not miserable.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Char char="•"/>
            </a:pPr>
            <a:r>
              <a:rPr lang="en-US"/>
              <a:t>A third rule involves asking whether you can </a:t>
            </a:r>
            <a:r>
              <a:rPr lang="en-US">
                <a:solidFill>
                  <a:schemeClr val="dk2"/>
                </a:solidFill>
              </a:rPr>
              <a:t>find people who are willing to do the job</a:t>
            </a:r>
            <a:r>
              <a:rPr lang="en-US"/>
              <a:t>. If not, the job is a candidate for automation and Robotics.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Char char="•"/>
            </a:pPr>
            <a:r>
              <a:rPr lang="en-US"/>
              <a:t>A four rule of thumb is that the use of </a:t>
            </a:r>
            <a:r>
              <a:rPr lang="en-US">
                <a:solidFill>
                  <a:schemeClr val="dk2"/>
                </a:solidFill>
              </a:rPr>
              <a:t>robots or automation must make short-term and long-term economic sense</a:t>
            </a:r>
            <a:r>
              <a:rPr lang="en-US"/>
              <a:t>.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8b22bf27e4_0_1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Open Question</a:t>
            </a:r>
            <a:endParaRPr/>
          </a:p>
        </p:txBody>
      </p:sp>
      <p:pic>
        <p:nvPicPr>
          <p:cNvPr id="366" name="Google Shape;366;g38b22bf27e4_0_136" title="Screenshot from 2025-10-11 00-01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525" y="1221350"/>
            <a:ext cx="8436326" cy="496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8b22bf27e4_0_131"/>
          <p:cNvSpPr txBox="1"/>
          <p:nvPr>
            <p:ph type="title"/>
          </p:nvPr>
        </p:nvSpPr>
        <p:spPr>
          <a:xfrm>
            <a:off x="457200" y="285748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of Robots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upload.wikimedia.org/wikipedia/commons/thumb/e/e8/Unmanned_Vehicles_%E2%80%93_the_increasing_challenge_of_autonomy1..tiff/lossy-page1-889px-Unmanned_Vehicles_%E2%80%93_the_increasing_challenge_of_autonomy1..tiff.jpg" id="376" name="Google Shape;376;p128"/>
          <p:cNvPicPr preferRelativeResize="0"/>
          <p:nvPr/>
        </p:nvPicPr>
        <p:blipFill rotWithShape="1">
          <a:blip r:embed="rId3">
            <a:alphaModFix/>
          </a:blip>
          <a:srcRect b="12778" l="10089" r="1709" t="1945"/>
          <a:stretch/>
        </p:blipFill>
        <p:spPr>
          <a:xfrm>
            <a:off x="4762122" y="1510761"/>
            <a:ext cx="3965419" cy="234601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Uncrewed Vehicle</a:t>
            </a:r>
            <a:endParaRPr/>
          </a:p>
        </p:txBody>
      </p:sp>
      <p:sp>
        <p:nvSpPr>
          <p:cNvPr id="378" name="Google Shape;378;p1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Char char="•"/>
            </a:pPr>
            <a:r>
              <a:rPr lang="en-US"/>
              <a:t>Remote control vehicle (RC)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Char char="•"/>
            </a:pPr>
            <a:r>
              <a:rPr lang="en-US"/>
              <a:t>Unmanned ground vehicle (UGV)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Char char="•"/>
            </a:pPr>
            <a:r>
              <a:rPr lang="en-US"/>
              <a:t>Unmanned aerial vehicle (UAV)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1836"/>
              <a:buChar char="–"/>
            </a:pPr>
            <a:r>
              <a:rPr lang="en-US"/>
              <a:t>Unmanned combat aerial vehicle (UCAV)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1836"/>
              <a:buChar char="–"/>
            </a:pPr>
            <a:r>
              <a:rPr lang="en-US"/>
              <a:t>Miniature UAV (SUAV)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1836"/>
              <a:buChar char="–"/>
            </a:pPr>
            <a:r>
              <a:rPr lang="en-US"/>
              <a:t>Delivery drone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1836"/>
              <a:buChar char="–"/>
            </a:pPr>
            <a:r>
              <a:rPr lang="en-US"/>
              <a:t>Micro air vehicle (MAV)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1836"/>
              <a:buChar char="–"/>
            </a:pPr>
            <a:r>
              <a:rPr lang="en-US"/>
              <a:t>Target drone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Char char="•"/>
            </a:pPr>
            <a:r>
              <a:rPr lang="en-US"/>
              <a:t>Autonomous spaceport drone ship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Char char="•"/>
            </a:pPr>
            <a:r>
              <a:rPr lang="en-US"/>
              <a:t>Unmanned surface vehicle (USV)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Char char="•"/>
            </a:pPr>
            <a:r>
              <a:rPr lang="en-US"/>
              <a:t>Unmanned underwater vehicle (UUV)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1836"/>
              <a:buChar char="–"/>
            </a:pPr>
            <a:r>
              <a:rPr lang="en-US"/>
              <a:t>Remotely operated underwater vehicle (ROUV)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1836"/>
              <a:buChar char="–"/>
            </a:pPr>
            <a:r>
              <a:rPr lang="en-US"/>
              <a:t>Autonomous underwater vehicle (AUV)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Char char="•"/>
            </a:pPr>
            <a:r>
              <a:rPr lang="en-US"/>
              <a:t>Uncrewed spacecraft: robotic spacecraft or space probe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35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Remote control vehicle (RC)</a:t>
            </a:r>
            <a:endParaRPr/>
          </a:p>
        </p:txBody>
      </p:sp>
      <p:pic>
        <p:nvPicPr>
          <p:cNvPr descr="https://upload.wikimedia.org/wikipedia/commons/f/f5/Explosieven_Opruimingsdienst.jpg" id="384" name="Google Shape;384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676" y="1249773"/>
            <a:ext cx="3657600" cy="2320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upload.wikimedia.org/wikipedia/commons/thumb/4/41/DJI_Phantom_2_Vision%2B_V3_hovering_over_Weissfluhjoch_%28cropped%29.jpg/1920px-DJI_Phantom_2_Vision%2B_V3_hovering_over_Weissfluhjoch_%28cropped%29.jpg" id="385" name="Google Shape;385;p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3499" y="1257661"/>
            <a:ext cx="365760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unar Pioneer: CHONDROBOT-2 - A simple, efficient semit-autonomous  tele-robotic lunar excavator" id="386" name="Google Shape;386;p1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154" y="3651972"/>
            <a:ext cx="3548191" cy="3113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 University ranks 3rd globally in URC2020 competition" id="387" name="Google Shape;387;p129"/>
          <p:cNvPicPr preferRelativeResize="0"/>
          <p:nvPr/>
        </p:nvPicPr>
        <p:blipFill rotWithShape="1">
          <a:blip r:embed="rId6">
            <a:alphaModFix/>
          </a:blip>
          <a:srcRect b="27025" l="26994" r="38312" t="18393"/>
          <a:stretch/>
        </p:blipFill>
        <p:spPr>
          <a:xfrm>
            <a:off x="5376322" y="3597949"/>
            <a:ext cx="2973936" cy="3119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Unmanned ground vehicle (UGV)</a:t>
            </a:r>
            <a:endParaRPr/>
          </a:p>
        </p:txBody>
      </p:sp>
      <p:pic>
        <p:nvPicPr>
          <p:cNvPr id="393" name="Google Shape;393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388" y="1635374"/>
            <a:ext cx="7785226" cy="437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Unmanned aerial vehicle (UAV)</a:t>
            </a:r>
            <a:br>
              <a:rPr lang="en-US"/>
            </a:br>
            <a:endParaRPr/>
          </a:p>
        </p:txBody>
      </p:sp>
      <p:pic>
        <p:nvPicPr>
          <p:cNvPr descr="https://upload.wikimedia.org/wikipedia/commons/thumb/1/12/MQ-9_Reaper_UAV_%28cropped%29.jpg/1280px-MQ-9_Reaper_UAV_%28cropped%29.jpg" id="399" name="Google Shape;399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841" y="1247886"/>
            <a:ext cx="5294611" cy="3478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upload.wikimedia.org/wikipedia/commons/thumb/0/0d/Wing_Loong_II_side_view.jpg/1280px-Wing_Loong_II_side_view.jpg" id="400" name="Google Shape;400;p131"/>
          <p:cNvPicPr preferRelativeResize="0"/>
          <p:nvPr/>
        </p:nvPicPr>
        <p:blipFill rotWithShape="1">
          <a:blip r:embed="rId4">
            <a:alphaModFix/>
          </a:blip>
          <a:srcRect b="29849" l="0" r="0" t="27686"/>
          <a:stretch/>
        </p:blipFill>
        <p:spPr>
          <a:xfrm>
            <a:off x="3657600" y="4852657"/>
            <a:ext cx="5486400" cy="174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niature UAV" id="401" name="Google Shape;401;p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3763" y="1403288"/>
            <a:ext cx="5486400" cy="3663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elivery drone" id="402" name="Google Shape;402;p1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20177" y="2435383"/>
            <a:ext cx="54864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 air vehicle" id="403" name="Google Shape;403;p1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76549" y="2854514"/>
            <a:ext cx="38100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07226" y="3368643"/>
            <a:ext cx="401002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31"/>
          <p:cNvSpPr/>
          <p:nvPr/>
        </p:nvSpPr>
        <p:spPr>
          <a:xfrm>
            <a:off x="212757" y="5170965"/>
            <a:ext cx="45720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Unmanned combat aerial vehicle (UCAV)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Miniature UAV (SUAV)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Delivery drone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 air vehicle (MAV)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drone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Unmanned aerial vehicle (UAV)</a:t>
            </a:r>
            <a:br>
              <a:rPr lang="en-US"/>
            </a:br>
            <a:endParaRPr/>
          </a:p>
        </p:txBody>
      </p:sp>
      <p:pic>
        <p:nvPicPr>
          <p:cNvPr descr="https://upload.wikimedia.org/wikipedia/commons/thumb/1/12/MQ-9_Reaper_UAV_%28cropped%29.jpg/1280px-MQ-9_Reaper_UAV_%28cropped%29.jpg" id="411" name="Google Shape;411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841" y="1247886"/>
            <a:ext cx="5294611" cy="3478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upload.wikimedia.org/wikipedia/commons/thumb/0/0d/Wing_Loong_II_side_view.jpg/1280px-Wing_Loong_II_side_view.jpg" id="412" name="Google Shape;412;p132"/>
          <p:cNvPicPr preferRelativeResize="0"/>
          <p:nvPr/>
        </p:nvPicPr>
        <p:blipFill rotWithShape="1">
          <a:blip r:embed="rId4">
            <a:alphaModFix/>
          </a:blip>
          <a:srcRect b="29849" l="0" r="0" t="27686"/>
          <a:stretch/>
        </p:blipFill>
        <p:spPr>
          <a:xfrm>
            <a:off x="3657600" y="4852657"/>
            <a:ext cx="5486400" cy="174731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32"/>
          <p:cNvSpPr/>
          <p:nvPr/>
        </p:nvSpPr>
        <p:spPr>
          <a:xfrm>
            <a:off x="212757" y="5170965"/>
            <a:ext cx="45720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Unmanned combat aerial vehicle (UCAV)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Miniature UAV (SUAV)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Delivery drone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 air vehicle (MAV)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drone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Unmanned aerial vehicle (UAV)</a:t>
            </a:r>
            <a:br>
              <a:rPr lang="en-US"/>
            </a:br>
            <a:endParaRPr/>
          </a:p>
        </p:txBody>
      </p:sp>
      <p:pic>
        <p:nvPicPr>
          <p:cNvPr descr="https://upload.wikimedia.org/wikipedia/commons/thumb/1/12/MQ-9_Reaper_UAV_%28cropped%29.jpg/1280px-MQ-9_Reaper_UAV_%28cropped%29.jpg" id="419" name="Google Shape;419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841" y="1247886"/>
            <a:ext cx="5294611" cy="3478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upload.wikimedia.org/wikipedia/commons/thumb/0/0d/Wing_Loong_II_side_view.jpg/1280px-Wing_Loong_II_side_view.jpg" id="420" name="Google Shape;420;p133"/>
          <p:cNvPicPr preferRelativeResize="0"/>
          <p:nvPr/>
        </p:nvPicPr>
        <p:blipFill rotWithShape="1">
          <a:blip r:embed="rId4">
            <a:alphaModFix/>
          </a:blip>
          <a:srcRect b="29849" l="0" r="0" t="27686"/>
          <a:stretch/>
        </p:blipFill>
        <p:spPr>
          <a:xfrm>
            <a:off x="3657600" y="4852657"/>
            <a:ext cx="5486400" cy="174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niature UAV" id="421" name="Google Shape;421;p1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3763" y="1403288"/>
            <a:ext cx="5486400" cy="3663696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33"/>
          <p:cNvSpPr/>
          <p:nvPr/>
        </p:nvSpPr>
        <p:spPr>
          <a:xfrm>
            <a:off x="212757" y="5170965"/>
            <a:ext cx="45720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Unmanned combat aerial vehicle (UCAV)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Miniature UAV (SUAV)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Delivery drone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 air vehicle (MAV)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drone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Unmanned aerial vehicle (UAV)</a:t>
            </a:r>
            <a:br>
              <a:rPr lang="en-US"/>
            </a:br>
            <a:endParaRPr/>
          </a:p>
        </p:txBody>
      </p:sp>
      <p:pic>
        <p:nvPicPr>
          <p:cNvPr descr="https://upload.wikimedia.org/wikipedia/commons/thumb/1/12/MQ-9_Reaper_UAV_%28cropped%29.jpg/1280px-MQ-9_Reaper_UAV_%28cropped%29.jpg" id="428" name="Google Shape;428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841" y="1247886"/>
            <a:ext cx="5294611" cy="3478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upload.wikimedia.org/wikipedia/commons/thumb/0/0d/Wing_Loong_II_side_view.jpg/1280px-Wing_Loong_II_side_view.jpg" id="429" name="Google Shape;429;p134"/>
          <p:cNvPicPr preferRelativeResize="0"/>
          <p:nvPr/>
        </p:nvPicPr>
        <p:blipFill rotWithShape="1">
          <a:blip r:embed="rId4">
            <a:alphaModFix/>
          </a:blip>
          <a:srcRect b="29849" l="0" r="0" t="27686"/>
          <a:stretch/>
        </p:blipFill>
        <p:spPr>
          <a:xfrm>
            <a:off x="3657600" y="4852657"/>
            <a:ext cx="5486400" cy="174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niature UAV" id="430" name="Google Shape;430;p1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3763" y="1403288"/>
            <a:ext cx="5486400" cy="3663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elivery drone" id="431" name="Google Shape;431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20177" y="2435383"/>
            <a:ext cx="54864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34"/>
          <p:cNvSpPr/>
          <p:nvPr/>
        </p:nvSpPr>
        <p:spPr>
          <a:xfrm>
            <a:off x="212757" y="5170965"/>
            <a:ext cx="45720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Unmanned combat aerial vehicle (UCAV)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Miniature UAV (SUAV)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Delivery drone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 air vehicle (MAV)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drone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Unmanned aerial vehicle (UAV)</a:t>
            </a:r>
            <a:br>
              <a:rPr lang="en-US"/>
            </a:br>
            <a:endParaRPr/>
          </a:p>
        </p:txBody>
      </p:sp>
      <p:pic>
        <p:nvPicPr>
          <p:cNvPr descr="https://upload.wikimedia.org/wikipedia/commons/thumb/1/12/MQ-9_Reaper_UAV_%28cropped%29.jpg/1280px-MQ-9_Reaper_UAV_%28cropped%29.jpg" id="438" name="Google Shape;438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841" y="1247886"/>
            <a:ext cx="5294611" cy="3478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upload.wikimedia.org/wikipedia/commons/thumb/0/0d/Wing_Loong_II_side_view.jpg/1280px-Wing_Loong_II_side_view.jpg" id="439" name="Google Shape;439;p135"/>
          <p:cNvPicPr preferRelativeResize="0"/>
          <p:nvPr/>
        </p:nvPicPr>
        <p:blipFill rotWithShape="1">
          <a:blip r:embed="rId4">
            <a:alphaModFix/>
          </a:blip>
          <a:srcRect b="29849" l="0" r="0" t="27686"/>
          <a:stretch/>
        </p:blipFill>
        <p:spPr>
          <a:xfrm>
            <a:off x="3657600" y="4852657"/>
            <a:ext cx="5486400" cy="174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niature UAV" id="440" name="Google Shape;440;p1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3763" y="1403288"/>
            <a:ext cx="5486400" cy="3663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elivery drone" id="441" name="Google Shape;441;p1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20177" y="2435383"/>
            <a:ext cx="54864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 air vehicle" id="442" name="Google Shape;442;p1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76549" y="2854514"/>
            <a:ext cx="38100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35"/>
          <p:cNvSpPr/>
          <p:nvPr/>
        </p:nvSpPr>
        <p:spPr>
          <a:xfrm>
            <a:off x="212757" y="5170965"/>
            <a:ext cx="45720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Unmanned combat aerial vehicle (UCAV)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Miniature UAV (SUAV)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Delivery drone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 air vehicle (MAV)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drone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Uncrewed spacecraft</a:t>
            </a:r>
            <a:endParaRPr/>
          </a:p>
        </p:txBody>
      </p:sp>
      <p:pic>
        <p:nvPicPr>
          <p:cNvPr descr="Image result for spacex autonomous docking" id="449" name="Google Shape;449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883" y="1595689"/>
            <a:ext cx="6643577" cy="4976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Autonomous spaceport drone ship</a:t>
            </a:r>
            <a:endParaRPr/>
          </a:p>
        </p:txBody>
      </p:sp>
      <p:pic>
        <p:nvPicPr>
          <p:cNvPr descr="CRS-8 (26239020092).jpg" id="455" name="Google Shape;455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937" y="1692995"/>
            <a:ext cx="6653029" cy="4433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Unmanned surface vehicle (USV)</a:t>
            </a:r>
            <a:endParaRPr/>
          </a:p>
        </p:txBody>
      </p:sp>
      <p:pic>
        <p:nvPicPr>
          <p:cNvPr descr="https://upload.wikimedia.org/wikipedia/commons/thumb/9/95/Tidal_Thames_Trials_For_Defence%27s_New_Maritime_Testbed_-_Mon_5_Sep_2016_MOD_45161908.jpg/1920px-Tidal_Thames_Trials_For_Defence%27s_New_Maritime_Testbed_-_Mon_5_Sep_2016_MOD_45161908.jpg" id="461" name="Google Shape;461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713" y="2215884"/>
            <a:ext cx="8147387" cy="3696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Remotely operated underwater vehicle (ROUV)</a:t>
            </a:r>
            <a:endParaRPr/>
          </a:p>
        </p:txBody>
      </p:sp>
      <p:pic>
        <p:nvPicPr>
          <p:cNvPr descr="https://upload.wikimedia.org/wikipedia/commons/thumb/9/99/ROV_working_on_a_subsea_structure.jpg/1280px-ROV_working_on_a_subsea_structure.jpg" id="467" name="Google Shape;467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952" y="1585855"/>
            <a:ext cx="6399135" cy="479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Autonomous underwater vehicle (AUV)</a:t>
            </a:r>
            <a:endParaRPr/>
          </a:p>
        </p:txBody>
      </p:sp>
      <p:pic>
        <p:nvPicPr>
          <p:cNvPr descr="Image result for autonomous underwater vehicle" id="473" name="Google Shape;473;p140"/>
          <p:cNvPicPr preferRelativeResize="0"/>
          <p:nvPr/>
        </p:nvPicPr>
        <p:blipFill rotWithShape="1">
          <a:blip r:embed="rId3">
            <a:alphaModFix/>
          </a:blip>
          <a:srcRect b="15071" l="0" r="0" t="18039"/>
          <a:stretch/>
        </p:blipFill>
        <p:spPr>
          <a:xfrm>
            <a:off x="1232937" y="1507804"/>
            <a:ext cx="6580204" cy="2475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U DUBURI performance testing - YouTube" id="474" name="Google Shape;474;p140"/>
          <p:cNvPicPr preferRelativeResize="0"/>
          <p:nvPr/>
        </p:nvPicPr>
        <p:blipFill rotWithShape="1">
          <a:blip r:embed="rId4">
            <a:alphaModFix/>
          </a:blip>
          <a:srcRect b="23603" l="34121" r="34126" t="17830"/>
          <a:stretch/>
        </p:blipFill>
        <p:spPr>
          <a:xfrm>
            <a:off x="5432078" y="4196180"/>
            <a:ext cx="2308115" cy="23947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bracu duburi" id="475" name="Google Shape;475;p140"/>
          <p:cNvPicPr preferRelativeResize="0"/>
          <p:nvPr/>
        </p:nvPicPr>
        <p:blipFill rotWithShape="1">
          <a:blip r:embed="rId5">
            <a:alphaModFix/>
          </a:blip>
          <a:srcRect b="25076" l="33766" r="19559" t="21153"/>
          <a:stretch/>
        </p:blipFill>
        <p:spPr>
          <a:xfrm>
            <a:off x="1276540" y="4164594"/>
            <a:ext cx="3521797" cy="2535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Uncrewed spacecraft</a:t>
            </a:r>
            <a:endParaRPr/>
          </a:p>
        </p:txBody>
      </p:sp>
      <p:pic>
        <p:nvPicPr>
          <p:cNvPr descr="Image result for spacex autonomous docking" id="481" name="Google Shape;481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883" y="1595689"/>
            <a:ext cx="6643577" cy="4976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parallel robot" id="486" name="Google Shape;486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5262" y="1777103"/>
            <a:ext cx="3438384" cy="2133994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Parallel Robot</a:t>
            </a:r>
            <a:endParaRPr/>
          </a:p>
        </p:txBody>
      </p:sp>
      <p:sp>
        <p:nvSpPr>
          <p:cNvPr id="488" name="Google Shape;488;p1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Flight Simulator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Milling Machine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Cable Driven Parallel Robot</a:t>
            </a:r>
            <a:endParaRPr/>
          </a:p>
        </p:txBody>
      </p:sp>
      <p:pic>
        <p:nvPicPr>
          <p:cNvPr descr="E:\Arif\Summer2020\CSE461\Lectures\intro pics\Robotics and Embedded Systems-22.jpg" id="489" name="Google Shape;489;p142"/>
          <p:cNvPicPr preferRelativeResize="0"/>
          <p:nvPr/>
        </p:nvPicPr>
        <p:blipFill rotWithShape="1">
          <a:blip r:embed="rId4">
            <a:alphaModFix/>
          </a:blip>
          <a:srcRect b="8251" l="6633" r="13564" t="21517"/>
          <a:stretch/>
        </p:blipFill>
        <p:spPr>
          <a:xfrm>
            <a:off x="633742" y="3195869"/>
            <a:ext cx="4888871" cy="3558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1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3028" y="4119327"/>
            <a:ext cx="3269367" cy="2667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8b22bf27e4_0_100"/>
          <p:cNvSpPr txBox="1"/>
          <p:nvPr>
            <p:ph type="title"/>
          </p:nvPr>
        </p:nvSpPr>
        <p:spPr>
          <a:xfrm>
            <a:off x="281850" y="2524913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</a:t>
            </a:r>
            <a:r>
              <a:rPr lang="en-US"/>
              <a:t>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