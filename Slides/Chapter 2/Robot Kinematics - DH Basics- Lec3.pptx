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62ED4B-F04F-4C8B-BD2F-394C4B8A7CF9}">
  <a:tblStyle styleId="{7D62ED4B-F04F-4C8B-BD2F-394C4B8A7CF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0A34BC4-BFAC-4790-95A1-CC84E198C7A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5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ecf5fe5f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ecf5fe5f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f34c094a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f34c094a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bb193221a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cbb193221a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f34c094a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bf34c094a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bb193221a_0_2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cbb193221a_0_2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bb57c2f3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3cbb57c2f3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f34c094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bf34c094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f34c094a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f34c094a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f34c094a2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f34c094a2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f34c094a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f34c094a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f34c094a2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f34c094a2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bf34c094a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bf34c094a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f34c094a2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bf34c094a2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bf34c094a2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bf34c094a2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bf34c094a2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bf34c094a2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bf34c094a2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bf34c094a2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f34c094a2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bf34c094a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f34c094a2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f34c094a2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bf34c094a2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bf34c094a2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bf34c094a2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bf34c094a2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bf34c094a2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bf34c094a2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f34c094a2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f34c094a2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34c094a2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f34c094a2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bf34c094a2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bf34c094a2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5093bf2f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5093bf2f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becf5fe5f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becf5fe5f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95bd0b345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95bd0b345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bf34c094a2_0_5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bf34c094a2_0_5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bf34c094a2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bf34c094a2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bf34c094a2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bf34c094a2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c5093bf2f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c5093bf2f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c5093bf2fc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5" name="Google Shape;805;g3c5093bf2fc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g3c5093bf2fc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c5093bf2fc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g3c5093bf2fc_0_2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4" name="Google Shape;814;g3c5093bf2fc_0_2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c5093bf2fc_0_2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6" name="Google Shape;826;g3c5093bf2fc_0_2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3c5093bf2fc_0_2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c5093bf2fc_0_2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8" name="Google Shape;848;g3c5093bf2fc_0_2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9" name="Google Shape;849;g3c5093bf2fc_0_2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c5093bf2fc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3c5093bf2fc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c5093bf2fc_0_2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c5093bf2fc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g3c5093bf2fc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g3c5093bf2fc_0_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3cbb57c2f3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3cbb57c2f3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cbb57c2f3a_0_3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6" name="Google Shape;916;g3cbb57c2f3a_0_3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cbb57c2f3a_0_4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6" name="Google Shape;946;g3cbb57c2f3a_0_4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cbb57c2f3a_0_4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2" name="Google Shape;992;g3cbb57c2f3a_0_4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cbb57c2f3a_0_4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6" name="Google Shape;1036;g3cbb57c2f3a_0_4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3cbb57c2f3a_0_5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5" name="Google Shape;1075;g3cbb57c2f3a_0_5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cbb57c2f3a_0_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g3cbb57c2f3a_0_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0" y="1740550"/>
            <a:ext cx="4591200" cy="24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youtube.com/watch?v=rA9tm0gTln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Robotics </a:t>
            </a:r>
            <a:r>
              <a:rPr lang="en"/>
              <a:t>Kinematics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Kinematics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Method 1: Using Trigonometric Process (Previous Class)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Limitations: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Becomes Complicated for Multiple Links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Not Systematic (Depends on geometry insight, Requires manual thinking every time, No fixed procedure)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Hard to Generalize (Change joint orientation: re-derive everything again)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tc ….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Kinematics</a:t>
            </a:r>
            <a:endParaRPr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Method 2: Using Homogeneous Transformations (Recall Linear Algebra Course)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Process: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Define the coordinates of frames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Finding Denavit-Hartenberg Parameters, </a:t>
            </a:r>
            <a:r>
              <a:rPr i="1" lang="en" sz="1400">
                <a:solidFill>
                  <a:srgbClr val="434343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Northwestern Engineering’s legacy in robotics started in the 1950s when Dick Hartenberg, a professor, and Jacques Denavit, a PhD student, developed a way to represent mathematically how mechanisms move https://robotics.northwestern.edu/history.html</a:t>
            </a:r>
            <a:endParaRPr i="1" sz="1400">
              <a:solidFill>
                <a:srgbClr val="434343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Building Homogeneous Transformation Matrix for the Robot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/>
        </p:nvSpPr>
        <p:spPr>
          <a:xfrm>
            <a:off x="540629" y="584258"/>
            <a:ext cx="6693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</a:rPr>
              <a:t>D-H Parameter Method</a:t>
            </a:r>
            <a:endParaRPr i="0" sz="2400" u="none" cap="none" strike="noStrike">
              <a:solidFill>
                <a:srgbClr val="000000"/>
              </a:solidFill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540625" y="1253800"/>
            <a:ext cx="80997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standardized framework to describe relative positions and orientations of adjacent links in a robot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a systematic method to describe the geometry of a robot, making it easier to perform forward and inverse kinematics calculations.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 Kinematics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152475"/>
            <a:ext cx="8520600" cy="27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Before moving to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 Homogeneous Transformations Process, we should know about first</a:t>
            </a:r>
            <a:endParaRPr sz="2000">
              <a:solidFill>
                <a:schemeClr val="dk1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30" title="Screenshot from 2026-02-21 00-32-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037" y="1597400"/>
            <a:ext cx="6035926" cy="3546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/>
        </p:nvSpPr>
        <p:spPr>
          <a:xfrm>
            <a:off x="436584" y="561555"/>
            <a:ext cx="66930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i="0" lang="en" sz="2500" u="none" cap="none" strike="noStrike">
                <a:solidFill>
                  <a:schemeClr val="dk1"/>
                </a:solidFill>
              </a:rPr>
              <a:t>D-H Parameter Calculation</a:t>
            </a:r>
            <a:endParaRPr i="0" sz="2500" u="none" cap="none" strike="noStrike">
              <a:solidFill>
                <a:srgbClr val="000000"/>
              </a:solidFill>
            </a:endParaRPr>
          </a:p>
        </p:txBody>
      </p:sp>
      <p:sp>
        <p:nvSpPr>
          <p:cNvPr id="167" name="Google Shape;167;p31"/>
          <p:cNvSpPr txBox="1"/>
          <p:nvPr/>
        </p:nvSpPr>
        <p:spPr>
          <a:xfrm>
            <a:off x="725473" y="2597434"/>
            <a:ext cx="769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Links are required to figure out the joints. All calculations are done using the axes of the joint.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8" name="Google Shape;168;p31"/>
          <p:cNvGrpSpPr/>
          <p:nvPr/>
        </p:nvGrpSpPr>
        <p:grpSpPr>
          <a:xfrm>
            <a:off x="2952542" y="1725292"/>
            <a:ext cx="2711995" cy="807041"/>
            <a:chOff x="4281643" y="3777541"/>
            <a:chExt cx="3615994" cy="1076055"/>
          </a:xfrm>
        </p:grpSpPr>
        <p:sp>
          <p:nvSpPr>
            <p:cNvPr id="169" name="Google Shape;169;p31"/>
            <p:cNvSpPr/>
            <p:nvPr/>
          </p:nvSpPr>
          <p:spPr>
            <a:xfrm>
              <a:off x="4574587" y="3888209"/>
              <a:ext cx="3034200" cy="364500"/>
            </a:xfrm>
            <a:prstGeom prst="rect">
              <a:avLst/>
            </a:prstGeom>
            <a:gradFill>
              <a:gsLst>
                <a:gs pos="0">
                  <a:srgbClr val="B0CAE9"/>
                </a:gs>
                <a:gs pos="50000">
                  <a:srgbClr val="A1C1E4"/>
                </a:gs>
                <a:gs pos="100000">
                  <a:srgbClr val="90B8E4"/>
                </a:gs>
              </a:gsLst>
              <a:lin ang="5400012" scaled="0"/>
            </a:gradFill>
            <a:ln cap="flat" cmpd="sng" w="7150">
              <a:solidFill>
                <a:schemeClr val="accent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1"/>
            <p:cNvSpPr/>
            <p:nvPr/>
          </p:nvSpPr>
          <p:spPr>
            <a:xfrm>
              <a:off x="7309668" y="3796095"/>
              <a:ext cx="585900" cy="5859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rgbClr val="2F491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1"/>
            <p:cNvSpPr/>
            <p:nvPr/>
          </p:nvSpPr>
          <p:spPr>
            <a:xfrm>
              <a:off x="4281643" y="3777541"/>
              <a:ext cx="585900" cy="585900"/>
            </a:xfrm>
            <a:prstGeom prst="ellipse">
              <a:avLst/>
            </a:prstGeom>
            <a:solidFill>
              <a:schemeClr val="accent6"/>
            </a:solidFill>
            <a:ln cap="flat" cmpd="sng" w="9525">
              <a:solidFill>
                <a:srgbClr val="2F491D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1"/>
            <p:cNvSpPr txBox="1"/>
            <p:nvPr/>
          </p:nvSpPr>
          <p:spPr>
            <a:xfrm>
              <a:off x="4393759" y="4474096"/>
              <a:ext cx="474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1"/>
            <p:cNvSpPr txBox="1"/>
            <p:nvPr/>
          </p:nvSpPr>
          <p:spPr>
            <a:xfrm>
              <a:off x="7423637" y="4474096"/>
              <a:ext cx="474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31"/>
          <p:cNvGrpSpPr/>
          <p:nvPr/>
        </p:nvGrpSpPr>
        <p:grpSpPr>
          <a:xfrm>
            <a:off x="3172153" y="1407433"/>
            <a:ext cx="620326" cy="552216"/>
            <a:chOff x="1822126" y="4465322"/>
            <a:chExt cx="1521900" cy="1354800"/>
          </a:xfrm>
        </p:grpSpPr>
        <p:cxnSp>
          <p:nvCxnSpPr>
            <p:cNvPr id="175" name="Google Shape;175;p31"/>
            <p:cNvCxnSpPr/>
            <p:nvPr/>
          </p:nvCxnSpPr>
          <p:spPr>
            <a:xfrm>
              <a:off x="1822126" y="5813448"/>
              <a:ext cx="1521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6" name="Google Shape;176;p31"/>
            <p:cNvCxnSpPr/>
            <p:nvPr/>
          </p:nvCxnSpPr>
          <p:spPr>
            <a:xfrm rot="10800000">
              <a:off x="1842151" y="4465322"/>
              <a:ext cx="0" cy="13548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77" name="Google Shape;177;p31"/>
          <p:cNvGrpSpPr/>
          <p:nvPr/>
        </p:nvGrpSpPr>
        <p:grpSpPr>
          <a:xfrm>
            <a:off x="5441668" y="1411717"/>
            <a:ext cx="620326" cy="552216"/>
            <a:chOff x="1822126" y="4465322"/>
            <a:chExt cx="1521900" cy="1354800"/>
          </a:xfrm>
        </p:grpSpPr>
        <p:cxnSp>
          <p:nvCxnSpPr>
            <p:cNvPr id="178" name="Google Shape;178;p31"/>
            <p:cNvCxnSpPr/>
            <p:nvPr/>
          </p:nvCxnSpPr>
          <p:spPr>
            <a:xfrm>
              <a:off x="1822126" y="5813448"/>
              <a:ext cx="1521900" cy="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9" name="Google Shape;179;p31"/>
            <p:cNvCxnSpPr/>
            <p:nvPr/>
          </p:nvCxnSpPr>
          <p:spPr>
            <a:xfrm rot="10800000">
              <a:off x="1842151" y="4465322"/>
              <a:ext cx="0" cy="1354800"/>
            </a:xfrm>
            <a:prstGeom prst="straightConnector1">
              <a:avLst/>
            </a:prstGeom>
            <a:noFill/>
            <a:ln cap="flat" cmpd="sng" w="28575">
              <a:solidFill>
                <a:schemeClr val="accent2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180" name="Google Shape;180;p31"/>
          <p:cNvSpPr txBox="1"/>
          <p:nvPr/>
        </p:nvSpPr>
        <p:spPr>
          <a:xfrm>
            <a:off x="3592756" y="2020625"/>
            <a:ext cx="456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x1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5853433" y="1986750"/>
            <a:ext cx="487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1"/>
          <p:cNvSpPr txBox="1"/>
          <p:nvPr/>
        </p:nvSpPr>
        <p:spPr>
          <a:xfrm>
            <a:off x="3021349" y="1164533"/>
            <a:ext cx="30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1"/>
          <p:cNvSpPr txBox="1"/>
          <p:nvPr/>
        </p:nvSpPr>
        <p:spPr>
          <a:xfrm>
            <a:off x="5290864" y="1159434"/>
            <a:ext cx="30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31"/>
          <p:cNvGrpSpPr/>
          <p:nvPr/>
        </p:nvGrpSpPr>
        <p:grpSpPr>
          <a:xfrm>
            <a:off x="2952542" y="2975770"/>
            <a:ext cx="3289911" cy="1372899"/>
            <a:chOff x="3934895" y="4309492"/>
            <a:chExt cx="4386548" cy="1830532"/>
          </a:xfrm>
        </p:grpSpPr>
        <p:grpSp>
          <p:nvGrpSpPr>
            <p:cNvPr id="185" name="Google Shape;185;p31"/>
            <p:cNvGrpSpPr/>
            <p:nvPr/>
          </p:nvGrpSpPr>
          <p:grpSpPr>
            <a:xfrm>
              <a:off x="3934895" y="5063969"/>
              <a:ext cx="3615994" cy="1076055"/>
              <a:chOff x="4281643" y="3777541"/>
              <a:chExt cx="3615994" cy="1076055"/>
            </a:xfrm>
          </p:grpSpPr>
          <p:sp>
            <p:nvSpPr>
              <p:cNvPr id="186" name="Google Shape;186;p31"/>
              <p:cNvSpPr/>
              <p:nvPr/>
            </p:nvSpPr>
            <p:spPr>
              <a:xfrm>
                <a:off x="7309668" y="3796095"/>
                <a:ext cx="585900" cy="585900"/>
              </a:xfrm>
              <a:prstGeom prst="ellipse">
                <a:avLst/>
              </a:prstGeom>
              <a:solidFill>
                <a:schemeClr val="accent6"/>
              </a:solidFill>
              <a:ln cap="flat" cmpd="sng" w="9525">
                <a:solidFill>
                  <a:srgbClr val="2F491D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31"/>
              <p:cNvSpPr/>
              <p:nvPr/>
            </p:nvSpPr>
            <p:spPr>
              <a:xfrm>
                <a:off x="4281643" y="3777541"/>
                <a:ext cx="585900" cy="585900"/>
              </a:xfrm>
              <a:prstGeom prst="ellipse">
                <a:avLst/>
              </a:prstGeom>
              <a:solidFill>
                <a:schemeClr val="accent6"/>
              </a:solidFill>
              <a:ln cap="flat" cmpd="sng" w="9525">
                <a:solidFill>
                  <a:srgbClr val="2F491D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" name="Google Shape;188;p31"/>
              <p:cNvSpPr txBox="1"/>
              <p:nvPr/>
            </p:nvSpPr>
            <p:spPr>
              <a:xfrm>
                <a:off x="4393759" y="4474096"/>
                <a:ext cx="474000" cy="37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1"/>
              <p:cNvSpPr txBox="1"/>
              <p:nvPr/>
            </p:nvSpPr>
            <p:spPr>
              <a:xfrm>
                <a:off x="7423637" y="4474096"/>
                <a:ext cx="474000" cy="37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31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191" name="Google Shape;191;p31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92" name="Google Shape;192;p31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93" name="Google Shape;193;p31"/>
            <p:cNvGrpSpPr/>
            <p:nvPr/>
          </p:nvGrpSpPr>
          <p:grpSpPr>
            <a:xfrm>
              <a:off x="7253790" y="4646018"/>
              <a:ext cx="827153" cy="736334"/>
              <a:chOff x="1822126" y="4465322"/>
              <a:chExt cx="1521900" cy="1354800"/>
            </a:xfrm>
          </p:grpSpPr>
          <p:cxnSp>
            <p:nvCxnSpPr>
              <p:cNvPr id="194" name="Google Shape;194;p31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95" name="Google Shape;195;p31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96" name="Google Shape;196;p31"/>
            <p:cNvSpPr txBox="1"/>
            <p:nvPr/>
          </p:nvSpPr>
          <p:spPr>
            <a:xfrm>
              <a:off x="4788511" y="5457766"/>
              <a:ext cx="5859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31"/>
            <p:cNvSpPr txBox="1"/>
            <p:nvPr/>
          </p:nvSpPr>
          <p:spPr>
            <a:xfrm>
              <a:off x="7802743" y="5412566"/>
              <a:ext cx="5187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31"/>
            <p:cNvSpPr txBox="1"/>
            <p:nvPr/>
          </p:nvSpPr>
          <p:spPr>
            <a:xfrm>
              <a:off x="4026637" y="4316291"/>
              <a:ext cx="40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31"/>
            <p:cNvSpPr txBox="1"/>
            <p:nvPr/>
          </p:nvSpPr>
          <p:spPr>
            <a:xfrm>
              <a:off x="7052657" y="4309492"/>
              <a:ext cx="4023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31"/>
          <p:cNvSpPr txBox="1"/>
          <p:nvPr/>
        </p:nvSpPr>
        <p:spPr>
          <a:xfrm>
            <a:off x="725473" y="4356553"/>
            <a:ext cx="769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joint, we have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parameters.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/>
        </p:nvSpPr>
        <p:spPr>
          <a:xfrm>
            <a:off x="540629" y="780908"/>
            <a:ext cx="4174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Parameters and Joint Variables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32"/>
          <p:cNvPicPr preferRelativeResize="0"/>
          <p:nvPr/>
        </p:nvPicPr>
        <p:blipFill rotWithShape="1">
          <a:blip r:embed="rId3">
            <a:alphaModFix/>
          </a:blip>
          <a:srcRect b="0" l="6450" r="6038" t="3073"/>
          <a:stretch/>
        </p:blipFill>
        <p:spPr>
          <a:xfrm>
            <a:off x="5075921" y="994273"/>
            <a:ext cx="3465709" cy="20465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4325" y="3120932"/>
            <a:ext cx="3020815" cy="171058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/>
        </p:nvSpPr>
        <p:spPr>
          <a:xfrm>
            <a:off x="210246" y="1486648"/>
            <a:ext cx="47205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parameters that helps express the structure or anatomy of the manipulator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 txBox="1"/>
          <p:nvPr/>
        </p:nvSpPr>
        <p:spPr>
          <a:xfrm>
            <a:off x="210246" y="2727262"/>
            <a:ext cx="47205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manipulator has total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parameters: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two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parameters: α (alpha), θ (theta)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two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parameters: d, 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solidFill>
                  <a:srgbClr val="0A0A0A"/>
                </a:solidFill>
                <a:highlight>
                  <a:srgbClr val="FFFFFF"/>
                </a:highlight>
              </a:rPr>
              <a:t>Definition of the Four Parameters</a:t>
            </a:r>
            <a:endParaRPr sz="275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Link Length (</a:t>
            </a:r>
            <a:r>
              <a:rPr i="1" lang="en">
                <a:highlight>
                  <a:srgbClr val="FFFFFF"/>
                </a:highlight>
              </a:rPr>
              <a:t>a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Link Twist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 (</a:t>
            </a:r>
            <a:r>
              <a:rPr i="1" lang="en">
                <a:highlight>
                  <a:srgbClr val="FFFFFF"/>
                </a:highlight>
              </a:rPr>
              <a:t>𝝰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Joint Offset (</a:t>
            </a:r>
            <a:r>
              <a:rPr i="1" lang="en">
                <a:highlight>
                  <a:srgbClr val="FFFFFF"/>
                </a:highlight>
              </a:rPr>
              <a:t>d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 baseline="-25000" i="1"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>
                <a:highlight>
                  <a:srgbClr val="FFFFFF"/>
                </a:highlight>
              </a:rPr>
              <a:t>Joint Angle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 (</a:t>
            </a:r>
            <a:r>
              <a:rPr i="1" lang="en">
                <a:highlight>
                  <a:srgbClr val="FFFFFF"/>
                </a:highlight>
              </a:rPr>
              <a:t>Ө</a:t>
            </a:r>
            <a:r>
              <a:rPr baseline="-25000" i="1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): 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aseline="-25000" i="1">
              <a:solidFill>
                <a:srgbClr val="FF9900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Note: Don’t try to imagine the Y-axis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16" name="Google Shape;216;p33"/>
          <p:cNvSpPr txBox="1"/>
          <p:nvPr/>
        </p:nvSpPr>
        <p:spPr>
          <a:xfrm>
            <a:off x="1938150" y="4743300"/>
            <a:ext cx="526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https://www.youtube.com/watch?v=rA9tm0gTln8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Length (</a:t>
            </a:r>
            <a:r>
              <a:rPr i="1" lang="en" sz="2750">
                <a:highlight>
                  <a:schemeClr val="lt1"/>
                </a:highlight>
              </a:rPr>
              <a:t>a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223" name="Google Shape;223;p34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4" name="Google Shape;224;p34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5" name="Google Shape;225;p34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26" name="Google Shape;226;p34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r>
              <a:rPr baseline="-25000" lang="en">
                <a:solidFill>
                  <a:srgbClr val="FF9900"/>
                </a:solidFill>
              </a:rPr>
              <a:t>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228" name="Google Shape;228;p34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29" name="Google Shape;229;p34"/>
          <p:cNvCxnSpPr/>
          <p:nvPr/>
        </p:nvCxnSpPr>
        <p:spPr>
          <a:xfrm rot="10800000">
            <a:off x="5924250" y="244787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0" name="Google Shape;230;p34"/>
          <p:cNvCxnSpPr/>
          <p:nvPr/>
        </p:nvCxnSpPr>
        <p:spPr>
          <a:xfrm flipH="1">
            <a:off x="5544450" y="314207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1" name="Google Shape;231;p34"/>
          <p:cNvSpPr txBox="1"/>
          <p:nvPr/>
        </p:nvSpPr>
        <p:spPr>
          <a:xfrm>
            <a:off x="5749075" y="20968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6114300" y="30763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If you start walking, starting from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to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,</a:t>
            </a:r>
            <a:r>
              <a:rPr lang="en">
                <a:highlight>
                  <a:srgbClr val="FFFFFF"/>
                </a:highlight>
              </a:rPr>
              <a:t>  using the road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What will be the distance?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Length (</a:t>
            </a:r>
            <a:r>
              <a:rPr i="1" lang="en" sz="2750">
                <a:highlight>
                  <a:schemeClr val="lt1"/>
                </a:highlight>
              </a:rPr>
              <a:t>a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240" name="Google Shape;240;p35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1" name="Google Shape;241;p35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2" name="Google Shape;242;p35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3" name="Google Shape;243;p35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245" name="Google Shape;245;p35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6" name="Google Shape;246;p35"/>
          <p:cNvCxnSpPr/>
          <p:nvPr/>
        </p:nvCxnSpPr>
        <p:spPr>
          <a:xfrm rot="10800000">
            <a:off x="5924250" y="244787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47" name="Google Shape;247;p35"/>
          <p:cNvCxnSpPr/>
          <p:nvPr/>
        </p:nvCxnSpPr>
        <p:spPr>
          <a:xfrm flipH="1">
            <a:off x="5544450" y="314207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48" name="Google Shape;248;p35"/>
          <p:cNvSpPr txBox="1"/>
          <p:nvPr/>
        </p:nvSpPr>
        <p:spPr>
          <a:xfrm>
            <a:off x="5749075" y="20968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49" name="Google Shape;249;p35"/>
          <p:cNvSpPr txBox="1"/>
          <p:nvPr/>
        </p:nvSpPr>
        <p:spPr>
          <a:xfrm>
            <a:off x="6114300" y="30763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250" name="Google Shape;250;p35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The black line is that distance. Very Easy Right !!!</a:t>
            </a:r>
            <a:endParaRPr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C00000"/>
                </a:solidFill>
                <a:highlight>
                  <a:srgbClr val="FFFFFF"/>
                </a:highlight>
              </a:rPr>
              <a:t>Now let’s make the second frame</a:t>
            </a:r>
            <a:r>
              <a:rPr lang="en">
                <a:solidFill>
                  <a:srgbClr val="C00000"/>
                </a:solidFill>
                <a:highlight>
                  <a:srgbClr val="FFFFFF"/>
                </a:highlight>
              </a:rPr>
              <a:t> rotate.</a:t>
            </a:r>
            <a:r>
              <a:rPr lang="en">
                <a:solidFill>
                  <a:srgbClr val="C00000"/>
                </a:solidFill>
                <a:highlight>
                  <a:srgbClr val="FFFFFF"/>
                </a:highlight>
              </a:rPr>
              <a:t> </a:t>
            </a:r>
            <a:endParaRPr>
              <a:solidFill>
                <a:srgbClr val="C00000"/>
              </a:solidFill>
              <a:highlight>
                <a:srgbClr val="FFFFFF"/>
              </a:highlight>
            </a:endParaRPr>
          </a:p>
        </p:txBody>
      </p:sp>
      <p:cxnSp>
        <p:nvCxnSpPr>
          <p:cNvPr id="251" name="Google Shape;251;p35"/>
          <p:cNvCxnSpPr>
            <a:stCxn id="243" idx="3"/>
          </p:cNvCxnSpPr>
          <p:nvPr/>
        </p:nvCxnSpPr>
        <p:spPr>
          <a:xfrm flipH="1" rot="10800000">
            <a:off x="1746150" y="2747050"/>
            <a:ext cx="41937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52" name="Google Shape;252;p35"/>
          <p:cNvSpPr txBox="1"/>
          <p:nvPr/>
        </p:nvSpPr>
        <p:spPr>
          <a:xfrm>
            <a:off x="2190800" y="2138950"/>
            <a:ext cx="3000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750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r>
              <a:rPr baseline="-25000" i="1" lang="en" sz="2750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Length (</a:t>
            </a:r>
            <a:r>
              <a:rPr i="1" lang="en" sz="2750">
                <a:highlight>
                  <a:schemeClr val="lt1"/>
                </a:highlight>
              </a:rPr>
              <a:t>a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6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259" name="Google Shape;259;p36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0" name="Google Shape;260;p36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1" name="Google Shape;261;p36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2" name="Google Shape;262;p36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63" name="Google Shape;263;p36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264" name="Google Shape;264;p36"/>
          <p:cNvCxnSpPr/>
          <p:nvPr/>
        </p:nvCxnSpPr>
        <p:spPr>
          <a:xfrm flipH="1">
            <a:off x="5552550" y="3149275"/>
            <a:ext cx="371700" cy="518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5" name="Google Shape;265;p36"/>
          <p:cNvCxnSpPr/>
          <p:nvPr/>
        </p:nvCxnSpPr>
        <p:spPr>
          <a:xfrm rot="10800000">
            <a:off x="5924250" y="244787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66" name="Google Shape;266;p36"/>
          <p:cNvCxnSpPr/>
          <p:nvPr/>
        </p:nvCxnSpPr>
        <p:spPr>
          <a:xfrm flipH="1" rot="10800000">
            <a:off x="5924250" y="3134275"/>
            <a:ext cx="666000" cy="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67" name="Google Shape;267;p36"/>
          <p:cNvSpPr txBox="1"/>
          <p:nvPr/>
        </p:nvSpPr>
        <p:spPr>
          <a:xfrm>
            <a:off x="5749075" y="20968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68" name="Google Shape;268;p36"/>
          <p:cNvSpPr txBox="1"/>
          <p:nvPr/>
        </p:nvSpPr>
        <p:spPr>
          <a:xfrm>
            <a:off x="5712450" y="32083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269" name="Google Shape;269;p36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Now a</a:t>
            </a:r>
            <a:r>
              <a:rPr b="1" baseline="-25000" lang="en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 is not the link length, why??</a:t>
            </a:r>
            <a:r>
              <a:rPr b="1" lang="en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cxnSp>
        <p:nvCxnSpPr>
          <p:cNvPr id="270" name="Google Shape;270;p36"/>
          <p:cNvCxnSpPr>
            <a:stCxn id="262" idx="3"/>
          </p:cNvCxnSpPr>
          <p:nvPr/>
        </p:nvCxnSpPr>
        <p:spPr>
          <a:xfrm flipH="1" rot="10800000">
            <a:off x="1746150" y="2747050"/>
            <a:ext cx="41937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71" name="Google Shape;271;p36"/>
          <p:cNvSpPr txBox="1"/>
          <p:nvPr/>
        </p:nvSpPr>
        <p:spPr>
          <a:xfrm>
            <a:off x="2190800" y="2138950"/>
            <a:ext cx="3000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750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r>
              <a:rPr baseline="-25000" i="1" lang="en" sz="2750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endParaRPr/>
          </a:p>
        </p:txBody>
      </p:sp>
      <p:cxnSp>
        <p:nvCxnSpPr>
          <p:cNvPr id="272" name="Google Shape;272;p36"/>
          <p:cNvCxnSpPr/>
          <p:nvPr/>
        </p:nvCxnSpPr>
        <p:spPr>
          <a:xfrm>
            <a:off x="3375425" y="2184525"/>
            <a:ext cx="562500" cy="52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6"/>
          <p:cNvCxnSpPr/>
          <p:nvPr/>
        </p:nvCxnSpPr>
        <p:spPr>
          <a:xfrm flipH="1">
            <a:off x="3375525" y="2162600"/>
            <a:ext cx="606300" cy="540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Length (</a:t>
            </a:r>
            <a:r>
              <a:rPr i="1" lang="en" sz="2750">
                <a:highlight>
                  <a:schemeClr val="lt1"/>
                </a:highlight>
              </a:rPr>
              <a:t>a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280" name="Google Shape;280;p37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1" name="Google Shape;281;p37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2" name="Google Shape;282;p37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3" name="Google Shape;283;p37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285" name="Google Shape;285;p37"/>
          <p:cNvCxnSpPr/>
          <p:nvPr/>
        </p:nvCxnSpPr>
        <p:spPr>
          <a:xfrm flipH="1">
            <a:off x="5552550" y="3149275"/>
            <a:ext cx="371700" cy="518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6" name="Google Shape;286;p37"/>
          <p:cNvCxnSpPr/>
          <p:nvPr/>
        </p:nvCxnSpPr>
        <p:spPr>
          <a:xfrm rot="10800000">
            <a:off x="5924250" y="244787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87" name="Google Shape;287;p37"/>
          <p:cNvCxnSpPr/>
          <p:nvPr/>
        </p:nvCxnSpPr>
        <p:spPr>
          <a:xfrm flipH="1" rot="10800000">
            <a:off x="5924250" y="3134275"/>
            <a:ext cx="666000" cy="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88" name="Google Shape;288;p37"/>
          <p:cNvSpPr txBox="1"/>
          <p:nvPr/>
        </p:nvSpPr>
        <p:spPr>
          <a:xfrm>
            <a:off x="5749075" y="20968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5712450" y="32083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290" name="Google Shape;290;p37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Here the you are not walking along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axis to reach z</a:t>
            </a:r>
            <a:r>
              <a:rPr b="1" baseline="-25000" lang="en" sz="12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instead y</a:t>
            </a:r>
            <a:r>
              <a:rPr b="1" baseline="-25000" lang="en" sz="12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axis.</a:t>
            </a:r>
            <a:endParaRPr b="1"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In this example, there is no distance between z axis 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along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x</a:t>
            </a:r>
            <a:r>
              <a:rPr b="1" baseline="-25000" lang="en" sz="12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axis. </a:t>
            </a:r>
            <a:endParaRPr b="1"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a</a:t>
            </a:r>
            <a:r>
              <a:rPr b="1" baseline="-25000" lang="en" sz="12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</a:rPr>
              <a:t> = 0</a:t>
            </a:r>
            <a:endParaRPr b="1" sz="1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cxnSp>
        <p:nvCxnSpPr>
          <p:cNvPr id="291" name="Google Shape;291;p37"/>
          <p:cNvCxnSpPr>
            <a:stCxn id="283" idx="3"/>
          </p:cNvCxnSpPr>
          <p:nvPr/>
        </p:nvCxnSpPr>
        <p:spPr>
          <a:xfrm flipH="1" rot="10800000">
            <a:off x="1746150" y="2747050"/>
            <a:ext cx="41937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92" name="Google Shape;292;p37"/>
          <p:cNvSpPr txBox="1"/>
          <p:nvPr/>
        </p:nvSpPr>
        <p:spPr>
          <a:xfrm>
            <a:off x="2190800" y="2138950"/>
            <a:ext cx="3000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750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r>
              <a:rPr baseline="-25000" i="1" lang="en" sz="2750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endParaRPr/>
          </a:p>
        </p:txBody>
      </p:sp>
      <p:cxnSp>
        <p:nvCxnSpPr>
          <p:cNvPr id="293" name="Google Shape;293;p37"/>
          <p:cNvCxnSpPr/>
          <p:nvPr/>
        </p:nvCxnSpPr>
        <p:spPr>
          <a:xfrm>
            <a:off x="3375425" y="2184525"/>
            <a:ext cx="562500" cy="52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7"/>
          <p:cNvCxnSpPr/>
          <p:nvPr/>
        </p:nvCxnSpPr>
        <p:spPr>
          <a:xfrm flipH="1">
            <a:off x="3375525" y="2162600"/>
            <a:ext cx="606300" cy="540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Length (</a:t>
            </a:r>
            <a:r>
              <a:rPr i="1" lang="en" sz="2750">
                <a:highlight>
                  <a:schemeClr val="lt1"/>
                </a:highlight>
              </a:rPr>
              <a:t>a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8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01" name="Google Shape;301;p38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2" name="Google Shape;302;p38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3" name="Google Shape;303;p38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4" name="Google Shape;304;p38"/>
          <p:cNvSpPr txBox="1"/>
          <p:nvPr/>
        </p:nvSpPr>
        <p:spPr>
          <a:xfrm>
            <a:off x="1286025" y="22316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05" name="Google Shape;305;p38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06" name="Google Shape;306;p38"/>
          <p:cNvCxnSpPr/>
          <p:nvPr/>
        </p:nvCxnSpPr>
        <p:spPr>
          <a:xfrm flipH="1">
            <a:off x="3273050" y="4274425"/>
            <a:ext cx="371700" cy="518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7" name="Google Shape;307;p38"/>
          <p:cNvCxnSpPr/>
          <p:nvPr/>
        </p:nvCxnSpPr>
        <p:spPr>
          <a:xfrm rot="10800000">
            <a:off x="3644750" y="357302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08" name="Google Shape;308;p38"/>
          <p:cNvCxnSpPr/>
          <p:nvPr/>
        </p:nvCxnSpPr>
        <p:spPr>
          <a:xfrm flipH="1" rot="10800000">
            <a:off x="3644750" y="4259425"/>
            <a:ext cx="666000" cy="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09" name="Google Shape;309;p38"/>
          <p:cNvSpPr txBox="1"/>
          <p:nvPr/>
        </p:nvSpPr>
        <p:spPr>
          <a:xfrm>
            <a:off x="3469575" y="32220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10" name="Google Shape;310;p38"/>
          <p:cNvSpPr txBox="1"/>
          <p:nvPr/>
        </p:nvSpPr>
        <p:spPr>
          <a:xfrm>
            <a:off x="3432950" y="43335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11" name="Google Shape;311;p38"/>
          <p:cNvCxnSpPr/>
          <p:nvPr/>
        </p:nvCxnSpPr>
        <p:spPr>
          <a:xfrm flipH="1">
            <a:off x="759850" y="2732475"/>
            <a:ext cx="971700" cy="11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2" name="Google Shape;312;p38"/>
          <p:cNvSpPr txBox="1"/>
          <p:nvPr/>
        </p:nvSpPr>
        <p:spPr>
          <a:xfrm>
            <a:off x="693050" y="2876875"/>
            <a:ext cx="622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750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r>
              <a:rPr baseline="-25000" i="1" lang="en" sz="2750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endParaRPr/>
          </a:p>
        </p:txBody>
      </p:sp>
      <p:sp>
        <p:nvSpPr>
          <p:cNvPr id="313" name="Google Shape;313;p38"/>
          <p:cNvSpPr txBox="1"/>
          <p:nvPr/>
        </p:nvSpPr>
        <p:spPr>
          <a:xfrm>
            <a:off x="5012000" y="2089550"/>
            <a:ext cx="4131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Here, you can see the a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distance is alone x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axis.</a:t>
            </a:r>
            <a:endParaRPr baseline="-25000" sz="1800">
              <a:solidFill>
                <a:schemeClr val="dk2"/>
              </a:solidFill>
            </a:endParaRPr>
          </a:p>
        </p:txBody>
      </p:sp>
      <p:cxnSp>
        <p:nvCxnSpPr>
          <p:cNvPr id="314" name="Google Shape;314;p38"/>
          <p:cNvCxnSpPr/>
          <p:nvPr/>
        </p:nvCxnSpPr>
        <p:spPr>
          <a:xfrm>
            <a:off x="736084" y="3878258"/>
            <a:ext cx="2911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Length (</a:t>
            </a:r>
            <a:r>
              <a:rPr i="1" lang="en" sz="2750">
                <a:highlight>
                  <a:schemeClr val="lt1"/>
                </a:highlight>
              </a:rPr>
              <a:t>a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9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along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 baseline="-25000" i="1">
              <a:solidFill>
                <a:srgbClr val="FF99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21" name="Google Shape;321;p39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2" name="Google Shape;322;p39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3" name="Google Shape;323;p39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4" name="Google Shape;324;p39"/>
          <p:cNvSpPr txBox="1"/>
          <p:nvPr/>
        </p:nvSpPr>
        <p:spPr>
          <a:xfrm>
            <a:off x="1286025" y="22316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25" name="Google Shape;325;p39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26" name="Google Shape;326;p39"/>
          <p:cNvCxnSpPr/>
          <p:nvPr/>
        </p:nvCxnSpPr>
        <p:spPr>
          <a:xfrm flipH="1">
            <a:off x="3273050" y="4274425"/>
            <a:ext cx="371700" cy="5184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7" name="Google Shape;327;p39"/>
          <p:cNvCxnSpPr/>
          <p:nvPr/>
        </p:nvCxnSpPr>
        <p:spPr>
          <a:xfrm rot="10800000">
            <a:off x="3644750" y="357302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28" name="Google Shape;328;p39"/>
          <p:cNvCxnSpPr/>
          <p:nvPr/>
        </p:nvCxnSpPr>
        <p:spPr>
          <a:xfrm flipH="1" rot="10800000">
            <a:off x="3644750" y="4259425"/>
            <a:ext cx="666000" cy="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29" name="Google Shape;329;p39"/>
          <p:cNvSpPr txBox="1"/>
          <p:nvPr/>
        </p:nvSpPr>
        <p:spPr>
          <a:xfrm>
            <a:off x="3469575" y="32220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3432950" y="43335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31" name="Google Shape;331;p39"/>
          <p:cNvCxnSpPr/>
          <p:nvPr/>
        </p:nvCxnSpPr>
        <p:spPr>
          <a:xfrm flipH="1">
            <a:off x="774978" y="2732475"/>
            <a:ext cx="971700" cy="1139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39"/>
          <p:cNvSpPr txBox="1"/>
          <p:nvPr/>
        </p:nvSpPr>
        <p:spPr>
          <a:xfrm>
            <a:off x="693050" y="2876875"/>
            <a:ext cx="622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2750">
                <a:solidFill>
                  <a:schemeClr val="dk1"/>
                </a:solidFill>
                <a:highlight>
                  <a:schemeClr val="lt1"/>
                </a:highlight>
              </a:rPr>
              <a:t>a</a:t>
            </a:r>
            <a:r>
              <a:rPr baseline="-25000" i="1" lang="en" sz="2750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endParaRPr/>
          </a:p>
        </p:txBody>
      </p:sp>
      <p:sp>
        <p:nvSpPr>
          <p:cNvPr id="333" name="Google Shape;333;p39"/>
          <p:cNvSpPr txBox="1"/>
          <p:nvPr/>
        </p:nvSpPr>
        <p:spPr>
          <a:xfrm>
            <a:off x="4839700" y="2096875"/>
            <a:ext cx="4131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Confusion: You may get </a:t>
            </a:r>
            <a:r>
              <a:rPr lang="en" sz="1800">
                <a:solidFill>
                  <a:schemeClr val="dk2"/>
                </a:solidFill>
              </a:rPr>
              <a:t>confused</a:t>
            </a:r>
            <a:r>
              <a:rPr lang="en" sz="1800">
                <a:solidFill>
                  <a:schemeClr val="dk2"/>
                </a:solidFill>
              </a:rPr>
              <a:t> about the </a:t>
            </a:r>
            <a:r>
              <a:rPr lang="en" sz="1800">
                <a:solidFill>
                  <a:srgbClr val="980000"/>
                </a:solidFill>
              </a:rPr>
              <a:t>Red</a:t>
            </a:r>
            <a:r>
              <a:rPr lang="en" sz="1800">
                <a:solidFill>
                  <a:schemeClr val="dk2"/>
                </a:solidFill>
              </a:rPr>
              <a:t> line distance. This line actually the moving </a:t>
            </a:r>
            <a:r>
              <a:rPr lang="en" sz="1800">
                <a:solidFill>
                  <a:schemeClr val="dk2"/>
                </a:solidFill>
              </a:rPr>
              <a:t>along</a:t>
            </a:r>
            <a:r>
              <a:rPr lang="en" sz="1800">
                <a:solidFill>
                  <a:schemeClr val="dk2"/>
                </a:solidFill>
              </a:rPr>
              <a:t> y</a:t>
            </a:r>
            <a:r>
              <a:rPr baseline="-25000" lang="en" sz="1800">
                <a:solidFill>
                  <a:schemeClr val="dk2"/>
                </a:solidFill>
              </a:rPr>
              <a:t>i</a:t>
            </a:r>
            <a:r>
              <a:rPr lang="en" sz="1800">
                <a:solidFill>
                  <a:schemeClr val="dk2"/>
                </a:solidFill>
              </a:rPr>
              <a:t> axis. That’s why according to the the </a:t>
            </a:r>
            <a:r>
              <a:rPr lang="en" sz="1800">
                <a:solidFill>
                  <a:schemeClr val="dk2"/>
                </a:solidFill>
              </a:rPr>
              <a:t>definition</a:t>
            </a:r>
            <a:r>
              <a:rPr lang="en" sz="1800">
                <a:solidFill>
                  <a:schemeClr val="dk2"/>
                </a:solidFill>
              </a:rPr>
              <a:t> that will not the Link length.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34" name="Google Shape;334;p39"/>
          <p:cNvCxnSpPr/>
          <p:nvPr/>
        </p:nvCxnSpPr>
        <p:spPr>
          <a:xfrm flipH="1" rot="10800000">
            <a:off x="1753475" y="2761825"/>
            <a:ext cx="1826400" cy="72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35" name="Google Shape;335;p39"/>
          <p:cNvSpPr txBox="1"/>
          <p:nvPr/>
        </p:nvSpPr>
        <p:spPr>
          <a:xfrm>
            <a:off x="4291200" y="40632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y</a:t>
            </a:r>
            <a:r>
              <a:rPr baseline="-25000" lang="en">
                <a:solidFill>
                  <a:schemeClr val="dk2"/>
                </a:solidFill>
              </a:rPr>
              <a:t>i</a:t>
            </a:r>
            <a:endParaRPr baseline="-25000">
              <a:solidFill>
                <a:schemeClr val="dk2"/>
              </a:solidFill>
            </a:endParaRPr>
          </a:p>
        </p:txBody>
      </p:sp>
      <p:cxnSp>
        <p:nvCxnSpPr>
          <p:cNvPr id="336" name="Google Shape;336;p39"/>
          <p:cNvCxnSpPr/>
          <p:nvPr/>
        </p:nvCxnSpPr>
        <p:spPr>
          <a:xfrm>
            <a:off x="2491375" y="2608275"/>
            <a:ext cx="533400" cy="37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9"/>
          <p:cNvCxnSpPr/>
          <p:nvPr/>
        </p:nvCxnSpPr>
        <p:spPr>
          <a:xfrm flipH="1" rot="10800000">
            <a:off x="2476775" y="2622925"/>
            <a:ext cx="409200" cy="394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Joint Offset</a:t>
            </a:r>
            <a:r>
              <a:rPr lang="en" sz="2750">
                <a:highlight>
                  <a:schemeClr val="lt1"/>
                </a:highlight>
              </a:rPr>
              <a:t> (</a:t>
            </a:r>
            <a:r>
              <a:rPr i="1" lang="en" sz="2750">
                <a:highlight>
                  <a:schemeClr val="lt1"/>
                </a:highlight>
              </a:rPr>
              <a:t>d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0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solidFill>
                  <a:srgbClr val="FF99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along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endParaRPr baseline="-25000" i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44" name="Google Shape;344;p40"/>
          <p:cNvCxnSpPr/>
          <p:nvPr/>
        </p:nvCxnSpPr>
        <p:spPr>
          <a:xfrm flipH="1" rot="10800000">
            <a:off x="6464900" y="376482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5" name="Google Shape;345;p40"/>
          <p:cNvCxnSpPr/>
          <p:nvPr/>
        </p:nvCxnSpPr>
        <p:spPr>
          <a:xfrm rot="10800000">
            <a:off x="6464900" y="307062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46" name="Google Shape;346;p40"/>
          <p:cNvCxnSpPr/>
          <p:nvPr/>
        </p:nvCxnSpPr>
        <p:spPr>
          <a:xfrm flipH="1">
            <a:off x="6085100" y="376482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47" name="Google Shape;347;p40"/>
          <p:cNvSpPr txBox="1"/>
          <p:nvPr/>
        </p:nvSpPr>
        <p:spPr>
          <a:xfrm>
            <a:off x="6041300" y="32330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48" name="Google Shape;348;p40"/>
          <p:cNvSpPr txBox="1"/>
          <p:nvPr/>
        </p:nvSpPr>
        <p:spPr>
          <a:xfrm>
            <a:off x="6654950" y="36990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49" name="Google Shape;349;p40"/>
          <p:cNvCxnSpPr/>
          <p:nvPr/>
        </p:nvCxnSpPr>
        <p:spPr>
          <a:xfrm flipH="1" rot="10800000">
            <a:off x="6464900" y="190982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0" name="Google Shape;350;p40"/>
          <p:cNvCxnSpPr/>
          <p:nvPr/>
        </p:nvCxnSpPr>
        <p:spPr>
          <a:xfrm rot="10800000">
            <a:off x="6464900" y="121562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51" name="Google Shape;351;p40"/>
          <p:cNvCxnSpPr/>
          <p:nvPr/>
        </p:nvCxnSpPr>
        <p:spPr>
          <a:xfrm flipH="1">
            <a:off x="6085100" y="190982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52" name="Google Shape;352;p40"/>
          <p:cNvSpPr txBox="1"/>
          <p:nvPr/>
        </p:nvSpPr>
        <p:spPr>
          <a:xfrm>
            <a:off x="6289725" y="8646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6654950" y="18440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354" name="Google Shape;354;p40"/>
          <p:cNvSpPr txBox="1"/>
          <p:nvPr>
            <p:ph idx="1" type="body"/>
          </p:nvPr>
        </p:nvSpPr>
        <p:spPr>
          <a:xfrm>
            <a:off x="311700" y="1917025"/>
            <a:ext cx="3801600" cy="24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highlight>
                  <a:srgbClr val="FFFFFF"/>
                </a:highlight>
              </a:rPr>
              <a:t>If you start walking, starting from </a:t>
            </a:r>
            <a:r>
              <a:rPr i="1" lang="en">
                <a:solidFill>
                  <a:srgbClr val="FF9900"/>
                </a:solidFill>
                <a:highlight>
                  <a:schemeClr val="lt1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chemeClr val="lt1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to </a:t>
            </a:r>
            <a:r>
              <a:rPr i="1" lang="en">
                <a:solidFill>
                  <a:srgbClr val="FF9900"/>
                </a:solidFill>
                <a:highlight>
                  <a:schemeClr val="lt1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chemeClr val="lt1"/>
                </a:highlight>
              </a:rPr>
              <a:t>i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,</a:t>
            </a:r>
            <a:r>
              <a:rPr lang="en">
                <a:highlight>
                  <a:srgbClr val="FFFFFF"/>
                </a:highlight>
              </a:rPr>
              <a:t>  using the road </a:t>
            </a:r>
            <a:r>
              <a:rPr i="1" lang="en">
                <a:solidFill>
                  <a:srgbClr val="FF0000"/>
                </a:solidFill>
                <a:highlight>
                  <a:schemeClr val="lt1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chemeClr val="lt1"/>
                </a:highlight>
              </a:rPr>
              <a:t>i-1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What will be the distance?</a:t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Joint Offset (</a:t>
            </a:r>
            <a:r>
              <a:rPr i="1" lang="en" sz="2750">
                <a:highlight>
                  <a:schemeClr val="lt1"/>
                </a:highlight>
              </a:rPr>
              <a:t>d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41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Distance between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solidFill>
                  <a:srgbClr val="FF9900"/>
                </a:solidFill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along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endParaRPr baseline="-25000" i="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61" name="Google Shape;361;p41"/>
          <p:cNvCxnSpPr/>
          <p:nvPr/>
        </p:nvCxnSpPr>
        <p:spPr>
          <a:xfrm flipH="1" rot="10800000">
            <a:off x="6464900" y="376482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2" name="Google Shape;362;p41"/>
          <p:cNvCxnSpPr/>
          <p:nvPr/>
        </p:nvCxnSpPr>
        <p:spPr>
          <a:xfrm rot="10800000">
            <a:off x="6464900" y="307062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3" name="Google Shape;363;p41"/>
          <p:cNvCxnSpPr/>
          <p:nvPr/>
        </p:nvCxnSpPr>
        <p:spPr>
          <a:xfrm flipH="1">
            <a:off x="6085100" y="376482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4" name="Google Shape;364;p41"/>
          <p:cNvSpPr txBox="1"/>
          <p:nvPr/>
        </p:nvSpPr>
        <p:spPr>
          <a:xfrm>
            <a:off x="6041300" y="32330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65" name="Google Shape;365;p41"/>
          <p:cNvSpPr txBox="1"/>
          <p:nvPr/>
        </p:nvSpPr>
        <p:spPr>
          <a:xfrm>
            <a:off x="6654950" y="36990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66" name="Google Shape;366;p41"/>
          <p:cNvCxnSpPr/>
          <p:nvPr/>
        </p:nvCxnSpPr>
        <p:spPr>
          <a:xfrm flipH="1" rot="10800000">
            <a:off x="6464900" y="190982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7" name="Google Shape;367;p41"/>
          <p:cNvCxnSpPr/>
          <p:nvPr/>
        </p:nvCxnSpPr>
        <p:spPr>
          <a:xfrm rot="10800000">
            <a:off x="6464900" y="121562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6085100" y="190982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69" name="Google Shape;369;p41"/>
          <p:cNvSpPr txBox="1"/>
          <p:nvPr/>
        </p:nvSpPr>
        <p:spPr>
          <a:xfrm>
            <a:off x="6289725" y="8646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70" name="Google Shape;370;p41"/>
          <p:cNvSpPr txBox="1"/>
          <p:nvPr/>
        </p:nvSpPr>
        <p:spPr>
          <a:xfrm>
            <a:off x="6596500" y="1844075"/>
            <a:ext cx="30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371" name="Google Shape;371;p41"/>
          <p:cNvSpPr txBox="1"/>
          <p:nvPr>
            <p:ph idx="1" type="body"/>
          </p:nvPr>
        </p:nvSpPr>
        <p:spPr>
          <a:xfrm>
            <a:off x="311700" y="1917025"/>
            <a:ext cx="3801600" cy="110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highlight>
                  <a:schemeClr val="lt1"/>
                </a:highlight>
              </a:rPr>
              <a:t>The black line is that distance. As the distance start from </a:t>
            </a:r>
            <a:r>
              <a:rPr i="1" lang="en">
                <a:solidFill>
                  <a:srgbClr val="FF9900"/>
                </a:solidFill>
                <a:highlight>
                  <a:schemeClr val="lt1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chemeClr val="lt1"/>
                </a:highlight>
              </a:rPr>
              <a:t>i-1 </a:t>
            </a:r>
            <a:r>
              <a:rPr lang="en">
                <a:highlight>
                  <a:schemeClr val="lt1"/>
                </a:highlight>
              </a:rPr>
              <a:t>to </a:t>
            </a:r>
            <a:r>
              <a:rPr i="1" lang="en">
                <a:solidFill>
                  <a:srgbClr val="FF9900"/>
                </a:solidFill>
                <a:highlight>
                  <a:schemeClr val="lt1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chemeClr val="lt1"/>
                </a:highlight>
              </a:rPr>
              <a:t>i</a:t>
            </a:r>
            <a:r>
              <a:rPr lang="en">
                <a:solidFill>
                  <a:srgbClr val="FF9900"/>
                </a:solidFill>
                <a:highlight>
                  <a:schemeClr val="lt1"/>
                </a:highlight>
              </a:rPr>
              <a:t> </a:t>
            </a:r>
            <a:r>
              <a:rPr lang="en">
                <a:highlight>
                  <a:schemeClr val="lt1"/>
                </a:highlight>
              </a:rPr>
              <a:t>along in the direction of </a:t>
            </a:r>
            <a:r>
              <a:rPr i="1" lang="en">
                <a:solidFill>
                  <a:srgbClr val="FF0000"/>
                </a:solidFill>
                <a:highlight>
                  <a:schemeClr val="lt1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chemeClr val="lt1"/>
                </a:highlight>
              </a:rPr>
              <a:t>i-1</a:t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72" name="Google Shape;372;p41"/>
          <p:cNvCxnSpPr/>
          <p:nvPr/>
        </p:nvCxnSpPr>
        <p:spPr>
          <a:xfrm rot="10800000">
            <a:off x="7064925" y="1914853"/>
            <a:ext cx="14700" cy="1848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3" name="Google Shape;373;p41"/>
          <p:cNvSpPr txBox="1"/>
          <p:nvPr/>
        </p:nvSpPr>
        <p:spPr>
          <a:xfrm>
            <a:off x="7064925" y="27307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</a:t>
            </a:r>
            <a:endParaRPr baseline="-2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000"/>
              <a:buFont typeface="Arial"/>
              <a:buNone/>
            </a:pPr>
            <a:r>
              <a:rPr lang="en" sz="2750">
                <a:highlight>
                  <a:schemeClr val="lt1"/>
                </a:highlight>
              </a:rPr>
              <a:t>Joint Offset (</a:t>
            </a:r>
            <a:r>
              <a:rPr i="1" lang="en" sz="2750">
                <a:highlight>
                  <a:schemeClr val="lt1"/>
                </a:highlight>
              </a:rPr>
              <a:t>d</a:t>
            </a:r>
            <a:r>
              <a:rPr baseline="-25000" i="1" lang="en" sz="2750">
                <a:highlight>
                  <a:schemeClr val="lt1"/>
                </a:highlight>
              </a:rPr>
              <a:t>i</a:t>
            </a:r>
            <a:r>
              <a:rPr lang="en" sz="2750">
                <a:highlight>
                  <a:schemeClr val="lt1"/>
                </a:highlight>
              </a:rPr>
              <a:t>)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chemeClr val="lt1"/>
                </a:highlight>
              </a:rPr>
              <a:t>Distance between </a:t>
            </a:r>
            <a:r>
              <a:rPr i="1" lang="en">
                <a:solidFill>
                  <a:srgbClr val="FF9900"/>
                </a:solidFill>
                <a:highlight>
                  <a:schemeClr val="lt1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chemeClr val="lt1"/>
                </a:highlight>
              </a:rPr>
              <a:t>i-1</a:t>
            </a:r>
            <a:r>
              <a:rPr lang="en">
                <a:highlight>
                  <a:schemeClr val="lt1"/>
                </a:highlight>
              </a:rPr>
              <a:t> and </a:t>
            </a:r>
            <a:r>
              <a:rPr i="1" lang="en">
                <a:solidFill>
                  <a:srgbClr val="FF9900"/>
                </a:solidFill>
                <a:highlight>
                  <a:schemeClr val="lt1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chemeClr val="lt1"/>
                </a:highlight>
              </a:rPr>
              <a:t>i</a:t>
            </a:r>
            <a:r>
              <a:rPr lang="en">
                <a:solidFill>
                  <a:srgbClr val="FF9900"/>
                </a:solidFill>
                <a:highlight>
                  <a:schemeClr val="lt1"/>
                </a:highlight>
              </a:rPr>
              <a:t> </a:t>
            </a:r>
            <a:r>
              <a:rPr lang="en">
                <a:highlight>
                  <a:schemeClr val="lt1"/>
                </a:highlight>
              </a:rPr>
              <a:t>along </a:t>
            </a:r>
            <a:r>
              <a:rPr i="1" lang="en">
                <a:solidFill>
                  <a:srgbClr val="FF0000"/>
                </a:solidFill>
                <a:highlight>
                  <a:schemeClr val="lt1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chemeClr val="lt1"/>
                </a:highlight>
              </a:rPr>
              <a:t>i-1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80" name="Google Shape;380;p42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1" name="Google Shape;381;p42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2" name="Google Shape;382;p42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3" name="Google Shape;383;p42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84" name="Google Shape;384;p42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385" name="Google Shape;385;p42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6" name="Google Shape;386;p42"/>
          <p:cNvCxnSpPr/>
          <p:nvPr/>
        </p:nvCxnSpPr>
        <p:spPr>
          <a:xfrm rot="10800000">
            <a:off x="5924250" y="2447875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87" name="Google Shape;387;p42"/>
          <p:cNvCxnSpPr/>
          <p:nvPr/>
        </p:nvCxnSpPr>
        <p:spPr>
          <a:xfrm flipH="1">
            <a:off x="5544450" y="3142075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8" name="Google Shape;388;p42"/>
          <p:cNvSpPr txBox="1"/>
          <p:nvPr/>
        </p:nvSpPr>
        <p:spPr>
          <a:xfrm>
            <a:off x="5749075" y="20968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389" name="Google Shape;389;p42"/>
          <p:cNvSpPr txBox="1"/>
          <p:nvPr/>
        </p:nvSpPr>
        <p:spPr>
          <a:xfrm>
            <a:off x="6114300" y="30763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390" name="Google Shape;390;p42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highlight>
                  <a:srgbClr val="FFFFFF"/>
                </a:highlight>
              </a:rPr>
              <a:t>Here d</a:t>
            </a:r>
            <a:r>
              <a:rPr baseline="-25000" lang="en">
                <a:highlight>
                  <a:srgbClr val="FFFFFF"/>
                </a:highlight>
              </a:rPr>
              <a:t>i</a:t>
            </a:r>
            <a:r>
              <a:rPr baseline="-25000" i="1" lang="en"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= 0. Why???</a:t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Twist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rgbClr val="FFFFFF"/>
                </a:highlight>
              </a:rPr>
              <a:t>𝝰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):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3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397" name="Google Shape;397;p43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8" name="Google Shape;398;p43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99" name="Google Shape;399;p43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0" name="Google Shape;400;p43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01" name="Google Shape;401;p43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402" name="Google Shape;402;p43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3" name="Google Shape;403;p43"/>
          <p:cNvCxnSpPr/>
          <p:nvPr/>
        </p:nvCxnSpPr>
        <p:spPr>
          <a:xfrm flipH="1" rot="10800000">
            <a:off x="5924250" y="2418475"/>
            <a:ext cx="169200" cy="72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04" name="Google Shape;404;p43"/>
          <p:cNvCxnSpPr/>
          <p:nvPr/>
        </p:nvCxnSpPr>
        <p:spPr>
          <a:xfrm flipH="1">
            <a:off x="5406450" y="3142075"/>
            <a:ext cx="517800" cy="33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5" name="Google Shape;405;p43"/>
          <p:cNvSpPr txBox="1"/>
          <p:nvPr/>
        </p:nvSpPr>
        <p:spPr>
          <a:xfrm>
            <a:off x="5953650" y="20182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06" name="Google Shape;406;p43"/>
          <p:cNvSpPr txBox="1"/>
          <p:nvPr/>
        </p:nvSpPr>
        <p:spPr>
          <a:xfrm>
            <a:off x="6068916" y="30763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407" name="Google Shape;407;p43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When you rotate the the second frame about x</a:t>
            </a:r>
            <a:r>
              <a:rPr baseline="-25000" lang="en">
                <a:highlight>
                  <a:srgbClr val="FFFFFF"/>
                </a:highlight>
              </a:rPr>
              <a:t>i</a:t>
            </a:r>
            <a:r>
              <a:rPr baseline="-25000" i="1" lang="en"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, there is an angle between z</a:t>
            </a:r>
            <a:r>
              <a:rPr baseline="-25000" lang="en"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z</a:t>
            </a:r>
            <a:r>
              <a:rPr baseline="-25000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sp>
        <p:nvSpPr>
          <p:cNvPr id="408" name="Google Shape;408;p43"/>
          <p:cNvSpPr/>
          <p:nvPr/>
        </p:nvSpPr>
        <p:spPr>
          <a:xfrm>
            <a:off x="6284921" y="2865689"/>
            <a:ext cx="297875" cy="480500"/>
          </a:xfrm>
          <a:custGeom>
            <a:rect b="b" l="l" r="r" t="t"/>
            <a:pathLst>
              <a:path extrusionOk="0" h="19220" w="11915">
                <a:moveTo>
                  <a:pt x="11915" y="19220"/>
                </a:moveTo>
                <a:cubicBezTo>
                  <a:pt x="7753" y="19220"/>
                  <a:pt x="815" y="18956"/>
                  <a:pt x="225" y="14836"/>
                </a:cubicBezTo>
                <a:cubicBezTo>
                  <a:pt x="-422" y="10316"/>
                  <a:pt x="506" y="5308"/>
                  <a:pt x="2856" y="1393"/>
                </a:cubicBezTo>
                <a:cubicBezTo>
                  <a:pt x="4059" y="-611"/>
                  <a:pt x="8216" y="-260"/>
                  <a:pt x="9869" y="139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09" name="Google Shape;409;p43"/>
          <p:cNvCxnSpPr/>
          <p:nvPr/>
        </p:nvCxnSpPr>
        <p:spPr>
          <a:xfrm flipH="1">
            <a:off x="6465775" y="2900525"/>
            <a:ext cx="73200" cy="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3"/>
          <p:cNvCxnSpPr/>
          <p:nvPr/>
        </p:nvCxnSpPr>
        <p:spPr>
          <a:xfrm rot="10800000">
            <a:off x="6509675" y="2827625"/>
            <a:ext cx="366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Twist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chemeClr val="lt1"/>
                </a:highlight>
              </a:rPr>
              <a:t>𝝰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):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44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417" name="Google Shape;417;p44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8" name="Google Shape;418;p44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19" name="Google Shape;419;p44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0" name="Google Shape;420;p44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21" name="Google Shape;421;p44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422" name="Google Shape;422;p44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3" name="Google Shape;423;p44"/>
          <p:cNvCxnSpPr/>
          <p:nvPr/>
        </p:nvCxnSpPr>
        <p:spPr>
          <a:xfrm flipH="1" rot="10800000">
            <a:off x="5924250" y="2418475"/>
            <a:ext cx="169200" cy="72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24" name="Google Shape;424;p44"/>
          <p:cNvCxnSpPr/>
          <p:nvPr/>
        </p:nvCxnSpPr>
        <p:spPr>
          <a:xfrm flipH="1">
            <a:off x="5406450" y="3142075"/>
            <a:ext cx="517800" cy="33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5" name="Google Shape;425;p44"/>
          <p:cNvSpPr txBox="1"/>
          <p:nvPr/>
        </p:nvSpPr>
        <p:spPr>
          <a:xfrm>
            <a:off x="5953650" y="20182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26" name="Google Shape;426;p44"/>
          <p:cNvSpPr txBox="1"/>
          <p:nvPr/>
        </p:nvSpPr>
        <p:spPr>
          <a:xfrm>
            <a:off x="6074818" y="30763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427" name="Google Shape;427;p44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When you rotate the the second frame about x</a:t>
            </a:r>
            <a:r>
              <a:rPr baseline="-25000" lang="en">
                <a:highlight>
                  <a:srgbClr val="FFFFFF"/>
                </a:highlight>
              </a:rPr>
              <a:t>i</a:t>
            </a:r>
            <a:r>
              <a:rPr baseline="-25000" i="1" lang="en"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, there is an angle between z</a:t>
            </a:r>
            <a:r>
              <a:rPr baseline="-25000" lang="en"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z</a:t>
            </a:r>
            <a:r>
              <a:rPr baseline="-25000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428" name="Google Shape;428;p44"/>
          <p:cNvCxnSpPr/>
          <p:nvPr/>
        </p:nvCxnSpPr>
        <p:spPr>
          <a:xfrm rot="10800000">
            <a:off x="5924250" y="241915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29" name="Google Shape;429;p44"/>
          <p:cNvSpPr txBox="1"/>
          <p:nvPr/>
        </p:nvSpPr>
        <p:spPr>
          <a:xfrm>
            <a:off x="5500650" y="22316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30" name="Google Shape;430;p44"/>
          <p:cNvSpPr txBox="1"/>
          <p:nvPr/>
        </p:nvSpPr>
        <p:spPr>
          <a:xfrm>
            <a:off x="5851200" y="2358538"/>
            <a:ext cx="42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</a:rPr>
              <a:t>ɑ</a:t>
            </a:r>
            <a:r>
              <a:rPr baseline="-25000" i="1" lang="en" sz="10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endParaRPr sz="1000"/>
          </a:p>
        </p:txBody>
      </p:sp>
      <p:sp>
        <p:nvSpPr>
          <p:cNvPr id="431" name="Google Shape;431;p44"/>
          <p:cNvSpPr/>
          <p:nvPr/>
        </p:nvSpPr>
        <p:spPr>
          <a:xfrm>
            <a:off x="5925250" y="2630074"/>
            <a:ext cx="124200" cy="36650"/>
          </a:xfrm>
          <a:custGeom>
            <a:rect b="b" l="l" r="r" t="t"/>
            <a:pathLst>
              <a:path extrusionOk="0" h="1466" w="4968">
                <a:moveTo>
                  <a:pt x="0" y="1466"/>
                </a:moveTo>
                <a:cubicBezTo>
                  <a:pt x="408" y="-165"/>
                  <a:pt x="3569" y="-344"/>
                  <a:pt x="4968" y="58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2" name="Google Shape;432;p44"/>
          <p:cNvSpPr/>
          <p:nvPr/>
        </p:nvSpPr>
        <p:spPr>
          <a:xfrm>
            <a:off x="6284921" y="2865689"/>
            <a:ext cx="297875" cy="480500"/>
          </a:xfrm>
          <a:custGeom>
            <a:rect b="b" l="l" r="r" t="t"/>
            <a:pathLst>
              <a:path extrusionOk="0" h="19220" w="11915">
                <a:moveTo>
                  <a:pt x="11915" y="19220"/>
                </a:moveTo>
                <a:cubicBezTo>
                  <a:pt x="7753" y="19220"/>
                  <a:pt x="815" y="18956"/>
                  <a:pt x="225" y="14836"/>
                </a:cubicBezTo>
                <a:cubicBezTo>
                  <a:pt x="-422" y="10316"/>
                  <a:pt x="506" y="5308"/>
                  <a:pt x="2856" y="1393"/>
                </a:cubicBezTo>
                <a:cubicBezTo>
                  <a:pt x="4059" y="-611"/>
                  <a:pt x="8216" y="-260"/>
                  <a:pt x="9869" y="1393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33" name="Google Shape;433;p44"/>
          <p:cNvCxnSpPr/>
          <p:nvPr/>
        </p:nvCxnSpPr>
        <p:spPr>
          <a:xfrm flipH="1">
            <a:off x="6465775" y="2900525"/>
            <a:ext cx="73200" cy="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4"/>
          <p:cNvCxnSpPr/>
          <p:nvPr/>
        </p:nvCxnSpPr>
        <p:spPr>
          <a:xfrm rot="10800000">
            <a:off x="6509675" y="2827625"/>
            <a:ext cx="366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Twist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chemeClr val="lt1"/>
                </a:highlight>
              </a:rPr>
              <a:t>𝝰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):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5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441" name="Google Shape;441;p45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2" name="Google Shape;442;p45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3" name="Google Shape;443;p45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4" name="Google Shape;444;p45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45" name="Google Shape;445;p45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446" name="Google Shape;446;p45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7" name="Google Shape;447;p45"/>
          <p:cNvCxnSpPr/>
          <p:nvPr/>
        </p:nvCxnSpPr>
        <p:spPr>
          <a:xfrm flipH="1" rot="10800000">
            <a:off x="5924250" y="2681275"/>
            <a:ext cx="453900" cy="4608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8" name="Google Shape;448;p45"/>
          <p:cNvCxnSpPr/>
          <p:nvPr/>
        </p:nvCxnSpPr>
        <p:spPr>
          <a:xfrm flipH="1" rot="10800000">
            <a:off x="5924250" y="2447575"/>
            <a:ext cx="8400" cy="69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9" name="Google Shape;449;p45"/>
          <p:cNvSpPr txBox="1"/>
          <p:nvPr/>
        </p:nvSpPr>
        <p:spPr>
          <a:xfrm>
            <a:off x="6304350" y="2371638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50" name="Google Shape;450;p45"/>
          <p:cNvSpPr txBox="1"/>
          <p:nvPr/>
        </p:nvSpPr>
        <p:spPr>
          <a:xfrm>
            <a:off x="6114300" y="307632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451" name="Google Shape;451;p45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Here the </a:t>
            </a:r>
            <a:r>
              <a:rPr i="1" lang="en" sz="2308">
                <a:solidFill>
                  <a:schemeClr val="dk1"/>
                </a:solidFill>
                <a:highlight>
                  <a:schemeClr val="lt1"/>
                </a:highlight>
              </a:rPr>
              <a:t>𝝰</a:t>
            </a:r>
            <a:r>
              <a:rPr baseline="-25000" i="1" lang="en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 = -90</a:t>
            </a:r>
            <a:r>
              <a:rPr baseline="30000" i="1" lang="en">
                <a:solidFill>
                  <a:schemeClr val="dk1"/>
                </a:solidFill>
                <a:highlight>
                  <a:srgbClr val="FFFFFF"/>
                </a:highlight>
              </a:rPr>
              <a:t>o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sp>
        <p:nvSpPr>
          <p:cNvPr id="452" name="Google Shape;452;p45"/>
          <p:cNvSpPr/>
          <p:nvPr/>
        </p:nvSpPr>
        <p:spPr>
          <a:xfrm>
            <a:off x="6284921" y="2865689"/>
            <a:ext cx="297875" cy="480500"/>
          </a:xfrm>
          <a:custGeom>
            <a:rect b="b" l="l" r="r" t="t"/>
            <a:pathLst>
              <a:path extrusionOk="0" h="19220" w="11915">
                <a:moveTo>
                  <a:pt x="11915" y="19220"/>
                </a:moveTo>
                <a:cubicBezTo>
                  <a:pt x="7753" y="19220"/>
                  <a:pt x="815" y="18956"/>
                  <a:pt x="225" y="14836"/>
                </a:cubicBezTo>
                <a:cubicBezTo>
                  <a:pt x="-422" y="10316"/>
                  <a:pt x="506" y="5308"/>
                  <a:pt x="2856" y="1393"/>
                </a:cubicBezTo>
                <a:cubicBezTo>
                  <a:pt x="4059" y="-611"/>
                  <a:pt x="8216" y="-260"/>
                  <a:pt x="9869" y="1393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53" name="Google Shape;453;p45"/>
          <p:cNvCxnSpPr/>
          <p:nvPr/>
        </p:nvCxnSpPr>
        <p:spPr>
          <a:xfrm flipH="1">
            <a:off x="6465775" y="2900525"/>
            <a:ext cx="73200" cy="6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45"/>
          <p:cNvCxnSpPr/>
          <p:nvPr/>
        </p:nvCxnSpPr>
        <p:spPr>
          <a:xfrm rot="10800000">
            <a:off x="6509675" y="2827625"/>
            <a:ext cx="36600" cy="7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Link Twist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chemeClr val="lt1"/>
                </a:highlight>
              </a:rPr>
              <a:t>𝝰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):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46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461" name="Google Shape;461;p46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2" name="Google Shape;462;p46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3" name="Google Shape;463;p46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4" name="Google Shape;464;p46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65" name="Google Shape;465;p46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466" name="Google Shape;466;p46"/>
          <p:cNvCxnSpPr/>
          <p:nvPr/>
        </p:nvCxnSpPr>
        <p:spPr>
          <a:xfrm flipH="1" rot="10800000">
            <a:off x="5924250" y="31420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7" name="Google Shape;467;p46"/>
          <p:cNvCxnSpPr/>
          <p:nvPr/>
        </p:nvCxnSpPr>
        <p:spPr>
          <a:xfrm flipH="1">
            <a:off x="5581950" y="3142075"/>
            <a:ext cx="342300" cy="5403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68" name="Google Shape;468;p46"/>
          <p:cNvCxnSpPr/>
          <p:nvPr/>
        </p:nvCxnSpPr>
        <p:spPr>
          <a:xfrm>
            <a:off x="5924250" y="3142075"/>
            <a:ext cx="271200" cy="510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9" name="Google Shape;469;p46"/>
          <p:cNvSpPr txBox="1"/>
          <p:nvPr/>
        </p:nvSpPr>
        <p:spPr>
          <a:xfrm>
            <a:off x="5332650" y="3476513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70" name="Google Shape;470;p46"/>
          <p:cNvSpPr txBox="1"/>
          <p:nvPr/>
        </p:nvSpPr>
        <p:spPr>
          <a:xfrm>
            <a:off x="6100663" y="3032150"/>
            <a:ext cx="34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471" name="Google Shape;471;p46"/>
          <p:cNvSpPr txBox="1"/>
          <p:nvPr>
            <p:ph idx="1" type="body"/>
          </p:nvPr>
        </p:nvSpPr>
        <p:spPr>
          <a:xfrm>
            <a:off x="311700" y="3960000"/>
            <a:ext cx="8382600" cy="11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Here the </a:t>
            </a:r>
            <a:r>
              <a:rPr i="1" lang="en">
                <a:solidFill>
                  <a:schemeClr val="dk1"/>
                </a:solidFill>
                <a:highlight>
                  <a:schemeClr val="lt1"/>
                </a:highlight>
              </a:rPr>
              <a:t>𝝰</a:t>
            </a:r>
            <a:r>
              <a:rPr baseline="-25000" i="1" lang="en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 = +90</a:t>
            </a:r>
            <a:r>
              <a:rPr baseline="30000" i="1" lang="en">
                <a:solidFill>
                  <a:schemeClr val="dk1"/>
                </a:solidFill>
                <a:highlight>
                  <a:srgbClr val="FFFFFF"/>
                </a:highlight>
              </a:rPr>
              <a:t>o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i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Why???</a:t>
            </a:r>
            <a:r>
              <a:rPr i="1" lang="en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sp>
        <p:nvSpPr>
          <p:cNvPr id="472" name="Google Shape;472;p46"/>
          <p:cNvSpPr/>
          <p:nvPr/>
        </p:nvSpPr>
        <p:spPr>
          <a:xfrm>
            <a:off x="6504783" y="2958975"/>
            <a:ext cx="202200" cy="405400"/>
          </a:xfrm>
          <a:custGeom>
            <a:rect b="b" l="l" r="r" t="t"/>
            <a:pathLst>
              <a:path extrusionOk="0" h="16216" w="8088">
                <a:moveTo>
                  <a:pt x="5167" y="0"/>
                </a:moveTo>
                <a:cubicBezTo>
                  <a:pt x="1923" y="2434"/>
                  <a:pt x="-596" y="7128"/>
                  <a:pt x="199" y="11105"/>
                </a:cubicBezTo>
                <a:cubicBezTo>
                  <a:pt x="596" y="13093"/>
                  <a:pt x="1783" y="15432"/>
                  <a:pt x="3706" y="16073"/>
                </a:cubicBezTo>
                <a:cubicBezTo>
                  <a:pt x="5425" y="16646"/>
                  <a:pt x="6808" y="14140"/>
                  <a:pt x="8089" y="1285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73" name="Google Shape;473;p46"/>
          <p:cNvCxnSpPr/>
          <p:nvPr/>
        </p:nvCxnSpPr>
        <p:spPr>
          <a:xfrm>
            <a:off x="6707000" y="3273125"/>
            <a:ext cx="21900" cy="9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6"/>
          <p:cNvCxnSpPr/>
          <p:nvPr/>
        </p:nvCxnSpPr>
        <p:spPr>
          <a:xfrm flipH="1">
            <a:off x="6619400" y="3273125"/>
            <a:ext cx="87600" cy="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Joint Angle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rgbClr val="FFFFFF"/>
                </a:highlight>
              </a:rPr>
              <a:t>Ө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7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481" name="Google Shape;481;p47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2" name="Google Shape;482;p47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3" name="Google Shape;483;p47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4" name="Google Shape;484;p47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85" name="Google Shape;485;p47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486" name="Google Shape;486;p47"/>
          <p:cNvCxnSpPr/>
          <p:nvPr/>
        </p:nvCxnSpPr>
        <p:spPr>
          <a:xfrm flipH="1" rot="10800000">
            <a:off x="5924250" y="2966275"/>
            <a:ext cx="731700" cy="183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7" name="Google Shape;487;p47"/>
          <p:cNvCxnSpPr/>
          <p:nvPr/>
        </p:nvCxnSpPr>
        <p:spPr>
          <a:xfrm flipH="1" rot="10800000">
            <a:off x="5924250" y="2506075"/>
            <a:ext cx="900" cy="63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8" name="Google Shape;488;p47"/>
          <p:cNvCxnSpPr/>
          <p:nvPr/>
        </p:nvCxnSpPr>
        <p:spPr>
          <a:xfrm>
            <a:off x="5924250" y="3142075"/>
            <a:ext cx="183600" cy="45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9" name="Google Shape;489;p47"/>
          <p:cNvSpPr txBox="1"/>
          <p:nvPr/>
        </p:nvSpPr>
        <p:spPr>
          <a:xfrm>
            <a:off x="5595725" y="21999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490" name="Google Shape;490;p47"/>
          <p:cNvSpPr txBox="1"/>
          <p:nvPr/>
        </p:nvSpPr>
        <p:spPr>
          <a:xfrm>
            <a:off x="6618425" y="26239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491" name="Google Shape;491;p47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When you rotate the the second frame about z</a:t>
            </a:r>
            <a:r>
              <a:rPr baseline="-25000" lang="en">
                <a:highlight>
                  <a:srgbClr val="FFFFFF"/>
                </a:highlight>
              </a:rPr>
              <a:t>i-1</a:t>
            </a:r>
            <a:r>
              <a:rPr baseline="-25000" i="1" lang="en">
                <a:highlight>
                  <a:srgbClr val="FFFFFF"/>
                </a:highlight>
              </a:rPr>
              <a:t> </a:t>
            </a:r>
            <a:r>
              <a:rPr lang="en">
                <a:highlight>
                  <a:srgbClr val="FFFFFF"/>
                </a:highlight>
              </a:rPr>
              <a:t>, there is an angle between x</a:t>
            </a:r>
            <a:r>
              <a:rPr baseline="-25000" lang="en"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x</a:t>
            </a:r>
            <a:r>
              <a:rPr baseline="-25000" lang="en"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sp>
        <p:nvSpPr>
          <p:cNvPr id="492" name="Google Shape;492;p47"/>
          <p:cNvSpPr/>
          <p:nvPr/>
        </p:nvSpPr>
        <p:spPr>
          <a:xfrm>
            <a:off x="1501550" y="2455713"/>
            <a:ext cx="434650" cy="268600"/>
          </a:xfrm>
          <a:custGeom>
            <a:rect b="b" l="l" r="r" t="t"/>
            <a:pathLst>
              <a:path extrusionOk="0" h="10744" w="17386">
                <a:moveTo>
                  <a:pt x="0" y="3507"/>
                </a:moveTo>
                <a:cubicBezTo>
                  <a:pt x="2797" y="7240"/>
                  <a:pt x="8102" y="12314"/>
                  <a:pt x="12274" y="10228"/>
                </a:cubicBezTo>
                <a:cubicBezTo>
                  <a:pt x="14908" y="8911"/>
                  <a:pt x="17821" y="5810"/>
                  <a:pt x="17242" y="2922"/>
                </a:cubicBezTo>
                <a:cubicBezTo>
                  <a:pt x="16864" y="1038"/>
                  <a:pt x="14195" y="0"/>
                  <a:pt x="12274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493" name="Google Shape;493;p47"/>
          <p:cNvCxnSpPr/>
          <p:nvPr/>
        </p:nvCxnSpPr>
        <p:spPr>
          <a:xfrm>
            <a:off x="1815700" y="2441088"/>
            <a:ext cx="29100" cy="8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47"/>
          <p:cNvCxnSpPr/>
          <p:nvPr/>
        </p:nvCxnSpPr>
        <p:spPr>
          <a:xfrm flipH="1" rot="10800000">
            <a:off x="1823000" y="2419188"/>
            <a:ext cx="876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Joint Angle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rgbClr val="FFFFFF"/>
                </a:highlight>
              </a:rPr>
              <a:t>Ө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48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501" name="Google Shape;501;p48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2" name="Google Shape;502;p48"/>
          <p:cNvCxnSpPr/>
          <p:nvPr/>
        </p:nvCxnSpPr>
        <p:spPr>
          <a:xfrm rot="10800000">
            <a:off x="1746150" y="2403700"/>
            <a:ext cx="0" cy="69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3" name="Google Shape;503;p48"/>
          <p:cNvCxnSpPr/>
          <p:nvPr/>
        </p:nvCxnSpPr>
        <p:spPr>
          <a:xfrm flipH="1">
            <a:off x="1366350" y="3097900"/>
            <a:ext cx="379800" cy="47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4" name="Google Shape;504;p48"/>
          <p:cNvSpPr txBox="1"/>
          <p:nvPr/>
        </p:nvSpPr>
        <p:spPr>
          <a:xfrm>
            <a:off x="1322550" y="2566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505" name="Google Shape;505;p48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506" name="Google Shape;506;p48"/>
          <p:cNvCxnSpPr/>
          <p:nvPr/>
        </p:nvCxnSpPr>
        <p:spPr>
          <a:xfrm flipH="1" rot="10800000">
            <a:off x="5924250" y="2966275"/>
            <a:ext cx="731700" cy="1830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7" name="Google Shape;507;p48"/>
          <p:cNvCxnSpPr/>
          <p:nvPr/>
        </p:nvCxnSpPr>
        <p:spPr>
          <a:xfrm flipH="1" rot="10800000">
            <a:off x="5924250" y="2506075"/>
            <a:ext cx="900" cy="63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08" name="Google Shape;508;p48"/>
          <p:cNvCxnSpPr/>
          <p:nvPr/>
        </p:nvCxnSpPr>
        <p:spPr>
          <a:xfrm>
            <a:off x="5924250" y="3142075"/>
            <a:ext cx="183600" cy="45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09" name="Google Shape;509;p48"/>
          <p:cNvSpPr txBox="1"/>
          <p:nvPr/>
        </p:nvSpPr>
        <p:spPr>
          <a:xfrm>
            <a:off x="5595725" y="21999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510" name="Google Shape;510;p48"/>
          <p:cNvSpPr txBox="1"/>
          <p:nvPr/>
        </p:nvSpPr>
        <p:spPr>
          <a:xfrm>
            <a:off x="6618425" y="26239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511" name="Google Shape;511;p48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When you rotate the the second frame about z</a:t>
            </a:r>
            <a:r>
              <a:rPr baseline="-25000" lang="en" sz="1600">
                <a:highlight>
                  <a:srgbClr val="FFFFFF"/>
                </a:highlight>
              </a:rPr>
              <a:t>i-1</a:t>
            </a:r>
            <a:r>
              <a:rPr baseline="-25000" i="1" lang="en" sz="1600">
                <a:highlight>
                  <a:srgbClr val="FFFFFF"/>
                </a:highlight>
              </a:rPr>
              <a:t> </a:t>
            </a:r>
            <a:r>
              <a:rPr lang="en" sz="1600">
                <a:highlight>
                  <a:srgbClr val="FFFFFF"/>
                </a:highlight>
              </a:rPr>
              <a:t>, there is an angle between x</a:t>
            </a:r>
            <a:r>
              <a:rPr baseline="-25000" lang="en" sz="1600">
                <a:highlight>
                  <a:srgbClr val="FFFFFF"/>
                </a:highlight>
              </a:rPr>
              <a:t>i-1</a:t>
            </a:r>
            <a:r>
              <a:rPr lang="en" sz="1600">
                <a:highlight>
                  <a:srgbClr val="FFFFFF"/>
                </a:highlight>
              </a:rPr>
              <a:t> and x</a:t>
            </a:r>
            <a:r>
              <a:rPr baseline="-25000" lang="en" sz="1600">
                <a:highlight>
                  <a:srgbClr val="FFFFFF"/>
                </a:highlight>
              </a:rPr>
              <a:t>i</a:t>
            </a:r>
            <a:r>
              <a:rPr lang="en" sz="1600">
                <a:highlight>
                  <a:srgbClr val="FFFFFF"/>
                </a:highlight>
              </a:rPr>
              <a:t>.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Here the </a:t>
            </a:r>
            <a:r>
              <a:rPr i="1" lang="en" sz="1600">
                <a:solidFill>
                  <a:schemeClr val="dk1"/>
                </a:solidFill>
                <a:highlight>
                  <a:srgbClr val="FFFFFF"/>
                </a:highlight>
              </a:rPr>
              <a:t>Ө</a:t>
            </a:r>
            <a:r>
              <a:rPr baseline="-25000" i="1" lang="en" sz="16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i="1" lang="en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1600">
                <a:highlight>
                  <a:schemeClr val="lt1"/>
                </a:highlight>
              </a:rPr>
              <a:t>is the joint angle and it is positive (CCW)</a:t>
            </a:r>
            <a:endParaRPr sz="1600"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512" name="Google Shape;512;p48"/>
          <p:cNvCxnSpPr/>
          <p:nvPr/>
        </p:nvCxnSpPr>
        <p:spPr>
          <a:xfrm flipH="1" rot="10800000">
            <a:off x="5975350" y="31492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13" name="Google Shape;513;p48"/>
          <p:cNvSpPr txBox="1"/>
          <p:nvPr/>
        </p:nvSpPr>
        <p:spPr>
          <a:xfrm>
            <a:off x="665595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514" name="Google Shape;514;p48"/>
          <p:cNvSpPr/>
          <p:nvPr/>
        </p:nvSpPr>
        <p:spPr>
          <a:xfrm>
            <a:off x="6531650" y="2995500"/>
            <a:ext cx="58450" cy="153425"/>
          </a:xfrm>
          <a:custGeom>
            <a:rect b="b" l="l" r="r" t="t"/>
            <a:pathLst>
              <a:path extrusionOk="0" h="6137" w="2338">
                <a:moveTo>
                  <a:pt x="2338" y="6137"/>
                </a:moveTo>
                <a:cubicBezTo>
                  <a:pt x="2338" y="3948"/>
                  <a:pt x="1548" y="1548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5" name="Google Shape;515;p48"/>
          <p:cNvSpPr txBox="1"/>
          <p:nvPr/>
        </p:nvSpPr>
        <p:spPr>
          <a:xfrm>
            <a:off x="6531650" y="2888413"/>
            <a:ext cx="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</a:rPr>
              <a:t>Ө</a:t>
            </a:r>
            <a:r>
              <a:rPr baseline="-25000" i="1" lang="en" sz="10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endParaRPr sz="1000"/>
          </a:p>
        </p:txBody>
      </p:sp>
      <p:sp>
        <p:nvSpPr>
          <p:cNvPr id="516" name="Google Shape;516;p48"/>
          <p:cNvSpPr/>
          <p:nvPr/>
        </p:nvSpPr>
        <p:spPr>
          <a:xfrm>
            <a:off x="1528825" y="2448475"/>
            <a:ext cx="434650" cy="268600"/>
          </a:xfrm>
          <a:custGeom>
            <a:rect b="b" l="l" r="r" t="t"/>
            <a:pathLst>
              <a:path extrusionOk="0" h="10744" w="17386">
                <a:moveTo>
                  <a:pt x="0" y="3507"/>
                </a:moveTo>
                <a:cubicBezTo>
                  <a:pt x="2797" y="7240"/>
                  <a:pt x="8102" y="12314"/>
                  <a:pt x="12274" y="10228"/>
                </a:cubicBezTo>
                <a:cubicBezTo>
                  <a:pt x="14908" y="8911"/>
                  <a:pt x="17821" y="5810"/>
                  <a:pt x="17242" y="2922"/>
                </a:cubicBezTo>
                <a:cubicBezTo>
                  <a:pt x="16864" y="1038"/>
                  <a:pt x="14195" y="0"/>
                  <a:pt x="12274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517" name="Google Shape;517;p48"/>
          <p:cNvCxnSpPr/>
          <p:nvPr/>
        </p:nvCxnSpPr>
        <p:spPr>
          <a:xfrm>
            <a:off x="1842975" y="2433850"/>
            <a:ext cx="29100" cy="8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8"/>
          <p:cNvCxnSpPr/>
          <p:nvPr/>
        </p:nvCxnSpPr>
        <p:spPr>
          <a:xfrm flipH="1" rot="10800000">
            <a:off x="1850275" y="2411950"/>
            <a:ext cx="876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>
                <a:highlight>
                  <a:schemeClr val="lt1"/>
                </a:highlight>
              </a:rPr>
              <a:t>Joint Angle </a:t>
            </a:r>
            <a:r>
              <a:rPr lang="en" sz="2750">
                <a:highlight>
                  <a:srgbClr val="FFFFFF"/>
                </a:highlight>
              </a:rPr>
              <a:t>(</a:t>
            </a:r>
            <a:r>
              <a:rPr i="1" lang="en" sz="2750">
                <a:highlight>
                  <a:srgbClr val="FFFFFF"/>
                </a:highlight>
              </a:rPr>
              <a:t>Ө</a:t>
            </a:r>
            <a:r>
              <a:rPr baseline="-25000" i="1" lang="en" sz="2750">
                <a:highlight>
                  <a:srgbClr val="FFFFFF"/>
                </a:highlight>
              </a:rPr>
              <a:t>i</a:t>
            </a:r>
            <a:r>
              <a:rPr lang="en" sz="2750">
                <a:highlight>
                  <a:srgbClr val="FFFFFF"/>
                </a:highlight>
              </a:rPr>
              <a:t>) </a:t>
            </a:r>
            <a:endParaRPr sz="2750"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9"/>
          <p:cNvSpPr txBox="1"/>
          <p:nvPr>
            <p:ph idx="1" type="body"/>
          </p:nvPr>
        </p:nvSpPr>
        <p:spPr>
          <a:xfrm>
            <a:off x="311700" y="1152475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highlight>
                  <a:srgbClr val="FFFFFF"/>
                </a:highlight>
              </a:rPr>
              <a:t>Angle between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i-1</a:t>
            </a:r>
            <a:r>
              <a:rPr lang="en">
                <a:highlight>
                  <a:srgbClr val="FFFFFF"/>
                </a:highlight>
              </a:rPr>
              <a:t> and </a:t>
            </a:r>
            <a:r>
              <a:rPr i="1" lang="en">
                <a:solidFill>
                  <a:srgbClr val="FF0000"/>
                </a:solidFill>
                <a:highlight>
                  <a:srgbClr val="FFFFFF"/>
                </a:highlight>
              </a:rPr>
              <a:t>x</a:t>
            </a:r>
            <a:r>
              <a:rPr baseline="-25000" i="1" lang="en">
                <a:solidFill>
                  <a:srgbClr val="FF0000"/>
                </a:solidFill>
                <a:highlight>
                  <a:srgbClr val="FFFFFF"/>
                </a:highlight>
              </a:rPr>
              <a:t>i</a:t>
            </a:r>
            <a:r>
              <a:rPr lang="en">
                <a:highlight>
                  <a:srgbClr val="FFFFFF"/>
                </a:highlight>
              </a:rPr>
              <a:t> about </a:t>
            </a:r>
            <a:r>
              <a:rPr i="1" lang="en">
                <a:solidFill>
                  <a:srgbClr val="FF9900"/>
                </a:solidFill>
                <a:highlight>
                  <a:srgbClr val="FFFFFF"/>
                </a:highlight>
              </a:rPr>
              <a:t>z</a:t>
            </a:r>
            <a:r>
              <a:rPr baseline="-25000" i="1" lang="en">
                <a:solidFill>
                  <a:srgbClr val="FF9900"/>
                </a:solidFill>
                <a:highlight>
                  <a:srgbClr val="FFFFFF"/>
                </a:highlight>
              </a:rPr>
              <a:t>i-1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525" name="Google Shape;525;p49"/>
          <p:cNvCxnSpPr/>
          <p:nvPr/>
        </p:nvCxnSpPr>
        <p:spPr>
          <a:xfrm flipH="1" rot="10800000">
            <a:off x="1746150" y="3097900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6" name="Google Shape;526;p49"/>
          <p:cNvCxnSpPr/>
          <p:nvPr/>
        </p:nvCxnSpPr>
        <p:spPr>
          <a:xfrm flipH="1">
            <a:off x="1410150" y="3097900"/>
            <a:ext cx="336000" cy="55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27" name="Google Shape;527;p49"/>
          <p:cNvCxnSpPr/>
          <p:nvPr/>
        </p:nvCxnSpPr>
        <p:spPr>
          <a:xfrm rot="10800000">
            <a:off x="1731450" y="2389000"/>
            <a:ext cx="14700" cy="70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8" name="Google Shape;528;p49"/>
          <p:cNvSpPr txBox="1"/>
          <p:nvPr/>
        </p:nvSpPr>
        <p:spPr>
          <a:xfrm>
            <a:off x="1236650" y="2397288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i-1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529" name="Google Shape;529;p49"/>
          <p:cNvSpPr txBox="1"/>
          <p:nvPr/>
        </p:nvSpPr>
        <p:spPr>
          <a:xfrm>
            <a:off x="193620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cxnSp>
        <p:nvCxnSpPr>
          <p:cNvPr id="530" name="Google Shape;530;p49"/>
          <p:cNvCxnSpPr/>
          <p:nvPr/>
        </p:nvCxnSpPr>
        <p:spPr>
          <a:xfrm>
            <a:off x="5924250" y="3149275"/>
            <a:ext cx="687900" cy="226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1" name="Google Shape;531;p49"/>
          <p:cNvCxnSpPr/>
          <p:nvPr/>
        </p:nvCxnSpPr>
        <p:spPr>
          <a:xfrm flipH="1" rot="10800000">
            <a:off x="5924250" y="2506075"/>
            <a:ext cx="900" cy="63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32" name="Google Shape;532;p49"/>
          <p:cNvCxnSpPr/>
          <p:nvPr/>
        </p:nvCxnSpPr>
        <p:spPr>
          <a:xfrm flipH="1">
            <a:off x="5764650" y="3142075"/>
            <a:ext cx="159600" cy="423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3" name="Google Shape;533;p49"/>
          <p:cNvSpPr txBox="1"/>
          <p:nvPr/>
        </p:nvSpPr>
        <p:spPr>
          <a:xfrm>
            <a:off x="5595725" y="21999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Z</a:t>
            </a:r>
            <a:r>
              <a:rPr baseline="-25000" lang="en">
                <a:solidFill>
                  <a:srgbClr val="FF0000"/>
                </a:solidFill>
              </a:rPr>
              <a:t>i</a:t>
            </a:r>
            <a:endParaRPr baseline="-25000">
              <a:solidFill>
                <a:srgbClr val="FF0000"/>
              </a:solidFill>
            </a:endParaRPr>
          </a:p>
        </p:txBody>
      </p:sp>
      <p:sp>
        <p:nvSpPr>
          <p:cNvPr id="534" name="Google Shape;534;p49"/>
          <p:cNvSpPr txBox="1"/>
          <p:nvPr/>
        </p:nvSpPr>
        <p:spPr>
          <a:xfrm>
            <a:off x="6275425" y="3215775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535" name="Google Shape;535;p49"/>
          <p:cNvSpPr txBox="1"/>
          <p:nvPr>
            <p:ph idx="1" type="body"/>
          </p:nvPr>
        </p:nvSpPr>
        <p:spPr>
          <a:xfrm>
            <a:off x="311700" y="3960000"/>
            <a:ext cx="8382600" cy="9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highlight>
                  <a:srgbClr val="FFFFFF"/>
                </a:highlight>
              </a:rPr>
              <a:t>Now</a:t>
            </a:r>
            <a:r>
              <a:rPr lang="en" sz="1600">
                <a:highlight>
                  <a:srgbClr val="FFFFFF"/>
                </a:highlight>
              </a:rPr>
              <a:t> </a:t>
            </a:r>
            <a:r>
              <a:rPr i="1" lang="en" sz="1600">
                <a:solidFill>
                  <a:schemeClr val="dk1"/>
                </a:solidFill>
                <a:highlight>
                  <a:srgbClr val="FFFFFF"/>
                </a:highlight>
              </a:rPr>
              <a:t>Ө</a:t>
            </a:r>
            <a:r>
              <a:rPr baseline="-25000" i="1" lang="en" sz="16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r>
              <a:rPr i="1" lang="en" sz="160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en" sz="1600">
                <a:highlight>
                  <a:schemeClr val="lt1"/>
                </a:highlight>
              </a:rPr>
              <a:t>is negative. </a:t>
            </a:r>
            <a:r>
              <a:rPr lang="en" sz="1600">
                <a:solidFill>
                  <a:schemeClr val="dk1"/>
                </a:solidFill>
                <a:highlight>
                  <a:schemeClr val="lt1"/>
                </a:highlight>
              </a:rPr>
              <a:t>Why???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FF9900"/>
              </a:solidFill>
              <a:highlight>
                <a:srgbClr val="FFFFFF"/>
              </a:highlight>
            </a:endParaRPr>
          </a:p>
        </p:txBody>
      </p:sp>
      <p:cxnSp>
        <p:nvCxnSpPr>
          <p:cNvPr id="536" name="Google Shape;536;p49"/>
          <p:cNvCxnSpPr/>
          <p:nvPr/>
        </p:nvCxnSpPr>
        <p:spPr>
          <a:xfrm flipH="1" rot="10800000">
            <a:off x="5975350" y="3149275"/>
            <a:ext cx="803700" cy="72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37" name="Google Shape;537;p49"/>
          <p:cNvSpPr txBox="1"/>
          <p:nvPr/>
        </p:nvSpPr>
        <p:spPr>
          <a:xfrm>
            <a:off x="6655950" y="3032150"/>
            <a:ext cx="42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9900"/>
                </a:solidFill>
              </a:rPr>
              <a:t>x</a:t>
            </a:r>
            <a:r>
              <a:rPr baseline="-25000" lang="en">
                <a:solidFill>
                  <a:srgbClr val="FF9900"/>
                </a:solidFill>
              </a:rPr>
              <a:t>i-1</a:t>
            </a:r>
            <a:endParaRPr baseline="-25000">
              <a:solidFill>
                <a:srgbClr val="FF9900"/>
              </a:solidFill>
            </a:endParaRPr>
          </a:p>
        </p:txBody>
      </p:sp>
      <p:sp>
        <p:nvSpPr>
          <p:cNvPr id="538" name="Google Shape;538;p49"/>
          <p:cNvSpPr/>
          <p:nvPr/>
        </p:nvSpPr>
        <p:spPr>
          <a:xfrm rot="3635474">
            <a:off x="6358997" y="3186129"/>
            <a:ext cx="148054" cy="108599"/>
          </a:xfrm>
          <a:custGeom>
            <a:rect b="b" l="l" r="r" t="t"/>
            <a:pathLst>
              <a:path extrusionOk="0" h="6137" w="2338">
                <a:moveTo>
                  <a:pt x="2338" y="6137"/>
                </a:moveTo>
                <a:cubicBezTo>
                  <a:pt x="2338" y="3948"/>
                  <a:pt x="1548" y="1548"/>
                  <a:pt x="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9" name="Google Shape;539;p49"/>
          <p:cNvSpPr txBox="1"/>
          <p:nvPr/>
        </p:nvSpPr>
        <p:spPr>
          <a:xfrm>
            <a:off x="6422050" y="3071063"/>
            <a:ext cx="4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chemeClr val="dk1"/>
                </a:solidFill>
                <a:highlight>
                  <a:srgbClr val="FFFFFF"/>
                </a:highlight>
              </a:rPr>
              <a:t>Ө</a:t>
            </a:r>
            <a:r>
              <a:rPr baseline="-25000" i="1" lang="en" sz="1000">
                <a:solidFill>
                  <a:schemeClr val="dk1"/>
                </a:solidFill>
                <a:highlight>
                  <a:srgbClr val="FFFFFF"/>
                </a:highlight>
              </a:rPr>
              <a:t>i</a:t>
            </a:r>
            <a:endParaRPr sz="1000"/>
          </a:p>
        </p:txBody>
      </p:sp>
      <p:sp>
        <p:nvSpPr>
          <p:cNvPr id="540" name="Google Shape;540;p49"/>
          <p:cNvSpPr/>
          <p:nvPr/>
        </p:nvSpPr>
        <p:spPr>
          <a:xfrm>
            <a:off x="1533477" y="2699300"/>
            <a:ext cx="484669" cy="261754"/>
          </a:xfrm>
          <a:custGeom>
            <a:rect b="b" l="l" r="r" t="t"/>
            <a:pathLst>
              <a:path extrusionOk="0" h="10082" w="13165">
                <a:moveTo>
                  <a:pt x="2408" y="10083"/>
                </a:moveTo>
                <a:cubicBezTo>
                  <a:pt x="804" y="8479"/>
                  <a:pt x="-775" y="5497"/>
                  <a:pt x="427" y="3574"/>
                </a:cubicBezTo>
                <a:cubicBezTo>
                  <a:pt x="2230" y="690"/>
                  <a:pt x="6694" y="-381"/>
                  <a:pt x="10049" y="178"/>
                </a:cubicBezTo>
                <a:cubicBezTo>
                  <a:pt x="13235" y="709"/>
                  <a:pt x="14410" y="9800"/>
                  <a:pt x="11181" y="980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0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Example-1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DH Table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1" name="Google Shape;551;p51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552" name="Google Shape;552;p51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553" name="Google Shape;553;p51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554" name="Google Shape;554;p51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555" name="Google Shape;555;p51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556" name="Google Shape;556;p51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557" name="Google Shape;557;p51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558" name="Google Shape;558;p51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559" name="Google Shape;559;p51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560" name="Google Shape;560;p51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561" name="Google Shape;561;p51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562" name="Google Shape;562;p51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563" name="Google Shape;563;p51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564" name="Google Shape;564;p51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565" name="Google Shape;565;p51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566" name="Google Shape;566;p51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567" name="Google Shape;567;p51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8" name="Google Shape;568;p51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69" name="Google Shape;569;p51"/>
          <p:cNvSpPr txBox="1"/>
          <p:nvPr/>
        </p:nvSpPr>
        <p:spPr>
          <a:xfrm>
            <a:off x="7112800" y="9128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570" name="Google Shape;570;p51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571" name="Google Shape;571;p51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72" name="Google Shape;572;p51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573" name="Google Shape;573;p51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cxnSp>
        <p:nvCxnSpPr>
          <p:cNvPr id="574" name="Google Shape;574;p51"/>
          <p:cNvCxnSpPr/>
          <p:nvPr/>
        </p:nvCxnSpPr>
        <p:spPr>
          <a:xfrm flipH="1" rot="10800000">
            <a:off x="8228569" y="1392285"/>
            <a:ext cx="874800" cy="61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75" name="Google Shape;575;p51"/>
          <p:cNvSpPr txBox="1"/>
          <p:nvPr/>
        </p:nvSpPr>
        <p:spPr>
          <a:xfrm>
            <a:off x="7709835" y="1335639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576" name="Google Shape;576;p51"/>
          <p:cNvSpPr txBox="1"/>
          <p:nvPr/>
        </p:nvSpPr>
        <p:spPr>
          <a:xfrm>
            <a:off x="8687585" y="17853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577" name="Google Shape;577;p51"/>
          <p:cNvSpPr txBox="1"/>
          <p:nvPr/>
        </p:nvSpPr>
        <p:spPr>
          <a:xfrm>
            <a:off x="8687585" y="1017714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3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578" name="Google Shape;578;p51"/>
          <p:cNvCxnSpPr>
            <a:stCxn id="558" idx="1"/>
          </p:cNvCxnSpPr>
          <p:nvPr/>
        </p:nvCxnSpPr>
        <p:spPr>
          <a:xfrm flipH="1">
            <a:off x="4500577" y="3560493"/>
            <a:ext cx="936300" cy="1393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9" name="Google Shape;579;p51"/>
          <p:cNvSpPr/>
          <p:nvPr/>
        </p:nvSpPr>
        <p:spPr>
          <a:xfrm>
            <a:off x="5283674" y="3469831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580" name="Google Shape;580;p51"/>
          <p:cNvSpPr txBox="1"/>
          <p:nvPr/>
        </p:nvSpPr>
        <p:spPr>
          <a:xfrm>
            <a:off x="4563635" y="457957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0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581" name="Google Shape;581;p51"/>
          <p:cNvCxnSpPr>
            <a:stCxn id="558" idx="3"/>
            <a:endCxn id="561" idx="3"/>
          </p:cNvCxnSpPr>
          <p:nvPr/>
        </p:nvCxnSpPr>
        <p:spPr>
          <a:xfrm flipH="1">
            <a:off x="6372951" y="2632221"/>
            <a:ext cx="315300" cy="8148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2" name="Google Shape;582;p51"/>
          <p:cNvSpPr/>
          <p:nvPr/>
        </p:nvSpPr>
        <p:spPr>
          <a:xfrm>
            <a:off x="6567268" y="2480644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583" name="Google Shape;583;p51"/>
          <p:cNvSpPr txBox="1"/>
          <p:nvPr/>
        </p:nvSpPr>
        <p:spPr>
          <a:xfrm>
            <a:off x="6326210" y="3110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584" name="Google Shape;584;p51"/>
          <p:cNvCxnSpPr/>
          <p:nvPr/>
        </p:nvCxnSpPr>
        <p:spPr>
          <a:xfrm flipH="1">
            <a:off x="8029351" y="2103221"/>
            <a:ext cx="119100" cy="841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5" name="Google Shape;585;p51"/>
          <p:cNvSpPr/>
          <p:nvPr/>
        </p:nvSpPr>
        <p:spPr>
          <a:xfrm>
            <a:off x="8000260" y="1943702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586" name="Google Shape;586;p51"/>
          <p:cNvSpPr txBox="1"/>
          <p:nvPr/>
        </p:nvSpPr>
        <p:spPr>
          <a:xfrm>
            <a:off x="8055410" y="23770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587" name="Google Shape;587;p51"/>
          <p:cNvSpPr txBox="1"/>
          <p:nvPr/>
        </p:nvSpPr>
        <p:spPr>
          <a:xfrm>
            <a:off x="326454" y="1124690"/>
            <a:ext cx="41907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1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Identify Joints and Links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 a coordinate frame to each link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each joint, calculate the four D-H parameters: 𝛼 , a​ , d and θ (joint type mentioned in the question).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Construct DH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DH Table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3" name="Google Shape;593;p52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594" name="Google Shape;594;p52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595" name="Google Shape;595;p52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596" name="Google Shape;596;p52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597" name="Google Shape;597;p52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598" name="Google Shape;598;p52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599" name="Google Shape;599;p52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600" name="Google Shape;600;p52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601" name="Google Shape;601;p52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602" name="Google Shape;602;p52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603" name="Google Shape;603;p52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04" name="Google Shape;604;p52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05" name="Google Shape;605;p52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06" name="Google Shape;606;p52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607" name="Google Shape;607;p52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608" name="Google Shape;608;p52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609" name="Google Shape;609;p52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10" name="Google Shape;610;p52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1" name="Google Shape;611;p52"/>
          <p:cNvSpPr txBox="1"/>
          <p:nvPr/>
        </p:nvSpPr>
        <p:spPr>
          <a:xfrm>
            <a:off x="7112800" y="9128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12" name="Google Shape;612;p52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3" name="Google Shape;613;p52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14" name="Google Shape;614;p52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15" name="Google Shape;615;p52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graphicFrame>
        <p:nvGraphicFramePr>
          <p:cNvPr id="616" name="Google Shape;616;p52"/>
          <p:cNvGraphicFramePr/>
          <p:nvPr/>
        </p:nvGraphicFramePr>
        <p:xfrm>
          <a:off x="221900" y="16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{7D62ED4B-F04F-4C8B-BD2F-394C4B8A7CF9}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𝝰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17" name="Google Shape;617;p52"/>
          <p:cNvCxnSpPr/>
          <p:nvPr/>
        </p:nvCxnSpPr>
        <p:spPr>
          <a:xfrm flipH="1" rot="10800000">
            <a:off x="8228569" y="1392285"/>
            <a:ext cx="874800" cy="61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18" name="Google Shape;618;p52"/>
          <p:cNvSpPr txBox="1"/>
          <p:nvPr/>
        </p:nvSpPr>
        <p:spPr>
          <a:xfrm>
            <a:off x="7681110" y="1354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619" name="Google Shape;619;p52"/>
          <p:cNvSpPr txBox="1"/>
          <p:nvPr/>
        </p:nvSpPr>
        <p:spPr>
          <a:xfrm>
            <a:off x="8687585" y="17853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620" name="Google Shape;620;p52"/>
          <p:cNvSpPr txBox="1"/>
          <p:nvPr/>
        </p:nvSpPr>
        <p:spPr>
          <a:xfrm>
            <a:off x="8687585" y="1017714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3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621" name="Google Shape;621;p52"/>
          <p:cNvCxnSpPr>
            <a:stCxn id="600" idx="1"/>
          </p:cNvCxnSpPr>
          <p:nvPr/>
        </p:nvCxnSpPr>
        <p:spPr>
          <a:xfrm flipH="1">
            <a:off x="4500577" y="3560493"/>
            <a:ext cx="936300" cy="1393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2" name="Google Shape;622;p52"/>
          <p:cNvSpPr/>
          <p:nvPr/>
        </p:nvSpPr>
        <p:spPr>
          <a:xfrm>
            <a:off x="5283674" y="3469831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23" name="Google Shape;623;p52"/>
          <p:cNvSpPr txBox="1"/>
          <p:nvPr/>
        </p:nvSpPr>
        <p:spPr>
          <a:xfrm>
            <a:off x="4563635" y="457957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0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624" name="Google Shape;624;p52"/>
          <p:cNvCxnSpPr>
            <a:stCxn id="600" idx="3"/>
            <a:endCxn id="603" idx="3"/>
          </p:cNvCxnSpPr>
          <p:nvPr/>
        </p:nvCxnSpPr>
        <p:spPr>
          <a:xfrm flipH="1">
            <a:off x="6372951" y="2632221"/>
            <a:ext cx="315300" cy="8148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5" name="Google Shape;625;p52"/>
          <p:cNvSpPr/>
          <p:nvPr/>
        </p:nvSpPr>
        <p:spPr>
          <a:xfrm>
            <a:off x="6567268" y="2480644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26" name="Google Shape;626;p52"/>
          <p:cNvSpPr txBox="1"/>
          <p:nvPr/>
        </p:nvSpPr>
        <p:spPr>
          <a:xfrm>
            <a:off x="6326210" y="3110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627" name="Google Shape;627;p52"/>
          <p:cNvCxnSpPr/>
          <p:nvPr/>
        </p:nvCxnSpPr>
        <p:spPr>
          <a:xfrm flipH="1">
            <a:off x="8029351" y="2103221"/>
            <a:ext cx="119100" cy="841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8" name="Google Shape;628;p52"/>
          <p:cNvSpPr/>
          <p:nvPr/>
        </p:nvSpPr>
        <p:spPr>
          <a:xfrm>
            <a:off x="8000260" y="1943702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29" name="Google Shape;629;p52"/>
          <p:cNvSpPr txBox="1"/>
          <p:nvPr/>
        </p:nvSpPr>
        <p:spPr>
          <a:xfrm>
            <a:off x="8055410" y="23770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DH Table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5" name="Google Shape;635;p53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636" name="Google Shape;636;p53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637" name="Google Shape;637;p53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638" name="Google Shape;638;p53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639" name="Google Shape;639;p53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640" name="Google Shape;640;p53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641" name="Google Shape;641;p53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642" name="Google Shape;642;p53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643" name="Google Shape;643;p53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644" name="Google Shape;644;p53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645" name="Google Shape;645;p53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46" name="Google Shape;646;p53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47" name="Google Shape;647;p53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48" name="Google Shape;648;p53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649" name="Google Shape;649;p53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650" name="Google Shape;650;p53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651" name="Google Shape;651;p53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2" name="Google Shape;652;p53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53" name="Google Shape;653;p53"/>
          <p:cNvSpPr txBox="1"/>
          <p:nvPr/>
        </p:nvSpPr>
        <p:spPr>
          <a:xfrm>
            <a:off x="7112800" y="9128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54" name="Google Shape;654;p53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55" name="Google Shape;655;p53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56" name="Google Shape;656;p53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57" name="Google Shape;657;p53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graphicFrame>
        <p:nvGraphicFramePr>
          <p:cNvPr id="658" name="Google Shape;658;p53"/>
          <p:cNvGraphicFramePr/>
          <p:nvPr/>
        </p:nvGraphicFramePr>
        <p:xfrm>
          <a:off x="221900" y="16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{7D62ED4B-F04F-4C8B-BD2F-394C4B8A7CF9}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𝝰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659" name="Google Shape;659;p53"/>
          <p:cNvCxnSpPr/>
          <p:nvPr/>
        </p:nvCxnSpPr>
        <p:spPr>
          <a:xfrm flipH="1" rot="10800000">
            <a:off x="8228569" y="1392285"/>
            <a:ext cx="874800" cy="61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60" name="Google Shape;660;p53"/>
          <p:cNvSpPr txBox="1"/>
          <p:nvPr/>
        </p:nvSpPr>
        <p:spPr>
          <a:xfrm>
            <a:off x="7681110" y="1354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661" name="Google Shape;661;p53"/>
          <p:cNvSpPr txBox="1"/>
          <p:nvPr/>
        </p:nvSpPr>
        <p:spPr>
          <a:xfrm>
            <a:off x="8687585" y="17853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662" name="Google Shape;662;p53"/>
          <p:cNvSpPr txBox="1"/>
          <p:nvPr/>
        </p:nvSpPr>
        <p:spPr>
          <a:xfrm>
            <a:off x="8687585" y="1017714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3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663" name="Google Shape;663;p53"/>
          <p:cNvCxnSpPr>
            <a:stCxn id="642" idx="1"/>
          </p:cNvCxnSpPr>
          <p:nvPr/>
        </p:nvCxnSpPr>
        <p:spPr>
          <a:xfrm flipH="1">
            <a:off x="4500577" y="3560493"/>
            <a:ext cx="936300" cy="1393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4" name="Google Shape;664;p53"/>
          <p:cNvSpPr/>
          <p:nvPr/>
        </p:nvSpPr>
        <p:spPr>
          <a:xfrm>
            <a:off x="5283674" y="3469831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65" name="Google Shape;665;p53"/>
          <p:cNvSpPr txBox="1"/>
          <p:nvPr/>
        </p:nvSpPr>
        <p:spPr>
          <a:xfrm>
            <a:off x="4563635" y="457957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0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666" name="Google Shape;666;p53"/>
          <p:cNvCxnSpPr>
            <a:stCxn id="642" idx="3"/>
            <a:endCxn id="645" idx="3"/>
          </p:cNvCxnSpPr>
          <p:nvPr/>
        </p:nvCxnSpPr>
        <p:spPr>
          <a:xfrm flipH="1">
            <a:off x="6372951" y="2632221"/>
            <a:ext cx="315300" cy="8148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67" name="Google Shape;667;p53"/>
          <p:cNvSpPr/>
          <p:nvPr/>
        </p:nvSpPr>
        <p:spPr>
          <a:xfrm>
            <a:off x="6567268" y="2480644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68" name="Google Shape;668;p53"/>
          <p:cNvSpPr txBox="1"/>
          <p:nvPr/>
        </p:nvSpPr>
        <p:spPr>
          <a:xfrm>
            <a:off x="6326210" y="3110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669" name="Google Shape;669;p53"/>
          <p:cNvCxnSpPr/>
          <p:nvPr/>
        </p:nvCxnSpPr>
        <p:spPr>
          <a:xfrm flipH="1">
            <a:off x="8029351" y="2103221"/>
            <a:ext cx="119100" cy="841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70" name="Google Shape;670;p53"/>
          <p:cNvSpPr/>
          <p:nvPr/>
        </p:nvSpPr>
        <p:spPr>
          <a:xfrm>
            <a:off x="8000260" y="1943702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71" name="Google Shape;671;p53"/>
          <p:cNvSpPr txBox="1"/>
          <p:nvPr/>
        </p:nvSpPr>
        <p:spPr>
          <a:xfrm>
            <a:off x="8055410" y="23770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DH Table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7" name="Google Shape;677;p54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678" name="Google Shape;678;p54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679" name="Google Shape;679;p54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680" name="Google Shape;680;p54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681" name="Google Shape;681;p54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682" name="Google Shape;682;p54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683" name="Google Shape;683;p54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684" name="Google Shape;684;p54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685" name="Google Shape;685;p54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686" name="Google Shape;686;p54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687" name="Google Shape;687;p54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88" name="Google Shape;688;p54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89" name="Google Shape;689;p54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690" name="Google Shape;690;p54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691" name="Google Shape;691;p54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692" name="Google Shape;692;p54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693" name="Google Shape;693;p54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94" name="Google Shape;694;p54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95" name="Google Shape;695;p54"/>
          <p:cNvSpPr txBox="1"/>
          <p:nvPr/>
        </p:nvSpPr>
        <p:spPr>
          <a:xfrm>
            <a:off x="7112800" y="9128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696" name="Google Shape;696;p54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97" name="Google Shape;697;p54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98" name="Google Shape;698;p54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699" name="Google Shape;699;p54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graphicFrame>
        <p:nvGraphicFramePr>
          <p:cNvPr id="700" name="Google Shape;700;p54"/>
          <p:cNvGraphicFramePr/>
          <p:nvPr/>
        </p:nvGraphicFramePr>
        <p:xfrm>
          <a:off x="221900" y="16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{7D62ED4B-F04F-4C8B-BD2F-394C4B8A7CF9}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𝝰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</a:t>
                      </a: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01" name="Google Shape;701;p54"/>
          <p:cNvCxnSpPr/>
          <p:nvPr/>
        </p:nvCxnSpPr>
        <p:spPr>
          <a:xfrm flipH="1" rot="10800000">
            <a:off x="8228569" y="1392285"/>
            <a:ext cx="874800" cy="61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02" name="Google Shape;702;p54"/>
          <p:cNvSpPr txBox="1"/>
          <p:nvPr/>
        </p:nvSpPr>
        <p:spPr>
          <a:xfrm>
            <a:off x="7528860" y="13356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703" name="Google Shape;703;p54"/>
          <p:cNvSpPr txBox="1"/>
          <p:nvPr/>
        </p:nvSpPr>
        <p:spPr>
          <a:xfrm>
            <a:off x="8687585" y="17853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704" name="Google Shape;704;p54"/>
          <p:cNvSpPr txBox="1"/>
          <p:nvPr/>
        </p:nvSpPr>
        <p:spPr>
          <a:xfrm>
            <a:off x="8687585" y="1017714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3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05" name="Google Shape;705;p54"/>
          <p:cNvCxnSpPr>
            <a:stCxn id="684" idx="1"/>
          </p:cNvCxnSpPr>
          <p:nvPr/>
        </p:nvCxnSpPr>
        <p:spPr>
          <a:xfrm flipH="1">
            <a:off x="4500577" y="3560493"/>
            <a:ext cx="936300" cy="1393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6" name="Google Shape;706;p54"/>
          <p:cNvSpPr/>
          <p:nvPr/>
        </p:nvSpPr>
        <p:spPr>
          <a:xfrm>
            <a:off x="5283674" y="3469831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07" name="Google Shape;707;p54"/>
          <p:cNvSpPr txBox="1"/>
          <p:nvPr/>
        </p:nvSpPr>
        <p:spPr>
          <a:xfrm>
            <a:off x="4563635" y="457957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0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08" name="Google Shape;708;p54"/>
          <p:cNvCxnSpPr>
            <a:stCxn id="684" idx="3"/>
            <a:endCxn id="687" idx="3"/>
          </p:cNvCxnSpPr>
          <p:nvPr/>
        </p:nvCxnSpPr>
        <p:spPr>
          <a:xfrm flipH="1">
            <a:off x="6372951" y="2632221"/>
            <a:ext cx="315300" cy="8148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09" name="Google Shape;709;p54"/>
          <p:cNvSpPr/>
          <p:nvPr/>
        </p:nvSpPr>
        <p:spPr>
          <a:xfrm>
            <a:off x="6567268" y="2480644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10" name="Google Shape;710;p54"/>
          <p:cNvSpPr txBox="1"/>
          <p:nvPr/>
        </p:nvSpPr>
        <p:spPr>
          <a:xfrm>
            <a:off x="6326210" y="3110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11" name="Google Shape;711;p54"/>
          <p:cNvCxnSpPr/>
          <p:nvPr/>
        </p:nvCxnSpPr>
        <p:spPr>
          <a:xfrm flipH="1">
            <a:off x="8029351" y="2103221"/>
            <a:ext cx="119100" cy="841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12" name="Google Shape;712;p54"/>
          <p:cNvSpPr/>
          <p:nvPr/>
        </p:nvSpPr>
        <p:spPr>
          <a:xfrm>
            <a:off x="8000260" y="1943702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13" name="Google Shape;713;p54"/>
          <p:cNvSpPr txBox="1"/>
          <p:nvPr/>
        </p:nvSpPr>
        <p:spPr>
          <a:xfrm>
            <a:off x="8055410" y="23770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DH Table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55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720" name="Google Shape;720;p55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721" name="Google Shape;721;p55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722" name="Google Shape;722;p55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723" name="Google Shape;723;p55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724" name="Google Shape;724;p55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725" name="Google Shape;725;p55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26" name="Google Shape;726;p55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727" name="Google Shape;727;p55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728" name="Google Shape;728;p55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729" name="Google Shape;729;p55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730" name="Google Shape;730;p55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731" name="Google Shape;731;p55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732" name="Google Shape;732;p55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733" name="Google Shape;733;p55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734" name="Google Shape;734;p55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735" name="Google Shape;735;p55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36" name="Google Shape;736;p55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37" name="Google Shape;737;p55"/>
          <p:cNvSpPr txBox="1"/>
          <p:nvPr/>
        </p:nvSpPr>
        <p:spPr>
          <a:xfrm>
            <a:off x="7112800" y="9128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738" name="Google Shape;738;p55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39" name="Google Shape;739;p55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40" name="Google Shape;740;p55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41" name="Google Shape;741;p55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graphicFrame>
        <p:nvGraphicFramePr>
          <p:cNvPr id="742" name="Google Shape;742;p55"/>
          <p:cNvGraphicFramePr/>
          <p:nvPr/>
        </p:nvGraphicFramePr>
        <p:xfrm>
          <a:off x="221900" y="16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{7D62ED4B-F04F-4C8B-BD2F-394C4B8A7CF9}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𝝰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</a:t>
                      </a: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43" name="Google Shape;743;p55"/>
          <p:cNvCxnSpPr/>
          <p:nvPr/>
        </p:nvCxnSpPr>
        <p:spPr>
          <a:xfrm flipH="1" rot="10800000">
            <a:off x="8228569" y="1392285"/>
            <a:ext cx="874800" cy="61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44" name="Google Shape;744;p55"/>
          <p:cNvSpPr txBox="1"/>
          <p:nvPr/>
        </p:nvSpPr>
        <p:spPr>
          <a:xfrm>
            <a:off x="7528860" y="13356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745" name="Google Shape;745;p55"/>
          <p:cNvSpPr txBox="1"/>
          <p:nvPr/>
        </p:nvSpPr>
        <p:spPr>
          <a:xfrm>
            <a:off x="8687585" y="17853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746" name="Google Shape;746;p55"/>
          <p:cNvSpPr txBox="1"/>
          <p:nvPr/>
        </p:nvSpPr>
        <p:spPr>
          <a:xfrm>
            <a:off x="8687585" y="1017714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3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47" name="Google Shape;747;p55"/>
          <p:cNvCxnSpPr>
            <a:stCxn id="726" idx="1"/>
          </p:cNvCxnSpPr>
          <p:nvPr/>
        </p:nvCxnSpPr>
        <p:spPr>
          <a:xfrm flipH="1">
            <a:off x="4500577" y="3560493"/>
            <a:ext cx="936300" cy="1393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8" name="Google Shape;748;p55"/>
          <p:cNvSpPr/>
          <p:nvPr/>
        </p:nvSpPr>
        <p:spPr>
          <a:xfrm>
            <a:off x="5283674" y="3469831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49" name="Google Shape;749;p55"/>
          <p:cNvSpPr txBox="1"/>
          <p:nvPr/>
        </p:nvSpPr>
        <p:spPr>
          <a:xfrm>
            <a:off x="4563635" y="457957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0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50" name="Google Shape;750;p55"/>
          <p:cNvCxnSpPr>
            <a:stCxn id="726" idx="3"/>
            <a:endCxn id="729" idx="3"/>
          </p:cNvCxnSpPr>
          <p:nvPr/>
        </p:nvCxnSpPr>
        <p:spPr>
          <a:xfrm flipH="1">
            <a:off x="6372951" y="2632221"/>
            <a:ext cx="315300" cy="8148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1" name="Google Shape;751;p55"/>
          <p:cNvSpPr/>
          <p:nvPr/>
        </p:nvSpPr>
        <p:spPr>
          <a:xfrm>
            <a:off x="6567268" y="2480644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52" name="Google Shape;752;p55"/>
          <p:cNvSpPr txBox="1"/>
          <p:nvPr/>
        </p:nvSpPr>
        <p:spPr>
          <a:xfrm>
            <a:off x="6326210" y="3110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53" name="Google Shape;753;p55"/>
          <p:cNvCxnSpPr/>
          <p:nvPr/>
        </p:nvCxnSpPr>
        <p:spPr>
          <a:xfrm flipH="1">
            <a:off x="8029351" y="2103221"/>
            <a:ext cx="119100" cy="841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54" name="Google Shape;754;p55"/>
          <p:cNvSpPr/>
          <p:nvPr/>
        </p:nvSpPr>
        <p:spPr>
          <a:xfrm>
            <a:off x="8000260" y="1943702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55" name="Google Shape;755;p55"/>
          <p:cNvSpPr txBox="1"/>
          <p:nvPr/>
        </p:nvSpPr>
        <p:spPr>
          <a:xfrm>
            <a:off x="8055410" y="23770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4200"/>
              </a:spcBef>
              <a:spcAft>
                <a:spcPts val="0"/>
              </a:spcAft>
              <a:buNone/>
            </a:pPr>
            <a:r>
              <a:rPr lang="en" sz="2650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DH Table</a:t>
            </a:r>
            <a:endParaRPr sz="265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1" name="Google Shape;761;p56"/>
          <p:cNvGrpSpPr/>
          <p:nvPr/>
        </p:nvGrpSpPr>
        <p:grpSpPr>
          <a:xfrm>
            <a:off x="4926458" y="1392274"/>
            <a:ext cx="4217595" cy="2666421"/>
            <a:chOff x="4072400" y="1277203"/>
            <a:chExt cx="3175900" cy="2007847"/>
          </a:xfrm>
        </p:grpSpPr>
        <p:sp>
          <p:nvSpPr>
            <p:cNvPr id="762" name="Google Shape;762;p56"/>
            <p:cNvSpPr/>
            <p:nvPr/>
          </p:nvSpPr>
          <p:spPr>
            <a:xfrm rot="1516218">
              <a:off x="4548045" y="2721182"/>
              <a:ext cx="290942" cy="321136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2650">
              <a:solidFill>
                <a:srgbClr val="FF0000"/>
              </a:solidFill>
              <a:prstDash val="solid"/>
              <a:round/>
              <a:headEnd len="sm" w="sm" type="stealth"/>
              <a:tailEnd len="sm" w="sm" type="none"/>
            </a:ln>
          </p:spPr>
          <p:txBody>
            <a:bodyPr anchorCtr="0" anchor="ctr" bIns="121425" lIns="121425" spcFirstLastPara="1" rIns="121425" wrap="square" tIns="12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59"/>
            </a:p>
          </p:txBody>
        </p:sp>
        <p:grpSp>
          <p:nvGrpSpPr>
            <p:cNvPr id="763" name="Google Shape;763;p56"/>
            <p:cNvGrpSpPr/>
            <p:nvPr/>
          </p:nvGrpSpPr>
          <p:grpSpPr>
            <a:xfrm>
              <a:off x="4072400" y="1375220"/>
              <a:ext cx="2965128" cy="1909830"/>
              <a:chOff x="1962575" y="2035820"/>
              <a:chExt cx="2965128" cy="1909830"/>
            </a:xfrm>
          </p:grpSpPr>
          <p:sp>
            <p:nvSpPr>
              <p:cNvPr id="764" name="Google Shape;764;p56"/>
              <p:cNvSpPr/>
              <p:nvPr/>
            </p:nvSpPr>
            <p:spPr>
              <a:xfrm rot="-2192774">
                <a:off x="4316357" y="2219720"/>
                <a:ext cx="647890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765" name="Google Shape;765;p56"/>
              <p:cNvSpPr/>
              <p:nvPr/>
            </p:nvSpPr>
            <p:spPr>
              <a:xfrm rot="-1183704">
                <a:off x="3268002" y="2624944"/>
                <a:ext cx="1147345" cy="90912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1604664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cxnSp>
            <p:nvCxnSpPr>
              <p:cNvPr id="766" name="Google Shape;766;p56"/>
              <p:cNvCxnSpPr/>
              <p:nvPr/>
            </p:nvCxnSpPr>
            <p:spPr>
              <a:xfrm>
                <a:off x="2319775" y="2223650"/>
                <a:ext cx="0" cy="162360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stealth"/>
                <a:tailEnd len="med" w="med" type="none"/>
              </a:ln>
            </p:spPr>
          </p:cxnSp>
          <p:cxnSp>
            <p:nvCxnSpPr>
              <p:cNvPr id="767" name="Google Shape;767;p56"/>
              <p:cNvCxnSpPr/>
              <p:nvPr/>
            </p:nvCxnSpPr>
            <p:spPr>
              <a:xfrm>
                <a:off x="1962575" y="3606950"/>
                <a:ext cx="2597700" cy="0"/>
              </a:xfrm>
              <a:prstGeom prst="straightConnector1">
                <a:avLst/>
              </a:prstGeom>
              <a:noFill/>
              <a:ln cap="flat" cmpd="sng" w="126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sp>
            <p:nvSpPr>
              <p:cNvPr id="768" name="Google Shape;768;p56"/>
              <p:cNvSpPr/>
              <p:nvPr/>
            </p:nvSpPr>
            <p:spPr>
              <a:xfrm rot="-2194086">
                <a:off x="2231448" y="3175547"/>
                <a:ext cx="1173256" cy="90900"/>
              </a:xfrm>
              <a:prstGeom prst="rect">
                <a:avLst/>
              </a:prstGeom>
              <a:solidFill>
                <a:schemeClr val="lt2"/>
              </a:solidFill>
              <a:ln cap="flat" cmpd="sng" w="12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21425" lIns="121425" spcFirstLastPara="1" rIns="121425" wrap="square" tIns="12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59"/>
              </a:p>
            </p:txBody>
          </p:sp>
          <p:sp>
            <p:nvSpPr>
              <p:cNvPr id="769" name="Google Shape;769;p56"/>
              <p:cNvSpPr txBox="1"/>
              <p:nvPr/>
            </p:nvSpPr>
            <p:spPr>
              <a:xfrm>
                <a:off x="4352900" y="3606950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X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  <p:sp>
            <p:nvSpPr>
              <p:cNvPr id="770" name="Google Shape;770;p56"/>
              <p:cNvSpPr txBox="1"/>
              <p:nvPr/>
            </p:nvSpPr>
            <p:spPr>
              <a:xfrm>
                <a:off x="2006575" y="2142988"/>
                <a:ext cx="3132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21425" lIns="121425" spcFirstLastPara="1" rIns="121425" wrap="square" tIns="12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28">
                    <a:solidFill>
                      <a:schemeClr val="dk2"/>
                    </a:solidFill>
                  </a:rPr>
                  <a:t>Y</a:t>
                </a:r>
                <a:r>
                  <a:rPr baseline="-25000" lang="en" sz="1328">
                    <a:solidFill>
                      <a:schemeClr val="dk2"/>
                    </a:solidFill>
                  </a:rPr>
                  <a:t>0</a:t>
                </a:r>
                <a:endParaRPr baseline="-25000" sz="1328">
                  <a:solidFill>
                    <a:schemeClr val="dk2"/>
                  </a:solidFill>
                </a:endParaRPr>
              </a:p>
            </p:txBody>
          </p:sp>
        </p:grpSp>
        <p:sp>
          <p:nvSpPr>
            <p:cNvPr id="771" name="Google Shape;771;p56"/>
            <p:cNvSpPr txBox="1"/>
            <p:nvPr/>
          </p:nvSpPr>
          <p:spPr>
            <a:xfrm>
              <a:off x="4778329" y="2660901"/>
              <a:ext cx="3834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1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772" name="Google Shape;772;p56"/>
            <p:cNvSpPr txBox="1"/>
            <p:nvPr/>
          </p:nvSpPr>
          <p:spPr>
            <a:xfrm>
              <a:off x="6024479" y="1600797"/>
              <a:ext cx="3507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2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773" name="Google Shape;773;p56"/>
            <p:cNvSpPr txBox="1"/>
            <p:nvPr/>
          </p:nvSpPr>
          <p:spPr>
            <a:xfrm>
              <a:off x="6958200" y="1319504"/>
              <a:ext cx="290100" cy="3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26">
                  <a:solidFill>
                    <a:srgbClr val="4472C4"/>
                  </a:solidFill>
                </a:rPr>
                <a:t>θ</a:t>
              </a:r>
              <a:r>
                <a:rPr baseline="-25000" lang="en" sz="1226">
                  <a:solidFill>
                    <a:srgbClr val="4472C4"/>
                  </a:solidFill>
                </a:rPr>
                <a:t>3</a:t>
              </a:r>
              <a:endParaRPr baseline="-25000" sz="1226">
                <a:solidFill>
                  <a:srgbClr val="4472C4"/>
                </a:solidFill>
              </a:endParaRPr>
            </a:p>
          </p:txBody>
        </p:sp>
        <p:sp>
          <p:nvSpPr>
            <p:cNvPr id="774" name="Google Shape;774;p56"/>
            <p:cNvSpPr txBox="1"/>
            <p:nvPr/>
          </p:nvSpPr>
          <p:spPr>
            <a:xfrm>
              <a:off x="4572000" y="22323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1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775" name="Google Shape;775;p56"/>
            <p:cNvSpPr txBox="1"/>
            <p:nvPr/>
          </p:nvSpPr>
          <p:spPr>
            <a:xfrm>
              <a:off x="6491450" y="1277203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3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  <p:sp>
          <p:nvSpPr>
            <p:cNvPr id="776" name="Google Shape;776;p56"/>
            <p:cNvSpPr txBox="1"/>
            <p:nvPr/>
          </p:nvSpPr>
          <p:spPr>
            <a:xfrm>
              <a:off x="5865362" y="1937900"/>
              <a:ext cx="383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425" lIns="121425" spcFirstLastPara="1" rIns="121425" wrap="square" tIns="12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94">
                  <a:solidFill>
                    <a:srgbClr val="4472C4"/>
                  </a:solidFill>
                </a:rPr>
                <a:t>L</a:t>
              </a:r>
              <a:r>
                <a:rPr baseline="-25000" lang="en" sz="1594">
                  <a:solidFill>
                    <a:srgbClr val="4472C4"/>
                  </a:solidFill>
                </a:rPr>
                <a:t>2</a:t>
              </a:r>
              <a:endParaRPr baseline="-25000" sz="1594">
                <a:solidFill>
                  <a:srgbClr val="4472C4"/>
                </a:solidFill>
              </a:endParaRPr>
            </a:p>
          </p:txBody>
        </p:sp>
      </p:grpSp>
      <p:sp>
        <p:nvSpPr>
          <p:cNvPr id="777" name="Google Shape;777;p56"/>
          <p:cNvSpPr txBox="1"/>
          <p:nvPr/>
        </p:nvSpPr>
        <p:spPr>
          <a:xfrm>
            <a:off x="5960760" y="4058700"/>
            <a:ext cx="1983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3R Planar Robot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8" name="Google Shape;778;p56"/>
          <p:cNvSpPr txBox="1"/>
          <p:nvPr/>
        </p:nvSpPr>
        <p:spPr>
          <a:xfrm>
            <a:off x="487275" y="1000800"/>
            <a:ext cx="414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779" name="Google Shape;779;p56"/>
          <p:cNvSpPr txBox="1"/>
          <p:nvPr/>
        </p:nvSpPr>
        <p:spPr>
          <a:xfrm>
            <a:off x="7112800" y="912825"/>
            <a:ext cx="94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 (x,y)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780" name="Google Shape;780;p56"/>
          <p:cNvCxnSpPr/>
          <p:nvPr/>
        </p:nvCxnSpPr>
        <p:spPr>
          <a:xfrm flipH="1" rot="10800000">
            <a:off x="5506483" y="1728089"/>
            <a:ext cx="2397600" cy="17811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81" name="Google Shape;781;p56"/>
          <p:cNvCxnSpPr/>
          <p:nvPr/>
        </p:nvCxnSpPr>
        <p:spPr>
          <a:xfrm flipH="1" rot="10800000">
            <a:off x="6856475" y="1807950"/>
            <a:ext cx="2122500" cy="7638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82" name="Google Shape;782;p56"/>
          <p:cNvSpPr/>
          <p:nvPr/>
        </p:nvSpPr>
        <p:spPr>
          <a:xfrm rot="6725779">
            <a:off x="7245978" y="2001636"/>
            <a:ext cx="378824" cy="376426"/>
          </a:xfrm>
          <a:prstGeom prst="arc">
            <a:avLst>
              <a:gd fmla="val 10796059" name="adj1"/>
              <a:gd fmla="val 15521597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stealth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83" name="Google Shape;783;p56"/>
          <p:cNvSpPr/>
          <p:nvPr/>
        </p:nvSpPr>
        <p:spPr>
          <a:xfrm rot="6725779">
            <a:off x="8502728" y="1659836"/>
            <a:ext cx="378824" cy="376426"/>
          </a:xfrm>
          <a:prstGeom prst="arc">
            <a:avLst>
              <a:gd fmla="val 11460563" name="adj1"/>
              <a:gd fmla="val 14622369" name="adj2"/>
            </a:avLst>
          </a:prstGeom>
          <a:noFill/>
          <a:ln cap="flat" cmpd="sng" w="12650">
            <a:solidFill>
              <a:srgbClr val="FF0000"/>
            </a:solidFill>
            <a:prstDash val="solid"/>
            <a:round/>
            <a:headEnd len="sm" w="sm" type="stealth"/>
            <a:tailEnd len="sm" w="sm" type="none"/>
          </a:ln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graphicFrame>
        <p:nvGraphicFramePr>
          <p:cNvPr id="784" name="Google Shape;784;p56"/>
          <p:cNvGraphicFramePr/>
          <p:nvPr/>
        </p:nvGraphicFramePr>
        <p:xfrm>
          <a:off x="221900" y="168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{7D62ED4B-F04F-4C8B-BD2F-394C4B8A7CF9}</a:tableStyleId>
              </a:tblPr>
              <a:tblGrid>
                <a:gridCol w="859050"/>
                <a:gridCol w="859050"/>
                <a:gridCol w="859050"/>
                <a:gridCol w="859050"/>
                <a:gridCol w="859050"/>
              </a:tblGrid>
              <a:tr h="491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500"/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a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d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𝝰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</a:rPr>
                        <a:t>i</a:t>
                      </a:r>
                      <a:endParaRPr sz="2500"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1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2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-</a:t>
                      </a: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79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3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+Ө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L</a:t>
                      </a:r>
                      <a:r>
                        <a:rPr baseline="-25000"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" sz="2500">
                          <a:solidFill>
                            <a:schemeClr val="dk1"/>
                          </a:solidFill>
                          <a:highlight>
                            <a:schemeClr val="lt1"/>
                          </a:highlight>
                        </a:rPr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85" name="Google Shape;785;p56"/>
          <p:cNvCxnSpPr/>
          <p:nvPr/>
        </p:nvCxnSpPr>
        <p:spPr>
          <a:xfrm flipH="1" rot="10800000">
            <a:off x="8228569" y="1392285"/>
            <a:ext cx="874800" cy="610200"/>
          </a:xfrm>
          <a:prstGeom prst="straightConnector1">
            <a:avLst/>
          </a:prstGeom>
          <a:noFill/>
          <a:ln cap="flat" cmpd="sng" w="9525">
            <a:solidFill>
              <a:srgbClr val="C00000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86" name="Google Shape;786;p56"/>
          <p:cNvSpPr txBox="1"/>
          <p:nvPr/>
        </p:nvSpPr>
        <p:spPr>
          <a:xfrm>
            <a:off x="7528860" y="13356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787" name="Google Shape;787;p56"/>
          <p:cNvSpPr txBox="1"/>
          <p:nvPr/>
        </p:nvSpPr>
        <p:spPr>
          <a:xfrm>
            <a:off x="8687585" y="17853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  <p:sp>
        <p:nvSpPr>
          <p:cNvPr id="788" name="Google Shape;788;p56"/>
          <p:cNvSpPr txBox="1"/>
          <p:nvPr/>
        </p:nvSpPr>
        <p:spPr>
          <a:xfrm>
            <a:off x="8687585" y="1017714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X</a:t>
            </a:r>
            <a:r>
              <a:rPr baseline="-25000" lang="en" sz="1328">
                <a:solidFill>
                  <a:schemeClr val="dk2"/>
                </a:solidFill>
              </a:rPr>
              <a:t>3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89" name="Google Shape;789;p56"/>
          <p:cNvCxnSpPr>
            <a:stCxn id="768" idx="1"/>
          </p:cNvCxnSpPr>
          <p:nvPr/>
        </p:nvCxnSpPr>
        <p:spPr>
          <a:xfrm flipH="1">
            <a:off x="4500577" y="3560493"/>
            <a:ext cx="936300" cy="1393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0" name="Google Shape;790;p56"/>
          <p:cNvSpPr/>
          <p:nvPr/>
        </p:nvSpPr>
        <p:spPr>
          <a:xfrm>
            <a:off x="5283674" y="3469831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91" name="Google Shape;791;p56"/>
          <p:cNvSpPr txBox="1"/>
          <p:nvPr/>
        </p:nvSpPr>
        <p:spPr>
          <a:xfrm>
            <a:off x="4563635" y="457957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0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92" name="Google Shape;792;p56"/>
          <p:cNvCxnSpPr>
            <a:stCxn id="768" idx="3"/>
            <a:endCxn id="771" idx="3"/>
          </p:cNvCxnSpPr>
          <p:nvPr/>
        </p:nvCxnSpPr>
        <p:spPr>
          <a:xfrm flipH="1">
            <a:off x="6372951" y="2632221"/>
            <a:ext cx="315300" cy="8148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3" name="Google Shape;793;p56"/>
          <p:cNvSpPr/>
          <p:nvPr/>
        </p:nvSpPr>
        <p:spPr>
          <a:xfrm>
            <a:off x="6567268" y="2480644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94" name="Google Shape;794;p56"/>
          <p:cNvSpPr txBox="1"/>
          <p:nvPr/>
        </p:nvSpPr>
        <p:spPr>
          <a:xfrm>
            <a:off x="6326210" y="3110802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1</a:t>
            </a:r>
            <a:endParaRPr baseline="-25000" sz="1328">
              <a:solidFill>
                <a:schemeClr val="dk2"/>
              </a:solidFill>
            </a:endParaRPr>
          </a:p>
        </p:txBody>
      </p:sp>
      <p:cxnSp>
        <p:nvCxnSpPr>
          <p:cNvPr id="795" name="Google Shape;795;p56"/>
          <p:cNvCxnSpPr/>
          <p:nvPr/>
        </p:nvCxnSpPr>
        <p:spPr>
          <a:xfrm flipH="1">
            <a:off x="8029351" y="2103221"/>
            <a:ext cx="119100" cy="841200"/>
          </a:xfrm>
          <a:prstGeom prst="straightConnector1">
            <a:avLst/>
          </a:prstGeom>
          <a:noFill/>
          <a:ln cap="flat" cmpd="sng" w="126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6" name="Google Shape;796;p56"/>
          <p:cNvSpPr/>
          <p:nvPr/>
        </p:nvSpPr>
        <p:spPr>
          <a:xfrm>
            <a:off x="8000260" y="1943702"/>
            <a:ext cx="276000" cy="276000"/>
          </a:xfrm>
          <a:prstGeom prst="ellipse">
            <a:avLst/>
          </a:prstGeom>
          <a:solidFill>
            <a:srgbClr val="999999"/>
          </a:solidFill>
          <a:ln cap="flat" cmpd="sng" w="12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75899" rotWithShape="0" algn="bl" dir="5400000" dist="25300">
              <a:srgbClr val="000000">
                <a:alpha val="50000"/>
              </a:srgbClr>
            </a:outerShdw>
          </a:effectLst>
        </p:spPr>
        <p:txBody>
          <a:bodyPr anchorCtr="0" anchor="ctr" bIns="121425" lIns="121425" spcFirstLastPara="1" rIns="121425" wrap="square" tIns="12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9"/>
          </a:p>
        </p:txBody>
      </p:sp>
      <p:sp>
        <p:nvSpPr>
          <p:cNvPr id="797" name="Google Shape;797;p56"/>
          <p:cNvSpPr txBox="1"/>
          <p:nvPr/>
        </p:nvSpPr>
        <p:spPr>
          <a:xfrm>
            <a:off x="8055410" y="2377027"/>
            <a:ext cx="4158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425" lIns="121425" spcFirstLastPara="1" rIns="121425" wrap="square" tIns="12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28">
                <a:solidFill>
                  <a:schemeClr val="dk2"/>
                </a:solidFill>
              </a:rPr>
              <a:t>Z</a:t>
            </a:r>
            <a:r>
              <a:rPr baseline="-25000" lang="en" sz="1328">
                <a:solidFill>
                  <a:schemeClr val="dk2"/>
                </a:solidFill>
              </a:rPr>
              <a:t>2</a:t>
            </a:r>
            <a:endParaRPr baseline="-25000" sz="1328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Example-2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58"/>
          <p:cNvSpPr txBox="1"/>
          <p:nvPr/>
        </p:nvSpPr>
        <p:spPr>
          <a:xfrm>
            <a:off x="410000" y="351701"/>
            <a:ext cx="66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Parameters for SCARA Robot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9" name="Google Shape;80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1" y="475860"/>
            <a:ext cx="5586536" cy="44933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58"/>
          <p:cNvSpPr txBox="1"/>
          <p:nvPr/>
        </p:nvSpPr>
        <p:spPr>
          <a:xfrm>
            <a:off x="291022" y="1680040"/>
            <a:ext cx="31431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Joints and Links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a coordinate frame to each link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joint, calculate the four D-H parameters: 𝛼 , a​ , d and θ (joint type mentioned in the question).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00" lvl="0" marL="21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 DH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9"/>
          <p:cNvSpPr txBox="1"/>
          <p:nvPr/>
        </p:nvSpPr>
        <p:spPr>
          <a:xfrm>
            <a:off x="410000" y="351701"/>
            <a:ext cx="66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Parameters for SCARA Robot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7" name="Google Shape;81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1" y="475860"/>
            <a:ext cx="5586536" cy="449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18" name="Google Shape;818;p59"/>
          <p:cNvGraphicFramePr/>
          <p:nvPr/>
        </p:nvGraphicFramePr>
        <p:xfrm>
          <a:off x="273697" y="202053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{90A34BC4-BFAC-4790-95A1-CC84E198C7A3}</a:tableStyleId>
              </a:tblPr>
              <a:tblGrid>
                <a:gridCol w="491425"/>
                <a:gridCol w="564500"/>
                <a:gridCol w="559850"/>
                <a:gridCol w="572600"/>
                <a:gridCol w="547100"/>
              </a:tblGrid>
              <a:tr h="24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θ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19" name="Google Shape;819;p59"/>
          <p:cNvSpPr txBox="1"/>
          <p:nvPr/>
        </p:nvSpPr>
        <p:spPr>
          <a:xfrm>
            <a:off x="690886" y="1666450"/>
            <a:ext cx="19011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59"/>
          <p:cNvSpPr/>
          <p:nvPr/>
        </p:nvSpPr>
        <p:spPr>
          <a:xfrm>
            <a:off x="3615613" y="3251495"/>
            <a:ext cx="886500" cy="886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59"/>
          <p:cNvSpPr/>
          <p:nvPr/>
        </p:nvSpPr>
        <p:spPr>
          <a:xfrm>
            <a:off x="5665185" y="1490342"/>
            <a:ext cx="886500" cy="886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59"/>
          <p:cNvSpPr/>
          <p:nvPr/>
        </p:nvSpPr>
        <p:spPr>
          <a:xfrm>
            <a:off x="7302083" y="1577327"/>
            <a:ext cx="886500" cy="886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9"/>
          <p:cNvSpPr/>
          <p:nvPr/>
        </p:nvSpPr>
        <p:spPr>
          <a:xfrm>
            <a:off x="7205566" y="2679767"/>
            <a:ext cx="886500" cy="886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60"/>
          <p:cNvSpPr txBox="1"/>
          <p:nvPr/>
        </p:nvSpPr>
        <p:spPr>
          <a:xfrm>
            <a:off x="410000" y="351701"/>
            <a:ext cx="66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Parameters for SCARA Robot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0" name="Google Shape;83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1" y="475860"/>
            <a:ext cx="5586536" cy="449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31" name="Google Shape;831;p60"/>
          <p:cNvGraphicFramePr/>
          <p:nvPr/>
        </p:nvGraphicFramePr>
        <p:xfrm>
          <a:off x="270572" y="2049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{90A34BC4-BFAC-4790-95A1-CC84E198C7A3}</a:tableStyleId>
              </a:tblPr>
              <a:tblGrid>
                <a:gridCol w="491425"/>
                <a:gridCol w="564500"/>
                <a:gridCol w="559850"/>
                <a:gridCol w="585425"/>
                <a:gridCol w="534275"/>
              </a:tblGrid>
              <a:tr h="241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θ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2" name="Google Shape;832;p60"/>
          <p:cNvSpPr txBox="1"/>
          <p:nvPr/>
        </p:nvSpPr>
        <p:spPr>
          <a:xfrm>
            <a:off x="845747" y="1723050"/>
            <a:ext cx="221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0"/>
          <p:cNvSpPr txBox="1"/>
          <p:nvPr/>
        </p:nvSpPr>
        <p:spPr>
          <a:xfrm>
            <a:off x="1093808" y="1324056"/>
            <a:ext cx="108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joint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4" name="Google Shape;834;p60"/>
          <p:cNvGrpSpPr/>
          <p:nvPr/>
        </p:nvGrpSpPr>
        <p:grpSpPr>
          <a:xfrm>
            <a:off x="3614732" y="2876204"/>
            <a:ext cx="1503870" cy="1336892"/>
            <a:chOff x="4819643" y="3834939"/>
            <a:chExt cx="2005160" cy="1782522"/>
          </a:xfrm>
        </p:grpSpPr>
        <p:cxnSp>
          <p:nvCxnSpPr>
            <p:cNvPr id="835" name="Google Shape;835;p60"/>
            <p:cNvCxnSpPr/>
            <p:nvPr/>
          </p:nvCxnSpPr>
          <p:spPr>
            <a:xfrm>
              <a:off x="5338903" y="5119688"/>
              <a:ext cx="14859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36" name="Google Shape;836;p60"/>
            <p:cNvCxnSpPr/>
            <p:nvPr/>
          </p:nvCxnSpPr>
          <p:spPr>
            <a:xfrm rot="10800000">
              <a:off x="5338903" y="3834939"/>
              <a:ext cx="0" cy="13038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37" name="Google Shape;837;p60"/>
            <p:cNvCxnSpPr/>
            <p:nvPr/>
          </p:nvCxnSpPr>
          <p:spPr>
            <a:xfrm flipH="1">
              <a:off x="4819643" y="5118261"/>
              <a:ext cx="536700" cy="4992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838" name="Google Shape;838;p60"/>
          <p:cNvCxnSpPr/>
          <p:nvPr/>
        </p:nvCxnSpPr>
        <p:spPr>
          <a:xfrm>
            <a:off x="4020251" y="3839766"/>
            <a:ext cx="11145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39" name="Google Shape;839;p60"/>
          <p:cNvCxnSpPr/>
          <p:nvPr/>
        </p:nvCxnSpPr>
        <p:spPr>
          <a:xfrm>
            <a:off x="5949063" y="2110979"/>
            <a:ext cx="556500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0" name="Google Shape;840;p60"/>
          <p:cNvCxnSpPr/>
          <p:nvPr/>
        </p:nvCxnSpPr>
        <p:spPr>
          <a:xfrm rot="10800000">
            <a:off x="5958588" y="961866"/>
            <a:ext cx="0" cy="11634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41" name="Google Shape;841;p60"/>
          <p:cNvCxnSpPr/>
          <p:nvPr/>
        </p:nvCxnSpPr>
        <p:spPr>
          <a:xfrm flipH="1" rot="10800000">
            <a:off x="5968114" y="1580092"/>
            <a:ext cx="546900" cy="5166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42" name="Google Shape;842;p60"/>
          <p:cNvSpPr/>
          <p:nvPr/>
        </p:nvSpPr>
        <p:spPr>
          <a:xfrm>
            <a:off x="3660365" y="3586116"/>
            <a:ext cx="1908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60"/>
          <p:cNvSpPr/>
          <p:nvPr/>
        </p:nvSpPr>
        <p:spPr>
          <a:xfrm>
            <a:off x="5672141" y="162780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0"/>
          <p:cNvSpPr/>
          <p:nvPr/>
        </p:nvSpPr>
        <p:spPr>
          <a:xfrm>
            <a:off x="7331951" y="200423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60"/>
          <p:cNvSpPr/>
          <p:nvPr/>
        </p:nvSpPr>
        <p:spPr>
          <a:xfrm>
            <a:off x="6909299" y="2970832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1"/>
          <p:cNvSpPr txBox="1"/>
          <p:nvPr/>
        </p:nvSpPr>
        <p:spPr>
          <a:xfrm>
            <a:off x="410000" y="351701"/>
            <a:ext cx="66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Parameters for SCARA Robot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2" name="Google Shape;85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1" y="475860"/>
            <a:ext cx="5586536" cy="449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3" name="Google Shape;853;p61"/>
          <p:cNvGraphicFramePr/>
          <p:nvPr/>
        </p:nvGraphicFramePr>
        <p:xfrm>
          <a:off x="270572" y="2049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{90A34BC4-BFAC-4790-95A1-CC84E198C7A3}</a:tableStyleId>
              </a:tblPr>
              <a:tblGrid>
                <a:gridCol w="491425"/>
                <a:gridCol w="564500"/>
                <a:gridCol w="559850"/>
                <a:gridCol w="585425"/>
                <a:gridCol w="534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θ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 </a:t>
                      </a:r>
                      <a:r>
                        <a:rPr lang="en"/>
                        <a:t>180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4" name="Google Shape;854;p61"/>
          <p:cNvSpPr txBox="1"/>
          <p:nvPr/>
        </p:nvSpPr>
        <p:spPr>
          <a:xfrm>
            <a:off x="845749" y="1723050"/>
            <a:ext cx="1837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1"/>
          <p:cNvSpPr txBox="1"/>
          <p:nvPr/>
        </p:nvSpPr>
        <p:spPr>
          <a:xfrm>
            <a:off x="1093808" y="1323543"/>
            <a:ext cx="108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joint 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6" name="Google Shape;856;p61"/>
          <p:cNvGrpSpPr/>
          <p:nvPr/>
        </p:nvGrpSpPr>
        <p:grpSpPr>
          <a:xfrm>
            <a:off x="5958588" y="983075"/>
            <a:ext cx="546525" cy="1122488"/>
            <a:chOff x="5319738" y="3841303"/>
            <a:chExt cx="728700" cy="1496650"/>
          </a:xfrm>
        </p:grpSpPr>
        <p:cxnSp>
          <p:nvCxnSpPr>
            <p:cNvPr id="857" name="Google Shape;857;p61"/>
            <p:cNvCxnSpPr/>
            <p:nvPr/>
          </p:nvCxnSpPr>
          <p:spPr>
            <a:xfrm flipH="1" rot="10800000">
              <a:off x="5338903" y="4827953"/>
              <a:ext cx="532500" cy="5019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8" name="Google Shape;858;p61"/>
            <p:cNvCxnSpPr/>
            <p:nvPr/>
          </p:nvCxnSpPr>
          <p:spPr>
            <a:xfrm rot="10800000">
              <a:off x="5338903" y="3841303"/>
              <a:ext cx="0" cy="14949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59" name="Google Shape;859;p61"/>
            <p:cNvCxnSpPr/>
            <p:nvPr/>
          </p:nvCxnSpPr>
          <p:spPr>
            <a:xfrm>
              <a:off x="5319738" y="5329853"/>
              <a:ext cx="728700" cy="81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860" name="Google Shape;860;p61"/>
          <p:cNvCxnSpPr/>
          <p:nvPr/>
        </p:nvCxnSpPr>
        <p:spPr>
          <a:xfrm>
            <a:off x="7673753" y="2130029"/>
            <a:ext cx="936900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1" name="Google Shape;861;p61"/>
          <p:cNvCxnSpPr/>
          <p:nvPr/>
        </p:nvCxnSpPr>
        <p:spPr>
          <a:xfrm>
            <a:off x="7678515" y="2125266"/>
            <a:ext cx="0" cy="513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62" name="Google Shape;862;p61"/>
          <p:cNvCxnSpPr/>
          <p:nvPr/>
        </p:nvCxnSpPr>
        <p:spPr>
          <a:xfrm flipH="1">
            <a:off x="7241715" y="2125266"/>
            <a:ext cx="436800" cy="408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63" name="Google Shape;863;p61"/>
          <p:cNvSpPr/>
          <p:nvPr/>
        </p:nvSpPr>
        <p:spPr>
          <a:xfrm>
            <a:off x="3660365" y="3586116"/>
            <a:ext cx="1908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1"/>
          <p:cNvSpPr/>
          <p:nvPr/>
        </p:nvSpPr>
        <p:spPr>
          <a:xfrm>
            <a:off x="5672141" y="162780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61"/>
          <p:cNvSpPr/>
          <p:nvPr/>
        </p:nvSpPr>
        <p:spPr>
          <a:xfrm>
            <a:off x="7331951" y="200423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61"/>
          <p:cNvSpPr/>
          <p:nvPr/>
        </p:nvSpPr>
        <p:spPr>
          <a:xfrm>
            <a:off x="6909299" y="2970832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2"/>
          <p:cNvSpPr txBox="1"/>
          <p:nvPr/>
        </p:nvSpPr>
        <p:spPr>
          <a:xfrm>
            <a:off x="410000" y="351701"/>
            <a:ext cx="66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Parameters for SCARA Robot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3" name="Google Shape;87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1" y="475860"/>
            <a:ext cx="5586536" cy="449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74" name="Google Shape;874;p62"/>
          <p:cNvGraphicFramePr/>
          <p:nvPr/>
        </p:nvGraphicFramePr>
        <p:xfrm>
          <a:off x="270572" y="2049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{90A34BC4-BFAC-4790-95A1-CC84E198C7A3}</a:tableStyleId>
              </a:tblPr>
              <a:tblGrid>
                <a:gridCol w="491425"/>
                <a:gridCol w="564500"/>
                <a:gridCol w="559850"/>
                <a:gridCol w="585425"/>
                <a:gridCol w="534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θ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 </a:t>
                      </a:r>
                      <a:r>
                        <a:rPr lang="en"/>
                        <a:t>180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5" name="Google Shape;875;p62"/>
          <p:cNvSpPr txBox="1"/>
          <p:nvPr/>
        </p:nvSpPr>
        <p:spPr>
          <a:xfrm>
            <a:off x="845748" y="1723050"/>
            <a:ext cx="1964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62"/>
          <p:cNvSpPr txBox="1"/>
          <p:nvPr/>
        </p:nvSpPr>
        <p:spPr>
          <a:xfrm>
            <a:off x="1093808" y="1321770"/>
            <a:ext cx="108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joint 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7" name="Google Shape;877;p62"/>
          <p:cNvGrpSpPr/>
          <p:nvPr/>
        </p:nvGrpSpPr>
        <p:grpSpPr>
          <a:xfrm>
            <a:off x="7254482" y="2132444"/>
            <a:ext cx="1341476" cy="522038"/>
            <a:chOff x="4767703" y="5329853"/>
            <a:chExt cx="1788635" cy="696050"/>
          </a:xfrm>
        </p:grpSpPr>
        <p:cxnSp>
          <p:nvCxnSpPr>
            <p:cNvPr id="878" name="Google Shape;878;p62"/>
            <p:cNvCxnSpPr/>
            <p:nvPr/>
          </p:nvCxnSpPr>
          <p:spPr>
            <a:xfrm flipH="1">
              <a:off x="4767703" y="5329853"/>
              <a:ext cx="571200" cy="5343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79" name="Google Shape;879;p62"/>
            <p:cNvCxnSpPr/>
            <p:nvPr/>
          </p:nvCxnSpPr>
          <p:spPr>
            <a:xfrm>
              <a:off x="5338903" y="5336203"/>
              <a:ext cx="0" cy="6897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880" name="Google Shape;880;p62"/>
            <p:cNvCxnSpPr/>
            <p:nvPr/>
          </p:nvCxnSpPr>
          <p:spPr>
            <a:xfrm>
              <a:off x="5319738" y="5329853"/>
              <a:ext cx="12366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881" name="Google Shape;881;p62"/>
          <p:cNvCxnSpPr/>
          <p:nvPr/>
        </p:nvCxnSpPr>
        <p:spPr>
          <a:xfrm>
            <a:off x="7659179" y="2970832"/>
            <a:ext cx="936900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82" name="Google Shape;882;p62"/>
          <p:cNvCxnSpPr/>
          <p:nvPr/>
        </p:nvCxnSpPr>
        <p:spPr>
          <a:xfrm>
            <a:off x="7668509" y="2970832"/>
            <a:ext cx="0" cy="513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83" name="Google Shape;883;p62"/>
          <p:cNvCxnSpPr/>
          <p:nvPr/>
        </p:nvCxnSpPr>
        <p:spPr>
          <a:xfrm flipH="1">
            <a:off x="7220868" y="2957140"/>
            <a:ext cx="436800" cy="408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884" name="Google Shape;884;p62"/>
          <p:cNvSpPr/>
          <p:nvPr/>
        </p:nvSpPr>
        <p:spPr>
          <a:xfrm>
            <a:off x="3660365" y="3586116"/>
            <a:ext cx="1908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62"/>
          <p:cNvSpPr/>
          <p:nvPr/>
        </p:nvSpPr>
        <p:spPr>
          <a:xfrm>
            <a:off x="5672141" y="162780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62"/>
          <p:cNvSpPr/>
          <p:nvPr/>
        </p:nvSpPr>
        <p:spPr>
          <a:xfrm>
            <a:off x="7331951" y="200423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2"/>
          <p:cNvSpPr/>
          <p:nvPr/>
        </p:nvSpPr>
        <p:spPr>
          <a:xfrm>
            <a:off x="6909299" y="2970832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3"/>
          <p:cNvSpPr txBox="1"/>
          <p:nvPr/>
        </p:nvSpPr>
        <p:spPr>
          <a:xfrm>
            <a:off x="410000" y="351701"/>
            <a:ext cx="6693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Parameters for SCARA Robot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4" name="Google Shape;89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121" y="475860"/>
            <a:ext cx="5586536" cy="44933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5" name="Google Shape;895;p63"/>
          <p:cNvGraphicFramePr/>
          <p:nvPr/>
        </p:nvGraphicFramePr>
        <p:xfrm>
          <a:off x="270572" y="20498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{90A34BC4-BFAC-4790-95A1-CC84E198C7A3}</a:tableStyleId>
              </a:tblPr>
              <a:tblGrid>
                <a:gridCol w="491425"/>
                <a:gridCol w="564500"/>
                <a:gridCol w="559850"/>
                <a:gridCol w="585425"/>
                <a:gridCol w="534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Joint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α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θ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 </a:t>
                      </a:r>
                      <a:r>
                        <a:rPr lang="en"/>
                        <a:t>180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a</a:t>
                      </a:r>
                      <a:r>
                        <a:rPr baseline="-25000" lang="en" sz="1400" u="none" cap="none" strike="noStrike"/>
                        <a:t>2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3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0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d</a:t>
                      </a:r>
                      <a:r>
                        <a:rPr baseline="-25000" lang="en" sz="1400" u="none" cap="none" strike="noStrike"/>
                        <a:t>4</a:t>
                      </a:r>
                      <a:endParaRPr sz="11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" sz="1400" u="none" cap="none" strike="noStrike"/>
                        <a:t>θ</a:t>
                      </a:r>
                      <a:r>
                        <a:rPr baseline="-25000" lang="en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34300" marB="34300" marR="68600" marL="6860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6" name="Google Shape;896;p63"/>
          <p:cNvSpPr txBox="1"/>
          <p:nvPr/>
        </p:nvSpPr>
        <p:spPr>
          <a:xfrm>
            <a:off x="845747" y="1723050"/>
            <a:ext cx="2160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D-H Parameter Table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63"/>
          <p:cNvSpPr txBox="1"/>
          <p:nvPr/>
        </p:nvSpPr>
        <p:spPr>
          <a:xfrm>
            <a:off x="1093808" y="1321770"/>
            <a:ext cx="1089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joint 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8" name="Google Shape;898;p63"/>
          <p:cNvGrpSpPr/>
          <p:nvPr/>
        </p:nvGrpSpPr>
        <p:grpSpPr>
          <a:xfrm>
            <a:off x="7222440" y="2948764"/>
            <a:ext cx="1341476" cy="522038"/>
            <a:chOff x="4767703" y="5329853"/>
            <a:chExt cx="1788635" cy="696050"/>
          </a:xfrm>
        </p:grpSpPr>
        <p:cxnSp>
          <p:nvCxnSpPr>
            <p:cNvPr id="899" name="Google Shape;899;p63"/>
            <p:cNvCxnSpPr/>
            <p:nvPr/>
          </p:nvCxnSpPr>
          <p:spPr>
            <a:xfrm flipH="1">
              <a:off x="4767703" y="5329853"/>
              <a:ext cx="571200" cy="5343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00" name="Google Shape;900;p63"/>
            <p:cNvCxnSpPr/>
            <p:nvPr/>
          </p:nvCxnSpPr>
          <p:spPr>
            <a:xfrm>
              <a:off x="5338903" y="5336203"/>
              <a:ext cx="0" cy="68970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901" name="Google Shape;901;p63"/>
            <p:cNvCxnSpPr/>
            <p:nvPr/>
          </p:nvCxnSpPr>
          <p:spPr>
            <a:xfrm>
              <a:off x="5319738" y="5329853"/>
              <a:ext cx="1236600" cy="0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cxnSp>
        <p:nvCxnSpPr>
          <p:cNvPr id="902" name="Google Shape;902;p63"/>
          <p:cNvCxnSpPr/>
          <p:nvPr/>
        </p:nvCxnSpPr>
        <p:spPr>
          <a:xfrm>
            <a:off x="7659179" y="3790792"/>
            <a:ext cx="936900" cy="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3" name="Google Shape;903;p63"/>
          <p:cNvCxnSpPr/>
          <p:nvPr/>
        </p:nvCxnSpPr>
        <p:spPr>
          <a:xfrm>
            <a:off x="7668509" y="3790792"/>
            <a:ext cx="0" cy="513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04" name="Google Shape;904;p63"/>
          <p:cNvCxnSpPr/>
          <p:nvPr/>
        </p:nvCxnSpPr>
        <p:spPr>
          <a:xfrm flipH="1">
            <a:off x="7222379" y="3785159"/>
            <a:ext cx="436800" cy="408300"/>
          </a:xfrm>
          <a:prstGeom prst="straightConnector1">
            <a:avLst/>
          </a:prstGeom>
          <a:noFill/>
          <a:ln cap="flat" cmpd="sng" w="28575">
            <a:solidFill>
              <a:srgbClr val="00B05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05" name="Google Shape;905;p63"/>
          <p:cNvSpPr/>
          <p:nvPr/>
        </p:nvSpPr>
        <p:spPr>
          <a:xfrm>
            <a:off x="3660365" y="3586116"/>
            <a:ext cx="1908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63"/>
          <p:cNvSpPr/>
          <p:nvPr/>
        </p:nvSpPr>
        <p:spPr>
          <a:xfrm>
            <a:off x="5672141" y="162780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63"/>
          <p:cNvSpPr/>
          <p:nvPr/>
        </p:nvSpPr>
        <p:spPr>
          <a:xfrm>
            <a:off x="7331951" y="2004237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63"/>
          <p:cNvSpPr/>
          <p:nvPr/>
        </p:nvSpPr>
        <p:spPr>
          <a:xfrm>
            <a:off x="6909299" y="2970832"/>
            <a:ext cx="196500" cy="1905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9525">
            <a:solidFill>
              <a:srgbClr val="6434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4"/>
          <p:cNvSpPr txBox="1"/>
          <p:nvPr>
            <p:ph type="title"/>
          </p:nvPr>
        </p:nvSpPr>
        <p:spPr>
          <a:xfrm>
            <a:off x="3535500" y="2285400"/>
            <a:ext cx="2073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EXTRAS</a:t>
            </a:r>
            <a:endParaRPr sz="322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5"/>
          <p:cNvSpPr txBox="1"/>
          <p:nvPr/>
        </p:nvSpPr>
        <p:spPr>
          <a:xfrm>
            <a:off x="540629" y="780908"/>
            <a:ext cx="6693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</a:t>
            </a: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(Link Twist / Twist Angle)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5"/>
          <p:cNvSpPr txBox="1"/>
          <p:nvPr/>
        </p:nvSpPr>
        <p:spPr>
          <a:xfrm>
            <a:off x="725472" y="1303370"/>
            <a:ext cx="7692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 between two z-axes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two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consecutive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joints about the x-axis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20" name="Google Shape;920;p65"/>
          <p:cNvGrpSpPr/>
          <p:nvPr/>
        </p:nvGrpSpPr>
        <p:grpSpPr>
          <a:xfrm>
            <a:off x="2656184" y="1848905"/>
            <a:ext cx="3255631" cy="1367236"/>
            <a:chOff x="3893499" y="4309492"/>
            <a:chExt cx="4311523" cy="1810669"/>
          </a:xfrm>
        </p:grpSpPr>
        <p:grpSp>
          <p:nvGrpSpPr>
            <p:cNvPr id="921" name="Google Shape;921;p65"/>
            <p:cNvGrpSpPr/>
            <p:nvPr/>
          </p:nvGrpSpPr>
          <p:grpSpPr>
            <a:xfrm>
              <a:off x="3893499" y="5328522"/>
              <a:ext cx="3503878" cy="377100"/>
              <a:chOff x="4240247" y="4042094"/>
              <a:chExt cx="3503878" cy="377100"/>
            </a:xfrm>
          </p:grpSpPr>
          <p:sp>
            <p:nvSpPr>
              <p:cNvPr id="922" name="Google Shape;922;p65"/>
              <p:cNvSpPr txBox="1"/>
              <p:nvPr/>
            </p:nvSpPr>
            <p:spPr>
              <a:xfrm>
                <a:off x="4240247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3" name="Google Shape;923;p65"/>
              <p:cNvSpPr txBox="1"/>
              <p:nvPr/>
            </p:nvSpPr>
            <p:spPr>
              <a:xfrm>
                <a:off x="7270125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24" name="Google Shape;924;p65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925" name="Google Shape;925;p65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26" name="Google Shape;926;p65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27" name="Google Shape;927;p65"/>
            <p:cNvGrpSpPr/>
            <p:nvPr/>
          </p:nvGrpSpPr>
          <p:grpSpPr>
            <a:xfrm>
              <a:off x="7253790" y="4646018"/>
              <a:ext cx="827153" cy="736334"/>
              <a:chOff x="1822126" y="4465322"/>
              <a:chExt cx="1521900" cy="1354800"/>
            </a:xfrm>
          </p:grpSpPr>
          <p:cxnSp>
            <p:nvCxnSpPr>
              <p:cNvPr id="928" name="Google Shape;928;p65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29" name="Google Shape;929;p65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30" name="Google Shape;930;p65"/>
            <p:cNvSpPr txBox="1"/>
            <p:nvPr/>
          </p:nvSpPr>
          <p:spPr>
            <a:xfrm>
              <a:off x="4788490" y="5457761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65"/>
            <p:cNvSpPr txBox="1"/>
            <p:nvPr/>
          </p:nvSpPr>
          <p:spPr>
            <a:xfrm>
              <a:off x="7802722" y="5412567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65"/>
            <p:cNvSpPr txBox="1"/>
            <p:nvPr/>
          </p:nvSpPr>
          <p:spPr>
            <a:xfrm>
              <a:off x="4026637" y="431629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65"/>
            <p:cNvSpPr txBox="1"/>
            <p:nvPr/>
          </p:nvSpPr>
          <p:spPr>
            <a:xfrm>
              <a:off x="7052657" y="4309492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4" name="Google Shape;934;p65"/>
          <p:cNvSpPr txBox="1"/>
          <p:nvPr/>
        </p:nvSpPr>
        <p:spPr>
          <a:xfrm>
            <a:off x="610511" y="1855927"/>
            <a:ext cx="1001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65"/>
          <p:cNvSpPr txBox="1"/>
          <p:nvPr/>
        </p:nvSpPr>
        <p:spPr>
          <a:xfrm>
            <a:off x="875648" y="2246900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 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α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r>
              <a:rPr b="1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- 90 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65"/>
          <p:cNvSpPr txBox="1"/>
          <p:nvPr/>
        </p:nvSpPr>
        <p:spPr>
          <a:xfrm>
            <a:off x="834940" y="2970360"/>
            <a:ext cx="78501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Explanation: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For calculating α for a joint (j1), we need z-axis of the next joint (j2).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- Simply figure out the angle between the z-axes of the two joints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65"/>
          <p:cNvCxnSpPr/>
          <p:nvPr/>
        </p:nvCxnSpPr>
        <p:spPr>
          <a:xfrm>
            <a:off x="2047045" y="4539341"/>
            <a:ext cx="6246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38" name="Google Shape;938;p65"/>
          <p:cNvCxnSpPr/>
          <p:nvPr/>
        </p:nvCxnSpPr>
        <p:spPr>
          <a:xfrm rot="10800000">
            <a:off x="2047045" y="3999940"/>
            <a:ext cx="0" cy="556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39" name="Google Shape;939;p65"/>
          <p:cNvSpPr txBox="1"/>
          <p:nvPr/>
        </p:nvSpPr>
        <p:spPr>
          <a:xfrm>
            <a:off x="2461491" y="4564731"/>
            <a:ext cx="303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65"/>
          <p:cNvSpPr txBox="1"/>
          <p:nvPr/>
        </p:nvSpPr>
        <p:spPr>
          <a:xfrm>
            <a:off x="1895117" y="3731798"/>
            <a:ext cx="303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65"/>
          <p:cNvSpPr/>
          <p:nvPr/>
        </p:nvSpPr>
        <p:spPr>
          <a:xfrm>
            <a:off x="1847989" y="4336346"/>
            <a:ext cx="414600" cy="4059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43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65"/>
          <p:cNvSpPr txBox="1"/>
          <p:nvPr/>
        </p:nvSpPr>
        <p:spPr>
          <a:xfrm>
            <a:off x="2126678" y="4147297"/>
            <a:ext cx="486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-90°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65"/>
          <p:cNvSpPr txBox="1"/>
          <p:nvPr/>
        </p:nvSpPr>
        <p:spPr>
          <a:xfrm>
            <a:off x="4059218" y="3975648"/>
            <a:ext cx="3610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If movement clockwise, angle negative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If movement anti-clockwise, angle positive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8" name="Google Shape;948;p66"/>
          <p:cNvCxnSpPr/>
          <p:nvPr/>
        </p:nvCxnSpPr>
        <p:spPr>
          <a:xfrm rot="10800000">
            <a:off x="7255293" y="1022375"/>
            <a:ext cx="0" cy="843600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949" name="Google Shape;949;p66"/>
          <p:cNvGrpSpPr/>
          <p:nvPr/>
        </p:nvGrpSpPr>
        <p:grpSpPr>
          <a:xfrm>
            <a:off x="2302643" y="1076386"/>
            <a:ext cx="2427901" cy="1362283"/>
            <a:chOff x="3893499" y="4316052"/>
            <a:chExt cx="3215337" cy="1804109"/>
          </a:xfrm>
        </p:grpSpPr>
        <p:grpSp>
          <p:nvGrpSpPr>
            <p:cNvPr id="950" name="Google Shape;950;p66"/>
            <p:cNvGrpSpPr/>
            <p:nvPr/>
          </p:nvGrpSpPr>
          <p:grpSpPr>
            <a:xfrm>
              <a:off x="3893499" y="5328522"/>
              <a:ext cx="2407693" cy="383661"/>
              <a:chOff x="4240247" y="4042094"/>
              <a:chExt cx="2407693" cy="383661"/>
            </a:xfrm>
          </p:grpSpPr>
          <p:sp>
            <p:nvSpPr>
              <p:cNvPr id="951" name="Google Shape;951;p66"/>
              <p:cNvSpPr txBox="1"/>
              <p:nvPr/>
            </p:nvSpPr>
            <p:spPr>
              <a:xfrm>
                <a:off x="4240247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2" name="Google Shape;952;p66"/>
              <p:cNvSpPr txBox="1"/>
              <p:nvPr/>
            </p:nvSpPr>
            <p:spPr>
              <a:xfrm>
                <a:off x="6173940" y="4048655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3" name="Google Shape;953;p66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954" name="Google Shape;954;p66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55" name="Google Shape;955;p66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56" name="Google Shape;956;p66"/>
            <p:cNvGrpSpPr/>
            <p:nvPr/>
          </p:nvGrpSpPr>
          <p:grpSpPr>
            <a:xfrm>
              <a:off x="6157681" y="4652578"/>
              <a:ext cx="827153" cy="736334"/>
              <a:chOff x="-194634" y="4477392"/>
              <a:chExt cx="1521900" cy="1354800"/>
            </a:xfrm>
          </p:grpSpPr>
          <p:cxnSp>
            <p:nvCxnSpPr>
              <p:cNvPr id="957" name="Google Shape;957;p66"/>
              <p:cNvCxnSpPr/>
              <p:nvPr/>
            </p:nvCxnSpPr>
            <p:spPr>
              <a:xfrm>
                <a:off x="-194634" y="5825520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58" name="Google Shape;958;p66"/>
              <p:cNvCxnSpPr/>
              <p:nvPr/>
            </p:nvCxnSpPr>
            <p:spPr>
              <a:xfrm rot="10800000">
                <a:off x="-174610" y="447739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59" name="Google Shape;959;p66"/>
            <p:cNvSpPr txBox="1"/>
            <p:nvPr/>
          </p:nvSpPr>
          <p:spPr>
            <a:xfrm>
              <a:off x="4788490" y="5457761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66"/>
            <p:cNvSpPr txBox="1"/>
            <p:nvPr/>
          </p:nvSpPr>
          <p:spPr>
            <a:xfrm>
              <a:off x="6706536" y="5419128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66"/>
            <p:cNvSpPr txBox="1"/>
            <p:nvPr/>
          </p:nvSpPr>
          <p:spPr>
            <a:xfrm>
              <a:off x="4026637" y="431629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66"/>
            <p:cNvSpPr txBox="1"/>
            <p:nvPr/>
          </p:nvSpPr>
          <p:spPr>
            <a:xfrm>
              <a:off x="5956471" y="4316052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3" name="Google Shape;963;p66"/>
          <p:cNvSpPr txBox="1"/>
          <p:nvPr/>
        </p:nvSpPr>
        <p:spPr>
          <a:xfrm>
            <a:off x="655565" y="820157"/>
            <a:ext cx="1001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66"/>
          <p:cNvSpPr txBox="1"/>
          <p:nvPr/>
        </p:nvSpPr>
        <p:spPr>
          <a:xfrm>
            <a:off x="834940" y="1282988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5" name="Google Shape;965;p66"/>
          <p:cNvCxnSpPr/>
          <p:nvPr/>
        </p:nvCxnSpPr>
        <p:spPr>
          <a:xfrm rot="10800000">
            <a:off x="7255293" y="1299237"/>
            <a:ext cx="0" cy="564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66" name="Google Shape;966;p66"/>
          <p:cNvSpPr txBox="1"/>
          <p:nvPr/>
        </p:nvSpPr>
        <p:spPr>
          <a:xfrm>
            <a:off x="6951438" y="810556"/>
            <a:ext cx="303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66"/>
          <p:cNvSpPr txBox="1"/>
          <p:nvPr/>
        </p:nvSpPr>
        <p:spPr>
          <a:xfrm>
            <a:off x="6951438" y="1204204"/>
            <a:ext cx="303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66"/>
          <p:cNvSpPr txBox="1"/>
          <p:nvPr/>
        </p:nvSpPr>
        <p:spPr>
          <a:xfrm>
            <a:off x="7379161" y="1529470"/>
            <a:ext cx="1035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Angle: 0°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66"/>
          <p:cNvSpPr txBox="1"/>
          <p:nvPr/>
        </p:nvSpPr>
        <p:spPr>
          <a:xfrm>
            <a:off x="894176" y="3069238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66"/>
          <p:cNvGrpSpPr/>
          <p:nvPr/>
        </p:nvGrpSpPr>
        <p:grpSpPr>
          <a:xfrm>
            <a:off x="2237705" y="2958492"/>
            <a:ext cx="2804744" cy="1371550"/>
            <a:chOff x="3893499" y="4303779"/>
            <a:chExt cx="3714401" cy="1816382"/>
          </a:xfrm>
        </p:grpSpPr>
        <p:grpSp>
          <p:nvGrpSpPr>
            <p:cNvPr id="971" name="Google Shape;971;p66"/>
            <p:cNvGrpSpPr/>
            <p:nvPr/>
          </p:nvGrpSpPr>
          <p:grpSpPr>
            <a:xfrm>
              <a:off x="3893499" y="5188564"/>
              <a:ext cx="3714401" cy="517058"/>
              <a:chOff x="4240247" y="3902136"/>
              <a:chExt cx="3714401" cy="517058"/>
            </a:xfrm>
          </p:grpSpPr>
          <p:sp>
            <p:nvSpPr>
              <p:cNvPr id="972" name="Google Shape;972;p66"/>
              <p:cNvSpPr txBox="1"/>
              <p:nvPr/>
            </p:nvSpPr>
            <p:spPr>
              <a:xfrm>
                <a:off x="4240247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3" name="Google Shape;973;p66"/>
              <p:cNvSpPr txBox="1"/>
              <p:nvPr/>
            </p:nvSpPr>
            <p:spPr>
              <a:xfrm>
                <a:off x="7480648" y="3902136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74" name="Google Shape;974;p66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975" name="Google Shape;975;p66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76" name="Google Shape;976;p66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977" name="Google Shape;977;p66"/>
            <p:cNvGrpSpPr/>
            <p:nvPr/>
          </p:nvGrpSpPr>
          <p:grpSpPr>
            <a:xfrm>
              <a:off x="6254552" y="4640305"/>
              <a:ext cx="879287" cy="736334"/>
              <a:chOff x="-16398" y="4454813"/>
              <a:chExt cx="1617824" cy="1354800"/>
            </a:xfrm>
          </p:grpSpPr>
          <p:cxnSp>
            <p:nvCxnSpPr>
              <p:cNvPr id="978" name="Google Shape;978;p66"/>
              <p:cNvCxnSpPr/>
              <p:nvPr/>
            </p:nvCxnSpPr>
            <p:spPr>
              <a:xfrm rot="10800000">
                <a:off x="-16398" y="5802945"/>
                <a:ext cx="15978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979" name="Google Shape;979;p66"/>
              <p:cNvCxnSpPr/>
              <p:nvPr/>
            </p:nvCxnSpPr>
            <p:spPr>
              <a:xfrm rot="10800000">
                <a:off x="1601426" y="4454813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980" name="Google Shape;980;p66"/>
            <p:cNvSpPr txBox="1"/>
            <p:nvPr/>
          </p:nvSpPr>
          <p:spPr>
            <a:xfrm>
              <a:off x="4788490" y="5457761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66"/>
            <p:cNvSpPr txBox="1"/>
            <p:nvPr/>
          </p:nvSpPr>
          <p:spPr>
            <a:xfrm>
              <a:off x="5863041" y="5309263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66"/>
            <p:cNvSpPr txBox="1"/>
            <p:nvPr/>
          </p:nvSpPr>
          <p:spPr>
            <a:xfrm>
              <a:off x="4026637" y="431629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66"/>
            <p:cNvSpPr txBox="1"/>
            <p:nvPr/>
          </p:nvSpPr>
          <p:spPr>
            <a:xfrm>
              <a:off x="6921812" y="4303779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4" name="Google Shape;984;p66"/>
          <p:cNvSpPr txBox="1"/>
          <p:nvPr/>
        </p:nvSpPr>
        <p:spPr>
          <a:xfrm>
            <a:off x="7350496" y="3741531"/>
            <a:ext cx="357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5" name="Google Shape;985;p66"/>
          <p:cNvCxnSpPr/>
          <p:nvPr/>
        </p:nvCxnSpPr>
        <p:spPr>
          <a:xfrm rot="10800000">
            <a:off x="6686477" y="3880974"/>
            <a:ext cx="6558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86" name="Google Shape;986;p66"/>
          <p:cNvCxnSpPr/>
          <p:nvPr/>
        </p:nvCxnSpPr>
        <p:spPr>
          <a:xfrm rot="10800000">
            <a:off x="7350496" y="3327511"/>
            <a:ext cx="0" cy="556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987" name="Google Shape;987;p66"/>
          <p:cNvSpPr txBox="1"/>
          <p:nvPr/>
        </p:nvSpPr>
        <p:spPr>
          <a:xfrm>
            <a:off x="6390870" y="3832671"/>
            <a:ext cx="303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8" name="Google Shape;988;p66"/>
          <p:cNvSpPr txBox="1"/>
          <p:nvPr/>
        </p:nvSpPr>
        <p:spPr>
          <a:xfrm>
            <a:off x="7190348" y="3073430"/>
            <a:ext cx="303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z2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66"/>
          <p:cNvSpPr txBox="1"/>
          <p:nvPr/>
        </p:nvSpPr>
        <p:spPr>
          <a:xfrm>
            <a:off x="7698338" y="3634038"/>
            <a:ext cx="1035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Angle: 90°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67"/>
          <p:cNvSpPr txBox="1"/>
          <p:nvPr/>
        </p:nvSpPr>
        <p:spPr>
          <a:xfrm>
            <a:off x="540629" y="780908"/>
            <a:ext cx="6693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(Link Length)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67"/>
          <p:cNvSpPr txBox="1"/>
          <p:nvPr/>
        </p:nvSpPr>
        <p:spPr>
          <a:xfrm>
            <a:off x="725472" y="1303370"/>
            <a:ext cx="769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two consecutive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joint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axes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along the x-axis 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i-th co-ordinate frame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Towards the x-axis of the second joint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6" name="Google Shape;996;p67"/>
          <p:cNvGrpSpPr/>
          <p:nvPr/>
        </p:nvGrpSpPr>
        <p:grpSpPr>
          <a:xfrm>
            <a:off x="2681700" y="1792907"/>
            <a:ext cx="3313831" cy="1054218"/>
            <a:chOff x="3893499" y="4309492"/>
            <a:chExt cx="4388599" cy="1396130"/>
          </a:xfrm>
        </p:grpSpPr>
        <p:grpSp>
          <p:nvGrpSpPr>
            <p:cNvPr id="997" name="Google Shape;997;p67"/>
            <p:cNvGrpSpPr/>
            <p:nvPr/>
          </p:nvGrpSpPr>
          <p:grpSpPr>
            <a:xfrm>
              <a:off x="3893499" y="5328522"/>
              <a:ext cx="3503878" cy="377100"/>
              <a:chOff x="4240247" y="4042094"/>
              <a:chExt cx="3503878" cy="377100"/>
            </a:xfrm>
          </p:grpSpPr>
          <p:sp>
            <p:nvSpPr>
              <p:cNvPr id="998" name="Google Shape;998;p67"/>
              <p:cNvSpPr txBox="1"/>
              <p:nvPr/>
            </p:nvSpPr>
            <p:spPr>
              <a:xfrm>
                <a:off x="4240247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9" name="Google Shape;999;p67"/>
              <p:cNvSpPr txBox="1"/>
              <p:nvPr/>
            </p:nvSpPr>
            <p:spPr>
              <a:xfrm>
                <a:off x="7270125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00" name="Google Shape;1000;p67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1001" name="Google Shape;1001;p67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02" name="Google Shape;1002;p67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03" name="Google Shape;1003;p67"/>
            <p:cNvGrpSpPr/>
            <p:nvPr/>
          </p:nvGrpSpPr>
          <p:grpSpPr>
            <a:xfrm>
              <a:off x="7253790" y="4646018"/>
              <a:ext cx="827153" cy="736334"/>
              <a:chOff x="1822126" y="4465322"/>
              <a:chExt cx="1521900" cy="1354800"/>
            </a:xfrm>
          </p:grpSpPr>
          <p:cxnSp>
            <p:nvCxnSpPr>
              <p:cNvPr id="1004" name="Google Shape;1004;p67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05" name="Google Shape;1005;p67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06" name="Google Shape;1006;p67"/>
            <p:cNvSpPr txBox="1"/>
            <p:nvPr/>
          </p:nvSpPr>
          <p:spPr>
            <a:xfrm>
              <a:off x="4853779" y="5024943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67"/>
            <p:cNvSpPr txBox="1"/>
            <p:nvPr/>
          </p:nvSpPr>
          <p:spPr>
            <a:xfrm>
              <a:off x="7879798" y="4961685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67"/>
            <p:cNvSpPr txBox="1"/>
            <p:nvPr/>
          </p:nvSpPr>
          <p:spPr>
            <a:xfrm>
              <a:off x="4026637" y="431629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67"/>
            <p:cNvSpPr txBox="1"/>
            <p:nvPr/>
          </p:nvSpPr>
          <p:spPr>
            <a:xfrm>
              <a:off x="7052657" y="4309492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0" name="Google Shape;1010;p67"/>
          <p:cNvSpPr txBox="1"/>
          <p:nvPr/>
        </p:nvSpPr>
        <p:spPr>
          <a:xfrm>
            <a:off x="610511" y="2026125"/>
            <a:ext cx="1001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p67"/>
          <p:cNvSpPr txBox="1"/>
          <p:nvPr/>
        </p:nvSpPr>
        <p:spPr>
          <a:xfrm>
            <a:off x="875648" y="2417099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7"/>
          <p:cNvSpPr/>
          <p:nvPr/>
        </p:nvSpPr>
        <p:spPr>
          <a:xfrm>
            <a:off x="2942381" y="2885469"/>
            <a:ext cx="2284800" cy="39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3" name="Google Shape;1013;p67"/>
          <p:cNvCxnSpPr/>
          <p:nvPr/>
        </p:nvCxnSpPr>
        <p:spPr>
          <a:xfrm>
            <a:off x="2933913" y="2625842"/>
            <a:ext cx="0" cy="579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14" name="Google Shape;1014;p67"/>
          <p:cNvCxnSpPr/>
          <p:nvPr/>
        </p:nvCxnSpPr>
        <p:spPr>
          <a:xfrm>
            <a:off x="5234958" y="2625842"/>
            <a:ext cx="0" cy="57900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5" name="Google Shape;1015;p67"/>
          <p:cNvSpPr txBox="1"/>
          <p:nvPr/>
        </p:nvSpPr>
        <p:spPr>
          <a:xfrm>
            <a:off x="3980367" y="2885469"/>
            <a:ext cx="208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6" name="Google Shape;1016;p67"/>
          <p:cNvGrpSpPr/>
          <p:nvPr/>
        </p:nvGrpSpPr>
        <p:grpSpPr>
          <a:xfrm>
            <a:off x="2681702" y="3910096"/>
            <a:ext cx="1028858" cy="1048961"/>
            <a:chOff x="3575602" y="4472285"/>
            <a:chExt cx="1371811" cy="1398615"/>
          </a:xfrm>
        </p:grpSpPr>
        <p:sp>
          <p:nvSpPr>
            <p:cNvPr id="1017" name="Google Shape;1017;p67"/>
            <p:cNvSpPr txBox="1"/>
            <p:nvPr/>
          </p:nvSpPr>
          <p:spPr>
            <a:xfrm>
              <a:off x="3575602" y="5491400"/>
              <a:ext cx="477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8" name="Google Shape;1018;p67"/>
            <p:cNvGrpSpPr/>
            <p:nvPr/>
          </p:nvGrpSpPr>
          <p:grpSpPr>
            <a:xfrm>
              <a:off x="3709645" y="4472285"/>
              <a:ext cx="1237768" cy="1380372"/>
              <a:chOff x="3709645" y="4472285"/>
              <a:chExt cx="1237768" cy="1380372"/>
            </a:xfrm>
          </p:grpSpPr>
          <p:grpSp>
            <p:nvGrpSpPr>
              <p:cNvPr id="1019" name="Google Shape;1019;p67"/>
              <p:cNvGrpSpPr/>
              <p:nvPr/>
            </p:nvGrpSpPr>
            <p:grpSpPr>
              <a:xfrm>
                <a:off x="3912154" y="4798523"/>
                <a:ext cx="832784" cy="741347"/>
                <a:chOff x="1822126" y="4465322"/>
                <a:chExt cx="1521900" cy="1354800"/>
              </a:xfrm>
            </p:grpSpPr>
            <p:cxnSp>
              <p:nvCxnSpPr>
                <p:cNvPr id="1020" name="Google Shape;1020;p67"/>
                <p:cNvCxnSpPr/>
                <p:nvPr/>
              </p:nvCxnSpPr>
              <p:spPr>
                <a:xfrm>
                  <a:off x="1822126" y="5813448"/>
                  <a:ext cx="1521900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1021" name="Google Shape;1021;p67"/>
                <p:cNvCxnSpPr/>
                <p:nvPr/>
              </p:nvCxnSpPr>
              <p:spPr>
                <a:xfrm rot="10800000">
                  <a:off x="1842151" y="4465322"/>
                  <a:ext cx="0" cy="13548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accent2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1022" name="Google Shape;1022;p67"/>
              <p:cNvSpPr txBox="1"/>
              <p:nvPr/>
            </p:nvSpPr>
            <p:spPr>
              <a:xfrm>
                <a:off x="4542413" y="5185757"/>
                <a:ext cx="405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x1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67"/>
              <p:cNvSpPr txBox="1"/>
              <p:nvPr/>
            </p:nvSpPr>
            <p:spPr>
              <a:xfrm>
                <a:off x="3709645" y="4472285"/>
                <a:ext cx="405000" cy="37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accent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z1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24" name="Google Shape;1024;p67"/>
          <p:cNvGrpSpPr/>
          <p:nvPr/>
        </p:nvGrpSpPr>
        <p:grpSpPr>
          <a:xfrm rot="-964153">
            <a:off x="4863990" y="3160824"/>
            <a:ext cx="928330" cy="1127579"/>
            <a:chOff x="6756244" y="4465440"/>
            <a:chExt cx="1237766" cy="1503430"/>
          </a:xfrm>
        </p:grpSpPr>
        <p:sp>
          <p:nvSpPr>
            <p:cNvPr id="1025" name="Google Shape;1025;p67"/>
            <p:cNvSpPr txBox="1"/>
            <p:nvPr/>
          </p:nvSpPr>
          <p:spPr>
            <a:xfrm>
              <a:off x="6801641" y="5589370"/>
              <a:ext cx="477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6" name="Google Shape;1026;p67"/>
            <p:cNvGrpSpPr/>
            <p:nvPr/>
          </p:nvGrpSpPr>
          <p:grpSpPr>
            <a:xfrm>
              <a:off x="6958753" y="4804273"/>
              <a:ext cx="832784" cy="741347"/>
              <a:chOff x="1822126" y="4465322"/>
              <a:chExt cx="1521900" cy="1354800"/>
            </a:xfrm>
          </p:grpSpPr>
          <p:cxnSp>
            <p:nvCxnSpPr>
              <p:cNvPr id="1027" name="Google Shape;1027;p67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28" name="Google Shape;1028;p67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29" name="Google Shape;1029;p67"/>
            <p:cNvSpPr txBox="1"/>
            <p:nvPr/>
          </p:nvSpPr>
          <p:spPr>
            <a:xfrm>
              <a:off x="7589010" y="5122068"/>
              <a:ext cx="4050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67"/>
            <p:cNvSpPr txBox="1"/>
            <p:nvPr/>
          </p:nvSpPr>
          <p:spPr>
            <a:xfrm>
              <a:off x="6756244" y="4465440"/>
              <a:ext cx="4050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p67"/>
          <p:cNvSpPr txBox="1"/>
          <p:nvPr/>
        </p:nvSpPr>
        <p:spPr>
          <a:xfrm>
            <a:off x="852962" y="3633097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7"/>
          <p:cNvSpPr/>
          <p:nvPr/>
        </p:nvSpPr>
        <p:spPr>
          <a:xfrm flipH="1" rot="9816943">
            <a:off x="2910977" y="4345057"/>
            <a:ext cx="2216405" cy="4879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7"/>
          <p:cNvSpPr txBox="1"/>
          <p:nvPr/>
        </p:nvSpPr>
        <p:spPr>
          <a:xfrm>
            <a:off x="3989093" y="4090540"/>
            <a:ext cx="208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68"/>
          <p:cNvSpPr txBox="1"/>
          <p:nvPr/>
        </p:nvSpPr>
        <p:spPr>
          <a:xfrm>
            <a:off x="655565" y="820157"/>
            <a:ext cx="1001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8"/>
          <p:cNvSpPr txBox="1"/>
          <p:nvPr/>
        </p:nvSpPr>
        <p:spPr>
          <a:xfrm>
            <a:off x="834940" y="1282988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8"/>
          <p:cNvSpPr txBox="1"/>
          <p:nvPr/>
        </p:nvSpPr>
        <p:spPr>
          <a:xfrm>
            <a:off x="894176" y="3069238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iv)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68"/>
          <p:cNvGrpSpPr/>
          <p:nvPr/>
        </p:nvGrpSpPr>
        <p:grpSpPr>
          <a:xfrm>
            <a:off x="2738205" y="1120236"/>
            <a:ext cx="2590439" cy="1054218"/>
            <a:chOff x="4026637" y="4309492"/>
            <a:chExt cx="3428320" cy="1396130"/>
          </a:xfrm>
        </p:grpSpPr>
        <p:sp>
          <p:nvSpPr>
            <p:cNvPr id="1042" name="Google Shape;1042;p68"/>
            <p:cNvSpPr txBox="1"/>
            <p:nvPr/>
          </p:nvSpPr>
          <p:spPr>
            <a:xfrm>
              <a:off x="6923377" y="5328522"/>
              <a:ext cx="4740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3" name="Google Shape;1043;p68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1044" name="Google Shape;1044;p68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45" name="Google Shape;1045;p68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46" name="Google Shape;1046;p68"/>
            <p:cNvGrpSpPr/>
            <p:nvPr/>
          </p:nvGrpSpPr>
          <p:grpSpPr>
            <a:xfrm>
              <a:off x="6307407" y="4646018"/>
              <a:ext cx="957267" cy="736334"/>
              <a:chOff x="80851" y="4465322"/>
              <a:chExt cx="1761300" cy="1354800"/>
            </a:xfrm>
          </p:grpSpPr>
          <p:cxnSp>
            <p:nvCxnSpPr>
              <p:cNvPr id="1047" name="Google Shape;1047;p68"/>
              <p:cNvCxnSpPr/>
              <p:nvPr/>
            </p:nvCxnSpPr>
            <p:spPr>
              <a:xfrm rot="10800000">
                <a:off x="80851" y="5802941"/>
                <a:ext cx="1761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48" name="Google Shape;1048;p68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49" name="Google Shape;1049;p68"/>
            <p:cNvSpPr txBox="1"/>
            <p:nvPr/>
          </p:nvSpPr>
          <p:spPr>
            <a:xfrm>
              <a:off x="4853779" y="5024943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68"/>
            <p:cNvSpPr txBox="1"/>
            <p:nvPr/>
          </p:nvSpPr>
          <p:spPr>
            <a:xfrm>
              <a:off x="6059261" y="4987535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68"/>
            <p:cNvSpPr txBox="1"/>
            <p:nvPr/>
          </p:nvSpPr>
          <p:spPr>
            <a:xfrm>
              <a:off x="4026637" y="431629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68"/>
            <p:cNvSpPr txBox="1"/>
            <p:nvPr/>
          </p:nvSpPr>
          <p:spPr>
            <a:xfrm>
              <a:off x="7052657" y="4309492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3" name="Google Shape;1053;p68"/>
          <p:cNvSpPr txBox="1"/>
          <p:nvPr/>
        </p:nvSpPr>
        <p:spPr>
          <a:xfrm>
            <a:off x="5791154" y="970198"/>
            <a:ext cx="9837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=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8"/>
          <p:cNvSpPr txBox="1"/>
          <p:nvPr/>
        </p:nvSpPr>
        <p:spPr>
          <a:xfrm>
            <a:off x="5791154" y="1282988"/>
            <a:ext cx="25536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distance between the axes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68"/>
          <p:cNvSpPr txBox="1"/>
          <p:nvPr/>
        </p:nvSpPr>
        <p:spPr>
          <a:xfrm>
            <a:off x="2651386" y="1908152"/>
            <a:ext cx="357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6" name="Google Shape;1056;p68"/>
          <p:cNvGrpSpPr/>
          <p:nvPr/>
        </p:nvGrpSpPr>
        <p:grpSpPr>
          <a:xfrm>
            <a:off x="2380251" y="3069237"/>
            <a:ext cx="2591740" cy="1520290"/>
            <a:chOff x="4037522" y="3673981"/>
            <a:chExt cx="3430042" cy="2013362"/>
          </a:xfrm>
        </p:grpSpPr>
        <p:sp>
          <p:nvSpPr>
            <p:cNvPr id="1057" name="Google Shape;1057;p68"/>
            <p:cNvSpPr txBox="1"/>
            <p:nvPr/>
          </p:nvSpPr>
          <p:spPr>
            <a:xfrm>
              <a:off x="6935984" y="4693009"/>
              <a:ext cx="4740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8" name="Google Shape;1058;p68"/>
            <p:cNvGrpSpPr/>
            <p:nvPr/>
          </p:nvGrpSpPr>
          <p:grpSpPr>
            <a:xfrm>
              <a:off x="4227770" y="4269951"/>
              <a:ext cx="827153" cy="1114610"/>
              <a:chOff x="1822126" y="3783896"/>
              <a:chExt cx="1521900" cy="2050800"/>
            </a:xfrm>
          </p:grpSpPr>
          <p:cxnSp>
            <p:nvCxnSpPr>
              <p:cNvPr id="1059" name="Google Shape;1059;p68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60" name="Google Shape;1060;p68"/>
              <p:cNvCxnSpPr>
                <a:endCxn id="1061" idx="2"/>
              </p:cNvCxnSpPr>
              <p:nvPr/>
            </p:nvCxnSpPr>
            <p:spPr>
              <a:xfrm rot="10800000">
                <a:off x="1842184" y="3783896"/>
                <a:ext cx="0" cy="2050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62" name="Google Shape;1062;p68"/>
            <p:cNvGrpSpPr/>
            <p:nvPr/>
          </p:nvGrpSpPr>
          <p:grpSpPr>
            <a:xfrm>
              <a:off x="6320013" y="4010550"/>
              <a:ext cx="957267" cy="736334"/>
              <a:chOff x="104045" y="3296107"/>
              <a:chExt cx="1761300" cy="1354800"/>
            </a:xfrm>
          </p:grpSpPr>
          <p:cxnSp>
            <p:nvCxnSpPr>
              <p:cNvPr id="1063" name="Google Shape;1063;p68"/>
              <p:cNvCxnSpPr/>
              <p:nvPr/>
            </p:nvCxnSpPr>
            <p:spPr>
              <a:xfrm rot="10800000">
                <a:off x="104045" y="4633724"/>
                <a:ext cx="1761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64" name="Google Shape;1064;p68"/>
              <p:cNvCxnSpPr/>
              <p:nvPr/>
            </p:nvCxnSpPr>
            <p:spPr>
              <a:xfrm rot="10800000">
                <a:off x="1865345" y="3296107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65" name="Google Shape;1065;p68"/>
            <p:cNvSpPr txBox="1"/>
            <p:nvPr/>
          </p:nvSpPr>
          <p:spPr>
            <a:xfrm>
              <a:off x="4853779" y="5024943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68"/>
            <p:cNvSpPr txBox="1"/>
            <p:nvPr/>
          </p:nvSpPr>
          <p:spPr>
            <a:xfrm>
              <a:off x="6071868" y="4352022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68"/>
            <p:cNvSpPr txBox="1"/>
            <p:nvPr/>
          </p:nvSpPr>
          <p:spPr>
            <a:xfrm>
              <a:off x="4037522" y="389285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68"/>
            <p:cNvSpPr txBox="1"/>
            <p:nvPr/>
          </p:nvSpPr>
          <p:spPr>
            <a:xfrm>
              <a:off x="7065264" y="3673981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8" name="Google Shape;1068;p68"/>
          <p:cNvSpPr txBox="1"/>
          <p:nvPr/>
        </p:nvSpPr>
        <p:spPr>
          <a:xfrm>
            <a:off x="2285207" y="4337027"/>
            <a:ext cx="357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9" name="Google Shape;1069;p68"/>
          <p:cNvCxnSpPr/>
          <p:nvPr/>
        </p:nvCxnSpPr>
        <p:spPr>
          <a:xfrm flipH="1" rot="10800000">
            <a:off x="2078177" y="3870795"/>
            <a:ext cx="2014800" cy="17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1070" name="Google Shape;1070;p68"/>
          <p:cNvSpPr/>
          <p:nvPr/>
        </p:nvSpPr>
        <p:spPr>
          <a:xfrm>
            <a:off x="2683993" y="3888195"/>
            <a:ext cx="54000" cy="430800"/>
          </a:xfrm>
          <a:prstGeom prst="up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68"/>
          <p:cNvSpPr txBox="1"/>
          <p:nvPr/>
        </p:nvSpPr>
        <p:spPr>
          <a:xfrm>
            <a:off x="2683993" y="3954284"/>
            <a:ext cx="237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2" name="Google Shape;1072;p68"/>
          <p:cNvCxnSpPr/>
          <p:nvPr/>
        </p:nvCxnSpPr>
        <p:spPr>
          <a:xfrm rot="10800000">
            <a:off x="2840804" y="1930520"/>
            <a:ext cx="2343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69"/>
          <p:cNvSpPr txBox="1"/>
          <p:nvPr/>
        </p:nvSpPr>
        <p:spPr>
          <a:xfrm>
            <a:off x="540629" y="780908"/>
            <a:ext cx="6693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(Link Offset)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Google Shape;1078;p69"/>
          <p:cNvSpPr txBox="1"/>
          <p:nvPr/>
        </p:nvSpPr>
        <p:spPr>
          <a:xfrm>
            <a:off x="725472" y="1303370"/>
            <a:ext cx="76929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along the z-axis from the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previous link to the next link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Towards the z-axis of the first joint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9" name="Google Shape;1079;p69"/>
          <p:cNvGrpSpPr/>
          <p:nvPr/>
        </p:nvGrpSpPr>
        <p:grpSpPr>
          <a:xfrm>
            <a:off x="2357708" y="1825030"/>
            <a:ext cx="2976283" cy="1614583"/>
            <a:chOff x="3893499" y="3567385"/>
            <a:chExt cx="3941574" cy="2138237"/>
          </a:xfrm>
        </p:grpSpPr>
        <p:grpSp>
          <p:nvGrpSpPr>
            <p:cNvPr id="1080" name="Google Shape;1080;p69"/>
            <p:cNvGrpSpPr/>
            <p:nvPr/>
          </p:nvGrpSpPr>
          <p:grpSpPr>
            <a:xfrm>
              <a:off x="3893499" y="4586416"/>
              <a:ext cx="3056853" cy="1119206"/>
              <a:chOff x="4240247" y="3299988"/>
              <a:chExt cx="3056853" cy="1119206"/>
            </a:xfrm>
          </p:grpSpPr>
          <p:sp>
            <p:nvSpPr>
              <p:cNvPr id="1081" name="Google Shape;1081;p69"/>
              <p:cNvSpPr txBox="1"/>
              <p:nvPr/>
            </p:nvSpPr>
            <p:spPr>
              <a:xfrm>
                <a:off x="4240247" y="4042094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J1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69"/>
              <p:cNvSpPr txBox="1"/>
              <p:nvPr/>
            </p:nvSpPr>
            <p:spPr>
              <a:xfrm>
                <a:off x="6823100" y="3299988"/>
                <a:ext cx="474000" cy="3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34275" lIns="68575" spcFirstLastPara="1" rIns="68575" wrap="square" tIns="3427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" sz="14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J2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83" name="Google Shape;1083;p69"/>
            <p:cNvGrpSpPr/>
            <p:nvPr/>
          </p:nvGrpSpPr>
          <p:grpSpPr>
            <a:xfrm>
              <a:off x="4223568" y="4326882"/>
              <a:ext cx="831354" cy="1057705"/>
              <a:chOff x="1814396" y="3888644"/>
              <a:chExt cx="1529630" cy="1946100"/>
            </a:xfrm>
          </p:grpSpPr>
          <p:cxnSp>
            <p:nvCxnSpPr>
              <p:cNvPr id="1084" name="Google Shape;1084;p69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85" name="Google Shape;1085;p69"/>
              <p:cNvCxnSpPr>
                <a:endCxn id="1086" idx="2"/>
              </p:cNvCxnSpPr>
              <p:nvPr/>
            </p:nvCxnSpPr>
            <p:spPr>
              <a:xfrm rot="10800000">
                <a:off x="1814396" y="3888644"/>
                <a:ext cx="27900" cy="1946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087" name="Google Shape;1087;p69"/>
            <p:cNvGrpSpPr/>
            <p:nvPr/>
          </p:nvGrpSpPr>
          <p:grpSpPr>
            <a:xfrm>
              <a:off x="6806796" y="3903963"/>
              <a:ext cx="827153" cy="736334"/>
              <a:chOff x="999690" y="3099996"/>
              <a:chExt cx="1521900" cy="1354800"/>
            </a:xfrm>
          </p:grpSpPr>
          <p:cxnSp>
            <p:nvCxnSpPr>
              <p:cNvPr id="1088" name="Google Shape;1088;p69"/>
              <p:cNvCxnSpPr/>
              <p:nvPr/>
            </p:nvCxnSpPr>
            <p:spPr>
              <a:xfrm>
                <a:off x="999690" y="4448121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089" name="Google Shape;1089;p69"/>
              <p:cNvCxnSpPr/>
              <p:nvPr/>
            </p:nvCxnSpPr>
            <p:spPr>
              <a:xfrm rot="10800000">
                <a:off x="1019714" y="3099996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090" name="Google Shape;1090;p69"/>
            <p:cNvSpPr txBox="1"/>
            <p:nvPr/>
          </p:nvSpPr>
          <p:spPr>
            <a:xfrm>
              <a:off x="4853779" y="5024943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9"/>
            <p:cNvSpPr txBox="1"/>
            <p:nvPr/>
          </p:nvSpPr>
          <p:spPr>
            <a:xfrm>
              <a:off x="7432773" y="4219579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69"/>
            <p:cNvSpPr txBox="1"/>
            <p:nvPr/>
          </p:nvSpPr>
          <p:spPr>
            <a:xfrm>
              <a:off x="4022418" y="3949782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9"/>
            <p:cNvSpPr txBox="1"/>
            <p:nvPr/>
          </p:nvSpPr>
          <p:spPr>
            <a:xfrm>
              <a:off x="6605632" y="3567385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3" name="Google Shape;1093;p69"/>
          <p:cNvSpPr txBox="1"/>
          <p:nvPr/>
        </p:nvSpPr>
        <p:spPr>
          <a:xfrm>
            <a:off x="610511" y="2026125"/>
            <a:ext cx="1001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69"/>
          <p:cNvSpPr txBox="1"/>
          <p:nvPr/>
        </p:nvSpPr>
        <p:spPr>
          <a:xfrm>
            <a:off x="875648" y="2417099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69"/>
          <p:cNvSpPr/>
          <p:nvPr/>
        </p:nvSpPr>
        <p:spPr>
          <a:xfrm rot="5400000">
            <a:off x="2648782" y="2893436"/>
            <a:ext cx="488400" cy="342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6" name="Google Shape;1096;p69"/>
          <p:cNvCxnSpPr/>
          <p:nvPr/>
        </p:nvCxnSpPr>
        <p:spPr>
          <a:xfrm rot="10800000">
            <a:off x="2183069" y="2632574"/>
            <a:ext cx="23745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  <p:sp>
        <p:nvSpPr>
          <p:cNvPr id="1097" name="Google Shape;1097;p69"/>
          <p:cNvSpPr txBox="1"/>
          <p:nvPr/>
        </p:nvSpPr>
        <p:spPr>
          <a:xfrm>
            <a:off x="2867663" y="2767105"/>
            <a:ext cx="208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69"/>
          <p:cNvSpPr txBox="1"/>
          <p:nvPr/>
        </p:nvSpPr>
        <p:spPr>
          <a:xfrm>
            <a:off x="852962" y="3633097"/>
            <a:ext cx="1321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ii)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9" name="Google Shape;1099;p69"/>
          <p:cNvGrpSpPr/>
          <p:nvPr/>
        </p:nvGrpSpPr>
        <p:grpSpPr>
          <a:xfrm>
            <a:off x="2490555" y="3671673"/>
            <a:ext cx="2590439" cy="1054218"/>
            <a:chOff x="4026637" y="4309492"/>
            <a:chExt cx="3428320" cy="1396130"/>
          </a:xfrm>
        </p:grpSpPr>
        <p:sp>
          <p:nvSpPr>
            <p:cNvPr id="1100" name="Google Shape;1100;p69"/>
            <p:cNvSpPr txBox="1"/>
            <p:nvPr/>
          </p:nvSpPr>
          <p:spPr>
            <a:xfrm>
              <a:off x="6923377" y="5328522"/>
              <a:ext cx="4740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01" name="Google Shape;1101;p69"/>
            <p:cNvGrpSpPr/>
            <p:nvPr/>
          </p:nvGrpSpPr>
          <p:grpSpPr>
            <a:xfrm>
              <a:off x="4227770" y="4640306"/>
              <a:ext cx="827153" cy="736334"/>
              <a:chOff x="1822126" y="4465322"/>
              <a:chExt cx="1521900" cy="1354800"/>
            </a:xfrm>
          </p:grpSpPr>
          <p:cxnSp>
            <p:nvCxnSpPr>
              <p:cNvPr id="1102" name="Google Shape;1102;p69"/>
              <p:cNvCxnSpPr/>
              <p:nvPr/>
            </p:nvCxnSpPr>
            <p:spPr>
              <a:xfrm>
                <a:off x="1822126" y="5813448"/>
                <a:ext cx="15219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03" name="Google Shape;1103;p69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grpSp>
          <p:nvGrpSpPr>
            <p:cNvPr id="1104" name="Google Shape;1104;p69"/>
            <p:cNvGrpSpPr/>
            <p:nvPr/>
          </p:nvGrpSpPr>
          <p:grpSpPr>
            <a:xfrm>
              <a:off x="6307407" y="4646018"/>
              <a:ext cx="957267" cy="736334"/>
              <a:chOff x="80851" y="4465322"/>
              <a:chExt cx="1761300" cy="1354800"/>
            </a:xfrm>
          </p:grpSpPr>
          <p:cxnSp>
            <p:nvCxnSpPr>
              <p:cNvPr id="1105" name="Google Shape;1105;p69"/>
              <p:cNvCxnSpPr/>
              <p:nvPr/>
            </p:nvCxnSpPr>
            <p:spPr>
              <a:xfrm rot="10800000">
                <a:off x="80851" y="5802941"/>
                <a:ext cx="17613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06" name="Google Shape;1106;p69"/>
              <p:cNvCxnSpPr/>
              <p:nvPr/>
            </p:nvCxnSpPr>
            <p:spPr>
              <a:xfrm rot="10800000">
                <a:off x="1842151" y="4465322"/>
                <a:ext cx="0" cy="13548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2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107" name="Google Shape;1107;p69"/>
            <p:cNvSpPr txBox="1"/>
            <p:nvPr/>
          </p:nvSpPr>
          <p:spPr>
            <a:xfrm>
              <a:off x="4853779" y="5024943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9"/>
            <p:cNvSpPr txBox="1"/>
            <p:nvPr/>
          </p:nvSpPr>
          <p:spPr>
            <a:xfrm>
              <a:off x="6059261" y="4987535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9"/>
            <p:cNvSpPr txBox="1"/>
            <p:nvPr/>
          </p:nvSpPr>
          <p:spPr>
            <a:xfrm>
              <a:off x="4026637" y="4316291"/>
              <a:ext cx="4023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z1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9"/>
            <p:cNvSpPr txBox="1"/>
            <p:nvPr/>
          </p:nvSpPr>
          <p:spPr>
            <a:xfrm>
              <a:off x="7052657" y="4309492"/>
              <a:ext cx="402300" cy="6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x2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1" name="Google Shape;1111;p69"/>
          <p:cNvSpPr txBox="1"/>
          <p:nvPr/>
        </p:nvSpPr>
        <p:spPr>
          <a:xfrm>
            <a:off x="2414125" y="4477643"/>
            <a:ext cx="357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2" name="Google Shape;1112;p69"/>
          <p:cNvSpPr txBox="1"/>
          <p:nvPr/>
        </p:nvSpPr>
        <p:spPr>
          <a:xfrm>
            <a:off x="5481432" y="3771596"/>
            <a:ext cx="836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 =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= 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3" name="Google Shape;1113;p69"/>
          <p:cNvCxnSpPr>
            <a:endCxn id="1111" idx="0"/>
          </p:cNvCxnSpPr>
          <p:nvPr/>
        </p:nvCxnSpPr>
        <p:spPr>
          <a:xfrm rot="10800000">
            <a:off x="2593075" y="4477643"/>
            <a:ext cx="2343600" cy="0"/>
          </a:xfrm>
          <a:prstGeom prst="straightConnector1">
            <a:avLst/>
          </a:prstGeom>
          <a:noFill/>
          <a:ln cap="flat" cmpd="sng" w="14300">
            <a:solidFill>
              <a:schemeClr val="accent1"/>
            </a:solidFill>
            <a:prstDash val="dot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0"/>
          <p:cNvSpPr txBox="1"/>
          <p:nvPr/>
        </p:nvSpPr>
        <p:spPr>
          <a:xfrm>
            <a:off x="540629" y="780908"/>
            <a:ext cx="6693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b="1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θ</a:t>
            </a: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(Joint Angle) 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0"/>
          <p:cNvSpPr txBox="1"/>
          <p:nvPr/>
        </p:nvSpPr>
        <p:spPr>
          <a:xfrm>
            <a:off x="725472" y="1303370"/>
            <a:ext cx="7692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Angle of rotation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around the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z-axis</a:t>
            </a: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needed to align with </a:t>
            </a:r>
            <a:r>
              <a:rPr b="1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x-axis of the previous link with the x-axis of the current link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passive joints, θ = 0 degree.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25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-"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active joints, if prismatic: θ = 0 degree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028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if revolute: θ = degree mentioned for the joint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70"/>
          <p:cNvSpPr txBox="1"/>
          <p:nvPr/>
        </p:nvSpPr>
        <p:spPr>
          <a:xfrm>
            <a:off x="725472" y="3082279"/>
            <a:ext cx="1001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1" name="Google Shape;1121;p7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3950" y="2553524"/>
            <a:ext cx="4336200" cy="23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70"/>
          <p:cNvSpPr/>
          <p:nvPr/>
        </p:nvSpPr>
        <p:spPr>
          <a:xfrm>
            <a:off x="4052888" y="3914775"/>
            <a:ext cx="2752800" cy="97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