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1F3B61-D1C2-4BB9-81DA-EFF38DBFFD13}">
  <a:tblStyle styleId="{8C1F3B61-D1C2-4BB9-81DA-EFF38DBFFD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5F6A080-CB0C-4E4B-955B-38ACA665072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d0f9c3ef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cd0f9c3ef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d0f9c3ef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cd0f9c3ef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d0f9c3efc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cd0f9c3efc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ecf5fe5f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ecf5fe5f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d0f9c3efc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cd0f9c3efc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d0f9c3efc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cd0f9c3efc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d0f9c3efc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cd0f9c3efc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f34c094a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f34c094a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f34c094a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bf34c094a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d0f9c3efc_0_3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cd0f9c3efc_0_3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d0f9c3efc_0_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cd0f9c3efc_0_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d0f9c3efc_0_3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3cd0f9c3efc_0_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d0f9c3efc_0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g3cd0f9c3efc_0_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d0f9c3efc_0_3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cd0f9c3efc_0_3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d0f9c3efc_0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cd0f9c3efc_0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d0f9c3efc_0_3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cd0f9c3efc_0_3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f34c094a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bf34c094a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53a1e219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c53a1e219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f3a826a5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bf3a826a5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f3a826a5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bf3a826a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c4f695d6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cc4f695d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3a826a5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f3a826a5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34c094a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bf34c094a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3a826a5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bf3a826a5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3a826a5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f3a826a5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c4f695d6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cc4f695d6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c4f695d6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c4f695d6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3a826a5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bf3a826a5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bf3a826a5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bf3a826a5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bf3a826a5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bf3a826a5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0" y="1740550"/>
            <a:ext cx="459120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hyperlink" Target="https://harry7557558.github.io/tools/matrixv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Robotics </a:t>
            </a:r>
            <a:r>
              <a:rPr lang="en"/>
              <a:t>Kinematics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/>
        </p:nvSpPr>
        <p:spPr>
          <a:xfrm>
            <a:off x="540628" y="603626"/>
            <a:ext cx="2773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Kinematics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540629" y="1222024"/>
            <a:ext cx="7896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determining the position and orientation of a robot's end effector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joint parameters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(angles for revolute joints, displacements for prismatic joints)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27"/>
          <p:cNvGrpSpPr/>
          <p:nvPr/>
        </p:nvGrpSpPr>
        <p:grpSpPr>
          <a:xfrm>
            <a:off x="2504128" y="1932755"/>
            <a:ext cx="3684518" cy="346275"/>
            <a:chOff x="2569663" y="2661514"/>
            <a:chExt cx="4912690" cy="461700"/>
          </a:xfrm>
        </p:grpSpPr>
        <p:sp>
          <p:nvSpPr>
            <p:cNvPr id="144" name="Google Shape;144;p27"/>
            <p:cNvSpPr txBox="1"/>
            <p:nvPr/>
          </p:nvSpPr>
          <p:spPr>
            <a:xfrm>
              <a:off x="2569663" y="2661514"/>
              <a:ext cx="1712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Joint angles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7"/>
            <p:cNvSpPr txBox="1"/>
            <p:nvPr/>
          </p:nvSpPr>
          <p:spPr>
            <a:xfrm>
              <a:off x="6633653" y="2661514"/>
              <a:ext cx="84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x, y, z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4510033" y="2810070"/>
              <a:ext cx="1521600" cy="186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8E2F3"/>
            </a:solidFill>
            <a:ln cap="flat" cmpd="sng" w="9525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27"/>
          <p:cNvSpPr txBox="1"/>
          <p:nvPr/>
        </p:nvSpPr>
        <p:spPr>
          <a:xfrm>
            <a:off x="540629" y="2694531"/>
            <a:ext cx="75399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 in robotics to control and predict the movement of robotic arms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 for tasks like positioning, navigation, and manipulation in automated systems.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540628" y="603626"/>
            <a:ext cx="2773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Kinematics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28"/>
          <p:cNvGrpSpPr/>
          <p:nvPr/>
        </p:nvGrpSpPr>
        <p:grpSpPr>
          <a:xfrm rot="-1195992">
            <a:off x="2899414" y="1730745"/>
            <a:ext cx="3235506" cy="963742"/>
            <a:chOff x="4281643" y="3777541"/>
            <a:chExt cx="3664661" cy="1091530"/>
          </a:xfrm>
        </p:grpSpPr>
        <p:sp>
          <p:nvSpPr>
            <p:cNvPr id="154" name="Google Shape;154;p28"/>
            <p:cNvSpPr/>
            <p:nvPr/>
          </p:nvSpPr>
          <p:spPr>
            <a:xfrm>
              <a:off x="4536210" y="3874288"/>
              <a:ext cx="3034200" cy="364500"/>
            </a:xfrm>
            <a:prstGeom prst="rect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12" scaled="0"/>
            </a:gradFill>
            <a:ln cap="flat" cmpd="sng" w="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8"/>
            <p:cNvSpPr/>
            <p:nvPr/>
          </p:nvSpPr>
          <p:spPr>
            <a:xfrm>
              <a:off x="7309668" y="3796095"/>
              <a:ext cx="585900" cy="5859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rgbClr val="2F491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4281643" y="3777541"/>
              <a:ext cx="585900" cy="5859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rgbClr val="2F491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8"/>
            <p:cNvSpPr txBox="1"/>
            <p:nvPr/>
          </p:nvSpPr>
          <p:spPr>
            <a:xfrm rot="1196941">
              <a:off x="4363279" y="4461610"/>
              <a:ext cx="473938" cy="322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8"/>
            <p:cNvSpPr txBox="1"/>
            <p:nvPr/>
          </p:nvSpPr>
          <p:spPr>
            <a:xfrm rot="1196941">
              <a:off x="7431535" y="4475529"/>
              <a:ext cx="473938" cy="322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28"/>
          <p:cNvGrpSpPr/>
          <p:nvPr/>
        </p:nvGrpSpPr>
        <p:grpSpPr>
          <a:xfrm>
            <a:off x="2873031" y="1569712"/>
            <a:ext cx="1290617" cy="1131229"/>
            <a:chOff x="7120948" y="3570956"/>
            <a:chExt cx="1461793" cy="1281265"/>
          </a:xfrm>
        </p:grpSpPr>
        <p:grpSp>
          <p:nvGrpSpPr>
            <p:cNvPr id="160" name="Google Shape;160;p28"/>
            <p:cNvGrpSpPr/>
            <p:nvPr/>
          </p:nvGrpSpPr>
          <p:grpSpPr>
            <a:xfrm>
              <a:off x="7447005" y="3871726"/>
              <a:ext cx="827153" cy="736334"/>
              <a:chOff x="1822126" y="4465322"/>
              <a:chExt cx="1521900" cy="1354800"/>
            </a:xfrm>
          </p:grpSpPr>
          <p:cxnSp>
            <p:nvCxnSpPr>
              <p:cNvPr id="161" name="Google Shape;161;p28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62" name="Google Shape;162;p28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63" name="Google Shape;163;p28"/>
            <p:cNvSpPr txBox="1"/>
            <p:nvPr/>
          </p:nvSpPr>
          <p:spPr>
            <a:xfrm>
              <a:off x="8180441" y="4529721"/>
              <a:ext cx="402300" cy="3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8"/>
            <p:cNvSpPr txBox="1"/>
            <p:nvPr/>
          </p:nvSpPr>
          <p:spPr>
            <a:xfrm>
              <a:off x="7120948" y="3570956"/>
              <a:ext cx="402300" cy="3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28"/>
          <p:cNvGrpSpPr/>
          <p:nvPr/>
        </p:nvGrpSpPr>
        <p:grpSpPr>
          <a:xfrm>
            <a:off x="5427455" y="665712"/>
            <a:ext cx="1257860" cy="1158073"/>
            <a:chOff x="8878437" y="1999154"/>
            <a:chExt cx="1424691" cy="1311670"/>
          </a:xfrm>
        </p:grpSpPr>
        <p:grpSp>
          <p:nvGrpSpPr>
            <p:cNvPr id="166" name="Google Shape;166;p28"/>
            <p:cNvGrpSpPr/>
            <p:nvPr/>
          </p:nvGrpSpPr>
          <p:grpSpPr>
            <a:xfrm>
              <a:off x="9171504" y="2315076"/>
              <a:ext cx="827153" cy="736334"/>
              <a:chOff x="1822126" y="4465322"/>
              <a:chExt cx="1521900" cy="1354800"/>
            </a:xfrm>
          </p:grpSpPr>
          <p:cxnSp>
            <p:nvCxnSpPr>
              <p:cNvPr id="167" name="Google Shape;167;p28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68" name="Google Shape;168;p28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69" name="Google Shape;169;p28"/>
            <p:cNvSpPr txBox="1"/>
            <p:nvPr/>
          </p:nvSpPr>
          <p:spPr>
            <a:xfrm>
              <a:off x="9900828" y="2988324"/>
              <a:ext cx="402300" cy="3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8"/>
            <p:cNvSpPr txBox="1"/>
            <p:nvPr/>
          </p:nvSpPr>
          <p:spPr>
            <a:xfrm>
              <a:off x="8878437" y="1999154"/>
              <a:ext cx="402300" cy="3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p28"/>
          <p:cNvSpPr/>
          <p:nvPr/>
        </p:nvSpPr>
        <p:spPr>
          <a:xfrm>
            <a:off x="5985247" y="1108451"/>
            <a:ext cx="45600" cy="53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5985247" y="935653"/>
            <a:ext cx="35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(2,3)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662923" y="3218758"/>
            <a:ext cx="79026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point (2, 3) is referenced in the coordinate frame of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joint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goal is to find the end </a:t>
            </a: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effector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position relative to the base frame.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/>
        </p:nvSpPr>
        <p:spPr>
          <a:xfrm>
            <a:off x="540628" y="603626"/>
            <a:ext cx="2773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Kinematics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551458" y="1209450"/>
            <a:ext cx="42270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point (x, y) is referenced in the frame of the (iii) joint.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(x, y) relative to the (i) joint.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29"/>
          <p:cNvGrpSpPr/>
          <p:nvPr/>
        </p:nvGrpSpPr>
        <p:grpSpPr>
          <a:xfrm>
            <a:off x="5056971" y="638692"/>
            <a:ext cx="3909678" cy="3283044"/>
            <a:chOff x="6997712" y="967476"/>
            <a:chExt cx="4720123" cy="3963593"/>
          </a:xfrm>
        </p:grpSpPr>
        <p:sp>
          <p:nvSpPr>
            <p:cNvPr id="181" name="Google Shape;181;p29"/>
            <p:cNvSpPr/>
            <p:nvPr/>
          </p:nvSpPr>
          <p:spPr>
            <a:xfrm>
              <a:off x="7085609" y="3770092"/>
              <a:ext cx="734700" cy="9849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9525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2" name="Google Shape;182;p29"/>
            <p:cNvGrpSpPr/>
            <p:nvPr/>
          </p:nvGrpSpPr>
          <p:grpSpPr>
            <a:xfrm>
              <a:off x="6997712" y="2461197"/>
              <a:ext cx="4013820" cy="2469872"/>
              <a:chOff x="2847729" y="2055309"/>
              <a:chExt cx="4013820" cy="2469872"/>
            </a:xfrm>
          </p:grpSpPr>
          <p:grpSp>
            <p:nvGrpSpPr>
              <p:cNvPr id="183" name="Google Shape;183;p29"/>
              <p:cNvGrpSpPr/>
              <p:nvPr/>
            </p:nvGrpSpPr>
            <p:grpSpPr>
              <a:xfrm>
                <a:off x="6296160" y="2055309"/>
                <a:ext cx="565389" cy="225000"/>
                <a:chOff x="6256775" y="2060856"/>
                <a:chExt cx="565389" cy="225000"/>
              </a:xfrm>
            </p:grpSpPr>
            <p:sp>
              <p:nvSpPr>
                <p:cNvPr id="184" name="Google Shape;184;p29"/>
                <p:cNvSpPr/>
                <p:nvPr/>
              </p:nvSpPr>
              <p:spPr>
                <a:xfrm rot="-1565286">
                  <a:off x="6250421" y="2142831"/>
                  <a:ext cx="386808" cy="61048"/>
                </a:xfrm>
                <a:prstGeom prst="rect">
                  <a:avLst/>
                </a:prstGeom>
                <a:gradFill>
                  <a:gsLst>
                    <a:gs pos="0">
                      <a:srgbClr val="B0CAE9"/>
                    </a:gs>
                    <a:gs pos="50000">
                      <a:srgbClr val="A1C1E4"/>
                    </a:gs>
                    <a:gs pos="100000">
                      <a:srgbClr val="90B8E4"/>
                    </a:gs>
                  </a:gsLst>
                  <a:lin ang="5400012" scaled="0"/>
                </a:gradFill>
                <a:ln cap="flat" cmpd="sng" w="7150">
                  <a:solidFill>
                    <a:schemeClr val="accent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29"/>
                <p:cNvSpPr/>
                <p:nvPr/>
              </p:nvSpPr>
              <p:spPr>
                <a:xfrm rot="1385633">
                  <a:off x="6585564" y="2106821"/>
                  <a:ext cx="237100" cy="45695"/>
                </a:xfrm>
                <a:prstGeom prst="rect">
                  <a:avLst/>
                </a:prstGeom>
                <a:gradFill>
                  <a:gsLst>
                    <a:gs pos="0">
                      <a:srgbClr val="B0CAE9"/>
                    </a:gs>
                    <a:gs pos="50000">
                      <a:srgbClr val="A1C1E4"/>
                    </a:gs>
                    <a:gs pos="100000">
                      <a:srgbClr val="90B8E4"/>
                    </a:gs>
                  </a:gsLst>
                  <a:lin ang="5400012" scaled="0"/>
                </a:gradFill>
                <a:ln cap="flat" cmpd="sng" w="7150">
                  <a:solidFill>
                    <a:schemeClr val="accent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6" name="Google Shape;186;p29"/>
              <p:cNvGrpSpPr/>
              <p:nvPr/>
            </p:nvGrpSpPr>
            <p:grpSpPr>
              <a:xfrm flipH="1" rot="-10481807">
                <a:off x="6283723" y="2394648"/>
                <a:ext cx="536476" cy="213494"/>
                <a:chOff x="6256775" y="2060856"/>
                <a:chExt cx="565389" cy="225000"/>
              </a:xfrm>
            </p:grpSpPr>
            <p:sp>
              <p:nvSpPr>
                <p:cNvPr id="187" name="Google Shape;187;p29"/>
                <p:cNvSpPr/>
                <p:nvPr/>
              </p:nvSpPr>
              <p:spPr>
                <a:xfrm rot="-1565286">
                  <a:off x="6250421" y="2142831"/>
                  <a:ext cx="386808" cy="61048"/>
                </a:xfrm>
                <a:prstGeom prst="rect">
                  <a:avLst/>
                </a:prstGeom>
                <a:gradFill>
                  <a:gsLst>
                    <a:gs pos="0">
                      <a:srgbClr val="B0CAE9"/>
                    </a:gs>
                    <a:gs pos="50000">
                      <a:srgbClr val="A1C1E4"/>
                    </a:gs>
                    <a:gs pos="100000">
                      <a:srgbClr val="90B8E4"/>
                    </a:gs>
                  </a:gsLst>
                  <a:lin ang="5400012" scaled="0"/>
                </a:gradFill>
                <a:ln cap="flat" cmpd="sng" w="7150">
                  <a:solidFill>
                    <a:schemeClr val="accent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29"/>
                <p:cNvSpPr/>
                <p:nvPr/>
              </p:nvSpPr>
              <p:spPr>
                <a:xfrm rot="1385633">
                  <a:off x="6585564" y="2106821"/>
                  <a:ext cx="237100" cy="45695"/>
                </a:xfrm>
                <a:prstGeom prst="rect">
                  <a:avLst/>
                </a:prstGeom>
                <a:gradFill>
                  <a:gsLst>
                    <a:gs pos="0">
                      <a:srgbClr val="B0CAE9"/>
                    </a:gs>
                    <a:gs pos="50000">
                      <a:srgbClr val="A1C1E4"/>
                    </a:gs>
                    <a:gs pos="100000">
                      <a:srgbClr val="90B8E4"/>
                    </a:gs>
                  </a:gsLst>
                  <a:lin ang="5400012" scaled="0"/>
                </a:gradFill>
                <a:ln cap="flat" cmpd="sng" w="7150">
                  <a:solidFill>
                    <a:schemeClr val="accent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9" name="Google Shape;189;p29"/>
              <p:cNvGrpSpPr/>
              <p:nvPr/>
            </p:nvGrpSpPr>
            <p:grpSpPr>
              <a:xfrm>
                <a:off x="4468904" y="2185998"/>
                <a:ext cx="2157542" cy="719790"/>
                <a:chOff x="4536210" y="3796095"/>
                <a:chExt cx="3818659" cy="1273965"/>
              </a:xfrm>
            </p:grpSpPr>
            <p:sp>
              <p:nvSpPr>
                <p:cNvPr id="190" name="Google Shape;190;p29"/>
                <p:cNvSpPr/>
                <p:nvPr/>
              </p:nvSpPr>
              <p:spPr>
                <a:xfrm>
                  <a:off x="4536210" y="3874288"/>
                  <a:ext cx="3034200" cy="364500"/>
                </a:xfrm>
                <a:prstGeom prst="rect">
                  <a:avLst/>
                </a:prstGeom>
                <a:gradFill>
                  <a:gsLst>
                    <a:gs pos="0">
                      <a:srgbClr val="B0CAE9"/>
                    </a:gs>
                    <a:gs pos="50000">
                      <a:srgbClr val="A1C1E4"/>
                    </a:gs>
                    <a:gs pos="100000">
                      <a:srgbClr val="90B8E4"/>
                    </a:gs>
                  </a:gsLst>
                  <a:lin ang="5400012" scaled="0"/>
                </a:gradFill>
                <a:ln cap="flat" cmpd="sng" w="7150">
                  <a:solidFill>
                    <a:schemeClr val="accent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29"/>
                <p:cNvSpPr/>
                <p:nvPr/>
              </p:nvSpPr>
              <p:spPr>
                <a:xfrm>
                  <a:off x="7309668" y="3796095"/>
                  <a:ext cx="585900" cy="585900"/>
                </a:xfrm>
                <a:prstGeom prst="ellipse">
                  <a:avLst/>
                </a:prstGeom>
                <a:solidFill>
                  <a:schemeClr val="accent6"/>
                </a:solidFill>
                <a:ln cap="flat" cmpd="sng" w="9525">
                  <a:solidFill>
                    <a:srgbClr val="2F491D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29"/>
                <p:cNvSpPr txBox="1"/>
                <p:nvPr/>
              </p:nvSpPr>
              <p:spPr>
                <a:xfrm>
                  <a:off x="7392169" y="4461660"/>
                  <a:ext cx="962700" cy="608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" sz="14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(iii)</a:t>
                  </a:r>
                  <a:endParaRPr b="0" i="0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3" name="Google Shape;193;p29"/>
              <p:cNvGrpSpPr/>
              <p:nvPr/>
            </p:nvGrpSpPr>
            <p:grpSpPr>
              <a:xfrm rot="-2968740">
                <a:off x="2759302" y="2846342"/>
                <a:ext cx="2460962" cy="901321"/>
                <a:chOff x="3624690" y="3777541"/>
                <a:chExt cx="4355632" cy="1595240"/>
              </a:xfrm>
            </p:grpSpPr>
            <p:sp>
              <p:nvSpPr>
                <p:cNvPr id="194" name="Google Shape;194;p29"/>
                <p:cNvSpPr/>
                <p:nvPr/>
              </p:nvSpPr>
              <p:spPr>
                <a:xfrm>
                  <a:off x="4536210" y="3874288"/>
                  <a:ext cx="3034200" cy="364500"/>
                </a:xfrm>
                <a:prstGeom prst="rect">
                  <a:avLst/>
                </a:prstGeom>
                <a:gradFill>
                  <a:gsLst>
                    <a:gs pos="0">
                      <a:srgbClr val="B0CAE9"/>
                    </a:gs>
                    <a:gs pos="50000">
                      <a:srgbClr val="A1C1E4"/>
                    </a:gs>
                    <a:gs pos="100000">
                      <a:srgbClr val="90B8E4"/>
                    </a:gs>
                  </a:gsLst>
                  <a:lin ang="5400012" scaled="0"/>
                </a:gradFill>
                <a:ln cap="flat" cmpd="sng" w="7150">
                  <a:solidFill>
                    <a:schemeClr val="accent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29"/>
                <p:cNvSpPr/>
                <p:nvPr/>
              </p:nvSpPr>
              <p:spPr>
                <a:xfrm>
                  <a:off x="7309668" y="3796095"/>
                  <a:ext cx="585900" cy="585900"/>
                </a:xfrm>
                <a:prstGeom prst="ellipse">
                  <a:avLst/>
                </a:prstGeom>
                <a:solidFill>
                  <a:schemeClr val="accent6"/>
                </a:solidFill>
                <a:ln cap="flat" cmpd="sng" w="9525">
                  <a:solidFill>
                    <a:srgbClr val="2F491D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29"/>
                <p:cNvSpPr/>
                <p:nvPr/>
              </p:nvSpPr>
              <p:spPr>
                <a:xfrm>
                  <a:off x="4281643" y="3777541"/>
                  <a:ext cx="585900" cy="585900"/>
                </a:xfrm>
                <a:prstGeom prst="ellipse">
                  <a:avLst/>
                </a:prstGeom>
                <a:solidFill>
                  <a:schemeClr val="accent6"/>
                </a:solidFill>
                <a:ln cap="flat" cmpd="sng" w="9525">
                  <a:solidFill>
                    <a:srgbClr val="2F491D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29"/>
                <p:cNvSpPr txBox="1"/>
                <p:nvPr/>
              </p:nvSpPr>
              <p:spPr>
                <a:xfrm rot="2967815">
                  <a:off x="3735135" y="4171399"/>
                  <a:ext cx="689612" cy="6083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" sz="14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</a:t>
                  </a:r>
                  <a:endParaRPr b="0" i="0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29"/>
                <p:cNvSpPr txBox="1"/>
                <p:nvPr/>
              </p:nvSpPr>
              <p:spPr>
                <a:xfrm rot="2968454">
                  <a:off x="6955113" y="4505067"/>
                  <a:ext cx="962619" cy="6083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" sz="14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(ii)</a:t>
                  </a:r>
                  <a:endParaRPr b="0" i="0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9" name="Google Shape;199;p29"/>
            <p:cNvGrpSpPr/>
            <p:nvPr/>
          </p:nvGrpSpPr>
          <p:grpSpPr>
            <a:xfrm rot="-1854319">
              <a:off x="9769376" y="1277672"/>
              <a:ext cx="1652618" cy="1608824"/>
              <a:chOff x="7230938" y="3539126"/>
              <a:chExt cx="1403935" cy="1366731"/>
            </a:xfrm>
          </p:grpSpPr>
          <p:grpSp>
            <p:nvGrpSpPr>
              <p:cNvPr id="200" name="Google Shape;200;p29"/>
              <p:cNvGrpSpPr/>
              <p:nvPr/>
            </p:nvGrpSpPr>
            <p:grpSpPr>
              <a:xfrm>
                <a:off x="7447005" y="3871726"/>
                <a:ext cx="827153" cy="736334"/>
                <a:chOff x="1822126" y="4465322"/>
                <a:chExt cx="1521900" cy="1354800"/>
              </a:xfrm>
            </p:grpSpPr>
            <p:cxnSp>
              <p:nvCxnSpPr>
                <p:cNvPr id="201" name="Google Shape;201;p29"/>
                <p:cNvCxnSpPr/>
                <p:nvPr/>
              </p:nvCxnSpPr>
              <p:spPr>
                <a:xfrm>
                  <a:off x="1822126" y="5813448"/>
                  <a:ext cx="1521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02" name="Google Shape;202;p29"/>
                <p:cNvCxnSpPr/>
                <p:nvPr/>
              </p:nvCxnSpPr>
              <p:spPr>
                <a:xfrm rot="10800000">
                  <a:off x="1842151" y="4465322"/>
                  <a:ext cx="0" cy="1354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03" name="Google Shape;203;p29"/>
              <p:cNvSpPr txBox="1"/>
              <p:nvPr/>
            </p:nvSpPr>
            <p:spPr>
              <a:xfrm rot="1854309">
                <a:off x="8186003" y="4531269"/>
                <a:ext cx="402439" cy="291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x3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9"/>
              <p:cNvSpPr txBox="1"/>
              <p:nvPr/>
            </p:nvSpPr>
            <p:spPr>
              <a:xfrm rot="1854309">
                <a:off x="7277368" y="3621738"/>
                <a:ext cx="402439" cy="291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y3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29"/>
            <p:cNvGrpSpPr/>
            <p:nvPr/>
          </p:nvGrpSpPr>
          <p:grpSpPr>
            <a:xfrm rot="-3003196">
              <a:off x="7798720" y="1345004"/>
              <a:ext cx="1588614" cy="1593081"/>
              <a:chOff x="8853195" y="1849243"/>
              <a:chExt cx="1626032" cy="1630604"/>
            </a:xfrm>
          </p:grpSpPr>
          <p:grpSp>
            <p:nvGrpSpPr>
              <p:cNvPr id="206" name="Google Shape;206;p29"/>
              <p:cNvGrpSpPr/>
              <p:nvPr/>
            </p:nvGrpSpPr>
            <p:grpSpPr>
              <a:xfrm>
                <a:off x="9171503" y="2315076"/>
                <a:ext cx="827153" cy="736334"/>
                <a:chOff x="1822123" y="4465322"/>
                <a:chExt cx="1521900" cy="1354800"/>
              </a:xfrm>
            </p:grpSpPr>
            <p:cxnSp>
              <p:nvCxnSpPr>
                <p:cNvPr id="207" name="Google Shape;207;p29"/>
                <p:cNvCxnSpPr/>
                <p:nvPr/>
              </p:nvCxnSpPr>
              <p:spPr>
                <a:xfrm>
                  <a:off x="1822123" y="5813449"/>
                  <a:ext cx="1521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08" name="Google Shape;208;p29"/>
                <p:cNvCxnSpPr/>
                <p:nvPr/>
              </p:nvCxnSpPr>
              <p:spPr>
                <a:xfrm rot="10800000">
                  <a:off x="1842151" y="4465322"/>
                  <a:ext cx="0" cy="1354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09" name="Google Shape;209;p29"/>
              <p:cNvSpPr txBox="1"/>
              <p:nvPr/>
            </p:nvSpPr>
            <p:spPr>
              <a:xfrm rot="3002911">
                <a:off x="9910915" y="2988644"/>
                <a:ext cx="527923" cy="3518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x2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9"/>
              <p:cNvSpPr txBox="1"/>
              <p:nvPr/>
            </p:nvSpPr>
            <p:spPr>
              <a:xfrm rot="3003354">
                <a:off x="8888525" y="1999439"/>
                <a:ext cx="556040" cy="3518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y2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1" name="Google Shape;211;p29"/>
            <p:cNvSpPr txBox="1"/>
            <p:nvPr/>
          </p:nvSpPr>
          <p:spPr>
            <a:xfrm>
              <a:off x="10708337" y="2560378"/>
              <a:ext cx="9501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C55A11"/>
                  </a:solidFill>
                  <a:latin typeface="Calibri"/>
                  <a:ea typeface="Calibri"/>
                  <a:cs typeface="Calibri"/>
                  <a:sym typeface="Calibri"/>
                </a:rPr>
                <a:t>(x, y)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" name="Google Shape;212;p29"/>
            <p:cNvGrpSpPr/>
            <p:nvPr/>
          </p:nvGrpSpPr>
          <p:grpSpPr>
            <a:xfrm>
              <a:off x="7065546" y="2846614"/>
              <a:ext cx="1720823" cy="1472283"/>
              <a:chOff x="7120948" y="3570956"/>
              <a:chExt cx="1461793" cy="1250665"/>
            </a:xfrm>
          </p:grpSpPr>
          <p:grpSp>
            <p:nvGrpSpPr>
              <p:cNvPr id="213" name="Google Shape;213;p29"/>
              <p:cNvGrpSpPr/>
              <p:nvPr/>
            </p:nvGrpSpPr>
            <p:grpSpPr>
              <a:xfrm>
                <a:off x="7447005" y="3871726"/>
                <a:ext cx="827153" cy="736334"/>
                <a:chOff x="1822126" y="4465322"/>
                <a:chExt cx="1521900" cy="1354800"/>
              </a:xfrm>
            </p:grpSpPr>
            <p:cxnSp>
              <p:nvCxnSpPr>
                <p:cNvPr id="214" name="Google Shape;214;p29"/>
                <p:cNvCxnSpPr/>
                <p:nvPr/>
              </p:nvCxnSpPr>
              <p:spPr>
                <a:xfrm>
                  <a:off x="1822126" y="5813448"/>
                  <a:ext cx="1521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15" name="Google Shape;215;p29"/>
                <p:cNvCxnSpPr/>
                <p:nvPr/>
              </p:nvCxnSpPr>
              <p:spPr>
                <a:xfrm rot="10800000">
                  <a:off x="1842151" y="4465322"/>
                  <a:ext cx="0" cy="1354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16" name="Google Shape;216;p29"/>
              <p:cNvSpPr txBox="1"/>
              <p:nvPr/>
            </p:nvSpPr>
            <p:spPr>
              <a:xfrm>
                <a:off x="8180441" y="4529721"/>
                <a:ext cx="402300" cy="29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9"/>
              <p:cNvSpPr txBox="1"/>
              <p:nvPr/>
            </p:nvSpPr>
            <p:spPr>
              <a:xfrm>
                <a:off x="7120948" y="3570956"/>
                <a:ext cx="402300" cy="29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8" name="Google Shape;218;p29"/>
          <p:cNvSpPr txBox="1"/>
          <p:nvPr/>
        </p:nvSpPr>
        <p:spPr>
          <a:xfrm>
            <a:off x="529663" y="2255390"/>
            <a:ext cx="4572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transformations are only possible between adjacent coordinate frames. Therefore, this is a sequential process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29"/>
          <p:cNvGrpSpPr/>
          <p:nvPr/>
        </p:nvGrpSpPr>
        <p:grpSpPr>
          <a:xfrm>
            <a:off x="1150238" y="3242550"/>
            <a:ext cx="3521085" cy="284625"/>
            <a:chOff x="1192872" y="4190597"/>
            <a:chExt cx="3870600" cy="379500"/>
          </a:xfrm>
        </p:grpSpPr>
        <p:sp>
          <p:nvSpPr>
            <p:cNvPr id="220" name="Google Shape;220;p29"/>
            <p:cNvSpPr txBox="1"/>
            <p:nvPr/>
          </p:nvSpPr>
          <p:spPr>
            <a:xfrm>
              <a:off x="1192872" y="4190597"/>
              <a:ext cx="38706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(x3, y3)               (x2, y2)               (x1, y1)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1" name="Google Shape;221;p29"/>
            <p:cNvCxnSpPr/>
            <p:nvPr/>
          </p:nvCxnSpPr>
          <p:spPr>
            <a:xfrm>
              <a:off x="1904967" y="4379168"/>
              <a:ext cx="584700" cy="0"/>
            </a:xfrm>
            <a:prstGeom prst="straightConnector1">
              <a:avLst/>
            </a:prstGeom>
            <a:noFill/>
            <a:ln cap="flat" cmpd="sng" w="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2" name="Google Shape;222;p29"/>
            <p:cNvCxnSpPr/>
            <p:nvPr/>
          </p:nvCxnSpPr>
          <p:spPr>
            <a:xfrm>
              <a:off x="3136556" y="4379168"/>
              <a:ext cx="584700" cy="0"/>
            </a:xfrm>
            <a:prstGeom prst="straightConnector1">
              <a:avLst/>
            </a:prstGeom>
            <a:noFill/>
            <a:ln cap="flat" cmpd="sng" w="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23" name="Google Shape;223;p29"/>
          <p:cNvSpPr txBox="1"/>
          <p:nvPr/>
        </p:nvSpPr>
        <p:spPr>
          <a:xfrm>
            <a:off x="540625" y="3893525"/>
            <a:ext cx="6493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joint, we need to do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transformation.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Transformation is done using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 Transformation Matrix for a single joint</a:t>
            </a:r>
            <a:endParaRPr/>
          </a:p>
        </p:txBody>
      </p:sp>
      <p:pic>
        <p:nvPicPr>
          <p:cNvPr id="229" name="Google Shape;229;p30" title="Screenshot from 2026-02-21 03-20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75" y="1017725"/>
            <a:ext cx="595015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/>
        </p:nvSpPr>
        <p:spPr>
          <a:xfrm>
            <a:off x="540628" y="603626"/>
            <a:ext cx="4900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Matrix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551457" y="1209450"/>
            <a:ext cx="8130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homogeneous matrix is a mathematical tool used to represent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points in projective space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allows us to perform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geometric transformations (like translation, rotation, and scaling)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unified way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540628" y="2407706"/>
            <a:ext cx="827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 a 4x4 matrix used to perform transformations in 3D space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540628" y="1986548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1"/>
          <p:cNvSpPr txBox="1"/>
          <p:nvPr/>
        </p:nvSpPr>
        <p:spPr>
          <a:xfrm>
            <a:off x="3133919" y="2913578"/>
            <a:ext cx="2876100" cy="10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030" l="-47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/>
        </p:nvSpPr>
        <p:spPr>
          <a:xfrm>
            <a:off x="540628" y="603626"/>
            <a:ext cx="4900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551457" y="1209450"/>
            <a:ext cx="813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4x4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matrix used in robotics and computer graphics to represent both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rotation and translation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3D space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540628" y="1699858"/>
            <a:ext cx="8272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allows us to combine these complex transformations into a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matrix multiplication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simplifying the calculation of a robot's end effector position and orientation in space.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2"/>
          <p:cNvSpPr txBox="1"/>
          <p:nvPr/>
        </p:nvSpPr>
        <p:spPr>
          <a:xfrm>
            <a:off x="2627460" y="2888423"/>
            <a:ext cx="4622400" cy="10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0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551457" y="2509062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7354855" y="3076007"/>
            <a:ext cx="685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-&gt; cos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-&gt; sin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/>
        </p:nvSpPr>
        <p:spPr>
          <a:xfrm>
            <a:off x="540628" y="603626"/>
            <a:ext cx="4900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3"/>
          <p:cNvSpPr txBox="1"/>
          <p:nvPr/>
        </p:nvSpPr>
        <p:spPr>
          <a:xfrm>
            <a:off x="551457" y="1209450"/>
            <a:ext cx="813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4x4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matrix used in robotics and computer graphics to represent both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rotation and translation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3D space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540628" y="1699858"/>
            <a:ext cx="8272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allows us to combine these complex transformations into a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matrix multiplication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simplifying the calculation of a robot's end effector position and orientation in space.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2627460" y="2888423"/>
            <a:ext cx="4622400" cy="10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0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3"/>
          <p:cNvSpPr txBox="1"/>
          <p:nvPr/>
        </p:nvSpPr>
        <p:spPr>
          <a:xfrm>
            <a:off x="551457" y="2509062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/>
        </p:nvSpPr>
        <p:spPr>
          <a:xfrm>
            <a:off x="7354855" y="3076007"/>
            <a:ext cx="685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-&gt; cos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-&gt; sin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3116425" y="2888423"/>
            <a:ext cx="2324700" cy="8112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5546180" y="2888423"/>
            <a:ext cx="537300" cy="811200"/>
          </a:xfrm>
          <a:prstGeom prst="rect">
            <a:avLst/>
          </a:prstGeom>
          <a:noFill/>
          <a:ln cap="flat" cmpd="sng" w="21425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33"/>
          <p:cNvCxnSpPr/>
          <p:nvPr/>
        </p:nvCxnSpPr>
        <p:spPr>
          <a:xfrm flipH="1" rot="10800000">
            <a:off x="5976257" y="2679023"/>
            <a:ext cx="312600" cy="209400"/>
          </a:xfrm>
          <a:prstGeom prst="straightConnector1">
            <a:avLst/>
          </a:prstGeom>
          <a:noFill/>
          <a:ln cap="flat" cmpd="sng" w="7150">
            <a:solidFill>
              <a:srgbClr val="00FF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2" name="Google Shape;262;p33"/>
          <p:cNvCxnSpPr/>
          <p:nvPr/>
        </p:nvCxnSpPr>
        <p:spPr>
          <a:xfrm rot="10800000">
            <a:off x="2991025" y="2679027"/>
            <a:ext cx="125400" cy="197100"/>
          </a:xfrm>
          <a:prstGeom prst="straightConnector1">
            <a:avLst/>
          </a:prstGeom>
          <a:noFill/>
          <a:ln cap="flat" cmpd="sng" w="71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3" name="Google Shape;263;p33"/>
          <p:cNvSpPr txBox="1"/>
          <p:nvPr/>
        </p:nvSpPr>
        <p:spPr>
          <a:xfrm>
            <a:off x="2429242" y="2437993"/>
            <a:ext cx="1447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Rotation Matrix</a:t>
            </a:r>
            <a:endParaRPr b="0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5822563" y="2451689"/>
            <a:ext cx="1447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Translation Vector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2575950" y="4676550"/>
            <a:ext cx="39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https://harry7557558.github.io/tools/matrixv.html</a:t>
            </a:r>
            <a:endParaRPr sz="1000"/>
          </a:p>
        </p:txBody>
      </p:sp>
      <p:sp>
        <p:nvSpPr>
          <p:cNvPr id="266" name="Google Shape;266;p33"/>
          <p:cNvSpPr/>
          <p:nvPr/>
        </p:nvSpPr>
        <p:spPr>
          <a:xfrm>
            <a:off x="3116425" y="3733150"/>
            <a:ext cx="2913300" cy="209400"/>
          </a:xfrm>
          <a:prstGeom prst="rect">
            <a:avLst/>
          </a:prstGeom>
          <a:noFill/>
          <a:ln cap="flat" cmpd="sng" w="214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33"/>
          <p:cNvCxnSpPr/>
          <p:nvPr/>
        </p:nvCxnSpPr>
        <p:spPr>
          <a:xfrm>
            <a:off x="6029732" y="3942548"/>
            <a:ext cx="417300" cy="101100"/>
          </a:xfrm>
          <a:prstGeom prst="straightConnector1">
            <a:avLst/>
          </a:prstGeom>
          <a:noFill/>
          <a:ln cap="flat" cmpd="sng" w="7150">
            <a:solidFill>
              <a:srgbClr val="00FF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8" name="Google Shape;268;p33"/>
          <p:cNvSpPr txBox="1"/>
          <p:nvPr/>
        </p:nvSpPr>
        <p:spPr>
          <a:xfrm>
            <a:off x="6447030" y="3908725"/>
            <a:ext cx="1231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Scaling Factor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Manipulator </a:t>
            </a:r>
            <a:r>
              <a:rPr lang="en"/>
              <a:t>Transformation Matrix</a:t>
            </a:r>
            <a:endParaRPr/>
          </a:p>
        </p:txBody>
      </p:sp>
      <p:sp>
        <p:nvSpPr>
          <p:cNvPr id="274" name="Google Shape;274;p34"/>
          <p:cNvSpPr txBox="1"/>
          <p:nvPr>
            <p:ph idx="1" type="body"/>
          </p:nvPr>
        </p:nvSpPr>
        <p:spPr>
          <a:xfrm>
            <a:off x="311700" y="1152475"/>
            <a:ext cx="85206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The position and orientation of end effector frame 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relative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to the based frame can be found by consisting n consecutive link transformation 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matrices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relating frames fixed to adjacent links.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4" title="Screenshot from 2026-02-21 03-25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50" y="1812600"/>
            <a:ext cx="7932699" cy="55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4" title="ChatGPT Image Feb 21, 2026, 03_33_33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5375" y="2308725"/>
            <a:ext cx="6224947" cy="283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solidFill>
                  <a:srgbClr val="0A0A0A"/>
                </a:solidFill>
                <a:highlight>
                  <a:srgbClr val="FFFFFF"/>
                </a:highlight>
              </a:rPr>
              <a:t>Recall the </a:t>
            </a:r>
            <a:r>
              <a:rPr lang="en" sz="2750">
                <a:solidFill>
                  <a:srgbClr val="0A0A0A"/>
                </a:solidFill>
                <a:highlight>
                  <a:srgbClr val="FFFFFF"/>
                </a:highlight>
              </a:rPr>
              <a:t>Definition of the Four Parameters</a:t>
            </a:r>
            <a:endParaRPr sz="27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FFFFF"/>
                </a:highlight>
              </a:rPr>
              <a:t>Link Length (</a:t>
            </a:r>
            <a:r>
              <a:rPr i="1" lang="en">
                <a:highlight>
                  <a:srgbClr val="FFFFFF"/>
                </a:highlight>
              </a:rPr>
              <a:t>a</a:t>
            </a:r>
            <a:r>
              <a:rPr baseline="-25000" i="1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): 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FFFFF"/>
                </a:highlight>
              </a:rPr>
              <a:t>Link Twist</a:t>
            </a: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 (</a:t>
            </a:r>
            <a:r>
              <a:rPr i="1" lang="en">
                <a:highlight>
                  <a:srgbClr val="FFFFFF"/>
                </a:highlight>
              </a:rPr>
              <a:t>ɑ</a:t>
            </a:r>
            <a:r>
              <a:rPr baseline="-25000" i="1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): 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FFFFF"/>
                </a:highlight>
              </a:rPr>
              <a:t>Joint Offset (</a:t>
            </a:r>
            <a:r>
              <a:rPr i="1" lang="en">
                <a:highlight>
                  <a:srgbClr val="FFFFFF"/>
                </a:highlight>
              </a:rPr>
              <a:t>d</a:t>
            </a:r>
            <a:r>
              <a:rPr baseline="-25000" i="1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): 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i-1</a:t>
            </a:r>
            <a:endParaRPr baseline="-25000" i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FFFFF"/>
                </a:highlight>
              </a:rPr>
              <a:t>Joint Angle</a:t>
            </a: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 (</a:t>
            </a:r>
            <a:r>
              <a:rPr i="1" lang="en">
                <a:highlight>
                  <a:srgbClr val="FFFFFF"/>
                </a:highlight>
              </a:rPr>
              <a:t>Ө</a:t>
            </a:r>
            <a:r>
              <a:rPr baseline="-25000" i="1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): 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i-1</a:t>
            </a:r>
            <a:endParaRPr baseline="-25000" i="1">
              <a:solidFill>
                <a:srgbClr val="FF99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-25000" i="1">
              <a:solidFill>
                <a:srgbClr val="FF99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-25000" i="1">
              <a:solidFill>
                <a:srgbClr val="FF99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-25000" i="1">
              <a:solidFill>
                <a:srgbClr val="FF9900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Note: Don’t try to imagine the Y-axis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1938150" y="4743300"/>
            <a:ext cx="52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https://www.youtube.com/watch?v=rA9tm0gTln8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288" y="363894"/>
            <a:ext cx="6517712" cy="471895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1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/>
        </p:nvSpPr>
        <p:spPr>
          <a:xfrm>
            <a:off x="582615" y="781693"/>
            <a:ext cx="490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the DH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6951" y="781693"/>
            <a:ext cx="5438058" cy="39372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6" name="Google Shape;296;p37"/>
          <p:cNvGraphicFramePr/>
          <p:nvPr/>
        </p:nvGraphicFramePr>
        <p:xfrm>
          <a:off x="642256" y="22351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{8C1F3B61-D1C2-4BB9-81DA-EFF38DBFFD13}</a:tableStyleId>
              </a:tblPr>
              <a:tblGrid>
                <a:gridCol w="491425"/>
                <a:gridCol w="564500"/>
                <a:gridCol w="559850"/>
                <a:gridCol w="572600"/>
                <a:gridCol w="547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θ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20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32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45°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37"/>
          <p:cNvSpPr txBox="1"/>
          <p:nvPr/>
        </p:nvSpPr>
        <p:spPr>
          <a:xfrm>
            <a:off x="1237730" y="1898775"/>
            <a:ext cx="2211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/>
        </p:nvSpPr>
        <p:spPr>
          <a:xfrm>
            <a:off x="582615" y="781693"/>
            <a:ext cx="490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every Joint, find the transformation matrix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3" name="Google Shape;303;p38"/>
          <p:cNvGraphicFramePr/>
          <p:nvPr/>
        </p:nvGraphicFramePr>
        <p:xfrm>
          <a:off x="6193971" y="1847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{8C1F3B61-D1C2-4BB9-81DA-EFF38DBFFD13}</a:tableStyleId>
              </a:tblPr>
              <a:tblGrid>
                <a:gridCol w="491425"/>
                <a:gridCol w="564500"/>
                <a:gridCol w="559850"/>
                <a:gridCol w="572600"/>
                <a:gridCol w="547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θ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20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32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45°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4" name="Google Shape;304;p38"/>
          <p:cNvSpPr txBox="1"/>
          <p:nvPr/>
        </p:nvSpPr>
        <p:spPr>
          <a:xfrm>
            <a:off x="6789424" y="1511550"/>
            <a:ext cx="2035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6164879" y="3880553"/>
            <a:ext cx="2793600" cy="765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7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917625" y="1788560"/>
            <a:ext cx="4825500" cy="850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4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8"/>
          <p:cNvSpPr txBox="1"/>
          <p:nvPr/>
        </p:nvSpPr>
        <p:spPr>
          <a:xfrm>
            <a:off x="582615" y="1361519"/>
            <a:ext cx="670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Joint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8"/>
          <p:cNvSpPr txBox="1"/>
          <p:nvPr/>
        </p:nvSpPr>
        <p:spPr>
          <a:xfrm>
            <a:off x="917624" y="2975880"/>
            <a:ext cx="2618700" cy="850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454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4900" y="2224174"/>
            <a:ext cx="132850" cy="11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4900" y="3401999"/>
            <a:ext cx="132850" cy="1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/>
          <p:nvPr/>
        </p:nvSpPr>
        <p:spPr>
          <a:xfrm>
            <a:off x="582615" y="781693"/>
            <a:ext cx="490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every Joint, find the transformation matrix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6" name="Google Shape;316;p39"/>
          <p:cNvGraphicFramePr/>
          <p:nvPr/>
        </p:nvGraphicFramePr>
        <p:xfrm>
          <a:off x="6193971" y="1847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{8C1F3B61-D1C2-4BB9-81DA-EFF38DBFFD13}</a:tableStyleId>
              </a:tblPr>
              <a:tblGrid>
                <a:gridCol w="491425"/>
                <a:gridCol w="564500"/>
                <a:gridCol w="559850"/>
                <a:gridCol w="572600"/>
                <a:gridCol w="547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θ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20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32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45°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39"/>
          <p:cNvSpPr txBox="1"/>
          <p:nvPr/>
        </p:nvSpPr>
        <p:spPr>
          <a:xfrm>
            <a:off x="6789425" y="1511550"/>
            <a:ext cx="1838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 txBox="1"/>
          <p:nvPr/>
        </p:nvSpPr>
        <p:spPr>
          <a:xfrm>
            <a:off x="6135769" y="3888410"/>
            <a:ext cx="2793600" cy="765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7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9"/>
          <p:cNvSpPr txBox="1"/>
          <p:nvPr/>
        </p:nvSpPr>
        <p:spPr>
          <a:xfrm>
            <a:off x="917625" y="1788560"/>
            <a:ext cx="4825500" cy="850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4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582615" y="1361519"/>
            <a:ext cx="670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Joint 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9"/>
          <p:cNvSpPr txBox="1"/>
          <p:nvPr/>
        </p:nvSpPr>
        <p:spPr>
          <a:xfrm>
            <a:off x="917624" y="2975880"/>
            <a:ext cx="4825500" cy="850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24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1719" y="2224176"/>
            <a:ext cx="145454" cy="11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1724" y="3420226"/>
            <a:ext cx="145454" cy="1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/>
        </p:nvSpPr>
        <p:spPr>
          <a:xfrm>
            <a:off x="582615" y="781693"/>
            <a:ext cx="490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every Joint, find the transformation matrix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9" name="Google Shape;329;p40"/>
          <p:cNvGraphicFramePr/>
          <p:nvPr/>
        </p:nvGraphicFramePr>
        <p:xfrm>
          <a:off x="6193971" y="1847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{8C1F3B61-D1C2-4BB9-81DA-EFF38DBFFD13}</a:tableStyleId>
              </a:tblPr>
              <a:tblGrid>
                <a:gridCol w="491425"/>
                <a:gridCol w="564500"/>
                <a:gridCol w="559850"/>
                <a:gridCol w="572600"/>
                <a:gridCol w="547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θ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20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32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45°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0" name="Google Shape;330;p40"/>
          <p:cNvSpPr txBox="1"/>
          <p:nvPr/>
        </p:nvSpPr>
        <p:spPr>
          <a:xfrm>
            <a:off x="6789424" y="1511550"/>
            <a:ext cx="201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6135769" y="3888410"/>
            <a:ext cx="2793600" cy="765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7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917625" y="1788560"/>
            <a:ext cx="4825500" cy="850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4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582615" y="1361519"/>
            <a:ext cx="670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Joint 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917624" y="2975880"/>
            <a:ext cx="4825500" cy="850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24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8199" y="2227438"/>
            <a:ext cx="132850" cy="102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8200" y="3412613"/>
            <a:ext cx="132850" cy="102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/>
        </p:nvSpPr>
        <p:spPr>
          <a:xfrm>
            <a:off x="582615" y="781693"/>
            <a:ext cx="490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Overall Transformation Matrix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2" name="Google Shape;342;p41"/>
          <p:cNvGraphicFramePr/>
          <p:nvPr/>
        </p:nvGraphicFramePr>
        <p:xfrm>
          <a:off x="6193971" y="1847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{8C1F3B61-D1C2-4BB9-81DA-EFF38DBFFD13}</a:tableStyleId>
              </a:tblPr>
              <a:tblGrid>
                <a:gridCol w="491425"/>
                <a:gridCol w="564500"/>
                <a:gridCol w="559850"/>
                <a:gridCol w="572600"/>
                <a:gridCol w="547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θ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20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32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45°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baseline="-25000"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10°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41"/>
          <p:cNvSpPr txBox="1"/>
          <p:nvPr/>
        </p:nvSpPr>
        <p:spPr>
          <a:xfrm>
            <a:off x="6789527" y="1505250"/>
            <a:ext cx="192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1"/>
          <p:cNvSpPr txBox="1"/>
          <p:nvPr/>
        </p:nvSpPr>
        <p:spPr>
          <a:xfrm>
            <a:off x="6135769" y="3888410"/>
            <a:ext cx="2793600" cy="765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76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1458801" y="1788560"/>
            <a:ext cx="141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= T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582615" y="1361519"/>
            <a:ext cx="4194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transformation matrix,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1569154" y="2130917"/>
            <a:ext cx="4710300" cy="595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74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1569153" y="2934857"/>
            <a:ext cx="4710300" cy="59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74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1"/>
          <p:cNvSpPr txBox="1"/>
          <p:nvPr/>
        </p:nvSpPr>
        <p:spPr>
          <a:xfrm>
            <a:off x="1569152" y="3775319"/>
            <a:ext cx="4710300" cy="59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74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5247" y="1931857"/>
            <a:ext cx="132850" cy="11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04068" y="1940965"/>
            <a:ext cx="132850" cy="106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86875" y="1946039"/>
            <a:ext cx="132850" cy="102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23225" y="2436947"/>
            <a:ext cx="98325" cy="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/>
        </p:nvSpPr>
        <p:spPr>
          <a:xfrm>
            <a:off x="582615" y="781693"/>
            <a:ext cx="490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out the final position of the End-Effector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" name="Google Shape;359;p42"/>
          <p:cNvGrpSpPr/>
          <p:nvPr/>
        </p:nvGrpSpPr>
        <p:grpSpPr>
          <a:xfrm>
            <a:off x="1571659" y="1744390"/>
            <a:ext cx="5554509" cy="1133815"/>
            <a:chOff x="1473505" y="1649206"/>
            <a:chExt cx="7406012" cy="1511754"/>
          </a:xfrm>
        </p:grpSpPr>
        <p:sp>
          <p:nvSpPr>
            <p:cNvPr id="360" name="Google Shape;360;p42"/>
            <p:cNvSpPr txBox="1"/>
            <p:nvPr/>
          </p:nvSpPr>
          <p:spPr>
            <a:xfrm>
              <a:off x="4912202" y="1719160"/>
              <a:ext cx="3964200" cy="1441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4000" r="0" t="0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2"/>
            <p:cNvSpPr txBox="1"/>
            <p:nvPr/>
          </p:nvSpPr>
          <p:spPr>
            <a:xfrm>
              <a:off x="1473505" y="2089653"/>
              <a:ext cx="5592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Overall transformation matrix,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2"/>
            <p:cNvSpPr/>
            <p:nvPr/>
          </p:nvSpPr>
          <p:spPr>
            <a:xfrm>
              <a:off x="7362647" y="1649206"/>
              <a:ext cx="716400" cy="938400"/>
            </a:xfrm>
            <a:prstGeom prst="rect">
              <a:avLst/>
            </a:prstGeom>
            <a:noFill/>
            <a:ln cap="flat" cmpd="sng" w="21425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3" name="Google Shape;363;p42"/>
            <p:cNvCxnSpPr/>
            <p:nvPr/>
          </p:nvCxnSpPr>
          <p:spPr>
            <a:xfrm>
              <a:off x="8061069" y="1858697"/>
              <a:ext cx="573000" cy="0"/>
            </a:xfrm>
            <a:prstGeom prst="straightConnector1">
              <a:avLst/>
            </a:prstGeom>
            <a:noFill/>
            <a:ln cap="flat" cmpd="sng" w="7150">
              <a:solidFill>
                <a:schemeClr val="accent6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4" name="Google Shape;364;p42"/>
            <p:cNvCxnSpPr/>
            <p:nvPr/>
          </p:nvCxnSpPr>
          <p:spPr>
            <a:xfrm>
              <a:off x="8079152" y="2118448"/>
              <a:ext cx="573000" cy="0"/>
            </a:xfrm>
            <a:prstGeom prst="straightConnector1">
              <a:avLst/>
            </a:prstGeom>
            <a:noFill/>
            <a:ln cap="flat" cmpd="sng" w="7150">
              <a:solidFill>
                <a:schemeClr val="accent6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5" name="Google Shape;365;p42"/>
            <p:cNvCxnSpPr/>
            <p:nvPr/>
          </p:nvCxnSpPr>
          <p:spPr>
            <a:xfrm>
              <a:off x="8079152" y="2429462"/>
              <a:ext cx="573000" cy="0"/>
            </a:xfrm>
            <a:prstGeom prst="straightConnector1">
              <a:avLst/>
            </a:prstGeom>
            <a:noFill/>
            <a:ln cap="flat" cmpd="sng" w="7150">
              <a:solidFill>
                <a:schemeClr val="accent6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" name="Google Shape;366;p42"/>
            <p:cNvSpPr txBox="1"/>
            <p:nvPr/>
          </p:nvSpPr>
          <p:spPr>
            <a:xfrm>
              <a:off x="8630817" y="1664360"/>
              <a:ext cx="2487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z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7" name="Google Shape;367;p42"/>
          <p:cNvSpPr txBox="1"/>
          <p:nvPr/>
        </p:nvSpPr>
        <p:spPr>
          <a:xfrm>
            <a:off x="770691" y="3399110"/>
            <a:ext cx="6959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from the overall transformation matrix, </a:t>
            </a: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26.62, y = 51.14, z = 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final position of the end-effector that is relative to the base joint  in the forward kinematic problem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2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73" name="Google Shape;373;p43"/>
          <p:cNvGraphicFramePr/>
          <p:nvPr/>
        </p:nvGraphicFramePr>
        <p:xfrm>
          <a:off x="4620175" y="163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{95F6A080-CB0C-4E4B-955B-38ACA6650728}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α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4" name="Google Shape;374;p43"/>
          <p:cNvSpPr txBox="1"/>
          <p:nvPr/>
        </p:nvSpPr>
        <p:spPr>
          <a:xfrm>
            <a:off x="311700" y="9526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What will be the final coordinate of the end effector if the joints rotate at 45, 27, 50 and 36 </a:t>
            </a:r>
            <a:r>
              <a:rPr lang="en" sz="1500">
                <a:solidFill>
                  <a:schemeClr val="dk2"/>
                </a:solidFill>
              </a:rPr>
              <a:t>degrees</a:t>
            </a:r>
            <a:r>
              <a:rPr lang="en" sz="1500">
                <a:solidFill>
                  <a:schemeClr val="dk2"/>
                </a:solidFill>
              </a:rPr>
              <a:t> respectively from joint 1 to joint 4.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75" name="Google Shape;37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1575"/>
            <a:ext cx="4315375" cy="2967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2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1" name="Google Shape;381;p44"/>
          <p:cNvGraphicFramePr/>
          <p:nvPr/>
        </p:nvGraphicFramePr>
        <p:xfrm>
          <a:off x="4620175" y="163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{95F6A080-CB0C-4E4B-955B-38ACA6650728}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α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41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180</a:t>
                      </a:r>
                      <a:r>
                        <a:rPr baseline="30000" i="1" lang="en" sz="2500">
                          <a:highlight>
                            <a:srgbClr val="FFFFFF"/>
                          </a:highlight>
                        </a:rPr>
                        <a:t>o</a:t>
                      </a:r>
                      <a:endParaRPr baseline="300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-50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32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</a:t>
                      </a:r>
                      <a:endParaRPr sz="2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36</a:t>
                      </a:r>
                      <a:endParaRPr i="1" sz="25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 i="1" sz="25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7</a:t>
                      </a:r>
                      <a:endParaRPr baseline="-25000" i="1" sz="25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i="1" sz="25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82" name="Google Shape;3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25" y="1340725"/>
            <a:ext cx="4315375" cy="2967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1 (Cont.)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5"/>
          <p:cNvSpPr txBox="1"/>
          <p:nvPr/>
        </p:nvSpPr>
        <p:spPr>
          <a:xfrm>
            <a:off x="112350" y="1788225"/>
            <a:ext cx="4295400" cy="1620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9" name="Google Shape;389;p45"/>
          <p:cNvGraphicFramePr/>
          <p:nvPr/>
        </p:nvGraphicFramePr>
        <p:xfrm>
          <a:off x="4620175" y="163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{95F6A080-CB0C-4E4B-955B-38ACA6650728}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α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45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22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41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27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180</a:t>
                      </a:r>
                      <a:r>
                        <a:rPr baseline="30000" i="1" lang="en" sz="2500">
                          <a:highlight>
                            <a:srgbClr val="FFFFFF"/>
                          </a:highlight>
                        </a:rPr>
                        <a:t>o</a:t>
                      </a:r>
                      <a:endParaRPr baseline="30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-</a:t>
                      </a: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50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32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0" name="Google Shape;390;p45"/>
          <p:cNvGraphicFramePr/>
          <p:nvPr/>
        </p:nvGraphicFramePr>
        <p:xfrm>
          <a:off x="4620175" y="38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{95F6A080-CB0C-4E4B-955B-38ACA6650728}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</a:t>
                      </a:r>
                      <a:endParaRPr sz="2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7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1 (Cont.)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46" title="Screenshot from 2026-03-03 04-18-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43" y="1269200"/>
            <a:ext cx="4651449" cy="31844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7" name="Google Shape;397;p46"/>
          <p:cNvGraphicFramePr/>
          <p:nvPr/>
        </p:nvGraphicFramePr>
        <p:xfrm>
          <a:off x="4741025" y="163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{95F6A080-CB0C-4E4B-955B-38ACA6650728}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α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41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180</a:t>
                      </a:r>
                      <a:r>
                        <a:rPr baseline="30000" i="1" lang="en" sz="2500">
                          <a:highlight>
                            <a:srgbClr val="FFFFFF"/>
                          </a:highlight>
                        </a:rPr>
                        <a:t>o</a:t>
                      </a:r>
                      <a:endParaRPr baseline="300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-</a:t>
                      </a: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50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32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</a:t>
                      </a:r>
                      <a:endParaRPr sz="2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36</a:t>
                      </a:r>
                      <a:endParaRPr i="1" sz="25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 i="1" sz="25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7</a:t>
                      </a:r>
                      <a:endParaRPr baseline="-25000" i="1" sz="25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i="1" sz="25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98" name="Google Shape;398;p46" title="T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4900" y="1269200"/>
            <a:ext cx="2607025" cy="14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6" title="T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3620" y="3382789"/>
            <a:ext cx="2689575" cy="1314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1 (Cont.)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5" name="Google Shape;405;p47" title="Screenshot from 2026-03-03 04-18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25" y="1345475"/>
            <a:ext cx="4651450" cy="32314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6" name="Google Shape;406;p47"/>
          <p:cNvGraphicFramePr/>
          <p:nvPr/>
        </p:nvGraphicFramePr>
        <p:xfrm>
          <a:off x="4677041" y="163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{95F6A080-CB0C-4E4B-955B-38ACA6650728}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α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41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180</a:t>
                      </a:r>
                      <a:r>
                        <a:rPr baseline="30000" i="1" lang="en" sz="2500">
                          <a:highlight>
                            <a:srgbClr val="FFFFFF"/>
                          </a:highlight>
                        </a:rPr>
                        <a:t>o</a:t>
                      </a:r>
                      <a:endParaRPr baseline="300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-</a:t>
                      </a: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50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32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</a:t>
                      </a:r>
                      <a:endParaRPr sz="2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36</a:t>
                      </a:r>
                      <a:endParaRPr i="1" sz="25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 i="1" sz="25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7</a:t>
                      </a:r>
                      <a:endParaRPr baseline="-25000" i="1" sz="25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i="1" sz="25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07" name="Google Shape;407;p47" title="T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063" y="3325950"/>
            <a:ext cx="2676387" cy="12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9075" y="1530547"/>
            <a:ext cx="2676375" cy="1287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1 (Cont.)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4" name="Google Shape;414;p48" title="Screenshot from 2026-02-21 03-48-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125" y="1131797"/>
            <a:ext cx="473392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8" title="Screenshot from 2026-03-03 04-20-57.png"/>
          <p:cNvPicPr preferRelativeResize="0"/>
          <p:nvPr/>
        </p:nvPicPr>
        <p:blipFill rotWithShape="1">
          <a:blip r:embed="rId4">
            <a:alphaModFix/>
          </a:blip>
          <a:srcRect b="52422" l="45643" r="0" t="0"/>
          <a:stretch/>
        </p:blipFill>
        <p:spPr>
          <a:xfrm>
            <a:off x="2944625" y="2015300"/>
            <a:ext cx="3064400" cy="145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875" y="1870925"/>
            <a:ext cx="3676650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3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49" title="Screenshot from 2026-02-21 03-44-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75" y="1367400"/>
            <a:ext cx="3997475" cy="2698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3" name="Google Shape;423;p49"/>
          <p:cNvGraphicFramePr/>
          <p:nvPr/>
        </p:nvGraphicFramePr>
        <p:xfrm>
          <a:off x="4335250" y="16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{95F6A080-CB0C-4E4B-955B-38ACA6650728}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α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90</a:t>
                      </a:r>
                      <a:r>
                        <a:rPr baseline="30000" i="1" lang="en" sz="2500">
                          <a:highlight>
                            <a:srgbClr val="FFFFFF"/>
                          </a:highlight>
                        </a:rPr>
                        <a:t>o</a:t>
                      </a:r>
                      <a:endParaRPr baseline="300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+</a:t>
                      </a: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2 (Cont.)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29" name="Google Shape;429;p50"/>
          <p:cNvGraphicFramePr/>
          <p:nvPr/>
        </p:nvGraphicFramePr>
        <p:xfrm>
          <a:off x="4335250" y="16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{95F6A080-CB0C-4E4B-955B-38ACA6650728}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α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90</a:t>
                      </a:r>
                      <a:r>
                        <a:rPr baseline="30000" i="1" lang="en" sz="2500">
                          <a:highlight>
                            <a:srgbClr val="FFFFFF"/>
                          </a:highlight>
                        </a:rPr>
                        <a:t>o</a:t>
                      </a:r>
                      <a:endParaRPr baseline="300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highlight>
                            <a:srgbClr val="FFFFFF"/>
                          </a:highlight>
                        </a:rPr>
                        <a:t>+</a:t>
                      </a: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0" name="Google Shape;430;p50"/>
          <p:cNvSpPr txBox="1"/>
          <p:nvPr/>
        </p:nvSpPr>
        <p:spPr>
          <a:xfrm>
            <a:off x="0" y="1525200"/>
            <a:ext cx="4295400" cy="1620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0"/>
          <p:cNvSpPr txBox="1"/>
          <p:nvPr/>
        </p:nvSpPr>
        <p:spPr>
          <a:xfrm>
            <a:off x="1844950" y="4215625"/>
            <a:ext cx="420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Calculate </a:t>
            </a:r>
            <a:r>
              <a:rPr baseline="30000" lang="en" sz="2000">
                <a:solidFill>
                  <a:schemeClr val="dk2"/>
                </a:solidFill>
              </a:rPr>
              <a:t>0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1</a:t>
            </a:r>
            <a:r>
              <a:rPr lang="en" sz="2000">
                <a:solidFill>
                  <a:schemeClr val="dk2"/>
                </a:solidFill>
              </a:rPr>
              <a:t>, </a:t>
            </a:r>
            <a:r>
              <a:rPr baseline="30000" lang="en" sz="2000">
                <a:solidFill>
                  <a:schemeClr val="dk2"/>
                </a:solidFill>
              </a:rPr>
              <a:t>1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2</a:t>
            </a:r>
            <a:r>
              <a:rPr lang="en" sz="2000">
                <a:solidFill>
                  <a:schemeClr val="dk2"/>
                </a:solidFill>
              </a:rPr>
              <a:t>, </a:t>
            </a:r>
            <a:r>
              <a:rPr baseline="30000" lang="en" sz="2000">
                <a:solidFill>
                  <a:schemeClr val="dk2"/>
                </a:solidFill>
              </a:rPr>
              <a:t>2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3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2 (Cont.)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1"/>
          <p:cNvSpPr txBox="1"/>
          <p:nvPr/>
        </p:nvSpPr>
        <p:spPr>
          <a:xfrm>
            <a:off x="383725" y="1278575"/>
            <a:ext cx="82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2000">
                <a:solidFill>
                  <a:schemeClr val="dk2"/>
                </a:solidFill>
              </a:rPr>
              <a:t>0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1</a:t>
            </a:r>
            <a:r>
              <a:rPr lang="en" sz="2000">
                <a:solidFill>
                  <a:schemeClr val="dk2"/>
                </a:solidFill>
              </a:rPr>
              <a:t> = 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438" name="Google Shape;438;p51"/>
          <p:cNvSpPr txBox="1"/>
          <p:nvPr/>
        </p:nvSpPr>
        <p:spPr>
          <a:xfrm>
            <a:off x="202725" y="2593675"/>
            <a:ext cx="1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2000">
                <a:solidFill>
                  <a:schemeClr val="dk2"/>
                </a:solidFill>
              </a:rPr>
              <a:t>1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2</a:t>
            </a:r>
            <a:r>
              <a:rPr lang="en" sz="2000">
                <a:solidFill>
                  <a:schemeClr val="dk2"/>
                </a:solidFill>
              </a:rPr>
              <a:t> = </a:t>
            </a:r>
            <a:endParaRPr/>
          </a:p>
        </p:txBody>
      </p:sp>
      <p:sp>
        <p:nvSpPr>
          <p:cNvPr id="439" name="Google Shape;439;p51"/>
          <p:cNvSpPr txBox="1"/>
          <p:nvPr/>
        </p:nvSpPr>
        <p:spPr>
          <a:xfrm>
            <a:off x="348925" y="3981825"/>
            <a:ext cx="89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2000">
                <a:solidFill>
                  <a:schemeClr val="dk2"/>
                </a:solidFill>
              </a:rPr>
              <a:t>2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3</a:t>
            </a:r>
            <a:r>
              <a:rPr lang="en" sz="2000">
                <a:solidFill>
                  <a:schemeClr val="dk2"/>
                </a:solidFill>
              </a:rPr>
              <a:t> = </a:t>
            </a:r>
            <a:endParaRPr/>
          </a:p>
        </p:txBody>
      </p:sp>
      <p:sp>
        <p:nvSpPr>
          <p:cNvPr id="440" name="Google Shape;440;p51"/>
          <p:cNvSpPr txBox="1"/>
          <p:nvPr/>
        </p:nvSpPr>
        <p:spPr>
          <a:xfrm>
            <a:off x="3744525" y="2593675"/>
            <a:ext cx="420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Calculate </a:t>
            </a:r>
            <a:r>
              <a:rPr baseline="30000" lang="en" sz="2000">
                <a:solidFill>
                  <a:schemeClr val="dk2"/>
                </a:solidFill>
              </a:rPr>
              <a:t>0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3</a:t>
            </a:r>
            <a:r>
              <a:rPr lang="en" sz="2000">
                <a:solidFill>
                  <a:schemeClr val="dk2"/>
                </a:solidFill>
              </a:rPr>
              <a:t> = </a:t>
            </a:r>
            <a:r>
              <a:rPr baseline="30000" lang="en" sz="2000">
                <a:solidFill>
                  <a:schemeClr val="dk2"/>
                </a:solidFill>
              </a:rPr>
              <a:t>0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1</a:t>
            </a:r>
            <a:r>
              <a:rPr lang="en" sz="2000">
                <a:solidFill>
                  <a:schemeClr val="dk2"/>
                </a:solidFill>
              </a:rPr>
              <a:t> x</a:t>
            </a:r>
            <a:r>
              <a:rPr lang="en" sz="2000">
                <a:solidFill>
                  <a:schemeClr val="dk2"/>
                </a:solidFill>
              </a:rPr>
              <a:t> </a:t>
            </a:r>
            <a:r>
              <a:rPr baseline="30000" lang="en" sz="2000">
                <a:solidFill>
                  <a:schemeClr val="dk2"/>
                </a:solidFill>
              </a:rPr>
              <a:t>1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2</a:t>
            </a:r>
            <a:r>
              <a:rPr lang="en" sz="2000">
                <a:solidFill>
                  <a:schemeClr val="dk2"/>
                </a:solidFill>
              </a:rPr>
              <a:t> x</a:t>
            </a:r>
            <a:r>
              <a:rPr lang="en" sz="2000">
                <a:solidFill>
                  <a:schemeClr val="dk2"/>
                </a:solidFill>
              </a:rPr>
              <a:t> </a:t>
            </a:r>
            <a:r>
              <a:rPr baseline="30000" lang="en" sz="2000">
                <a:solidFill>
                  <a:schemeClr val="dk2"/>
                </a:solidFill>
              </a:rPr>
              <a:t>2</a:t>
            </a:r>
            <a:r>
              <a:rPr lang="en" sz="2000">
                <a:solidFill>
                  <a:schemeClr val="dk2"/>
                </a:solidFill>
              </a:rPr>
              <a:t>T</a:t>
            </a:r>
            <a:r>
              <a:rPr baseline="-25000" lang="en" sz="2000">
                <a:solidFill>
                  <a:schemeClr val="dk2"/>
                </a:solidFill>
              </a:rPr>
              <a:t>3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2 (Cont.)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6" name="Google Shape;446;p52" title="Screenshot from 2026-03-03 04-24-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7850"/>
            <a:ext cx="4345688" cy="17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2" title="Screenshot from 2026-03-03 04-24-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51249"/>
            <a:ext cx="4470475" cy="17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2" title="Screenshot from 2026-03-03 04-24-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0249" y="2312675"/>
            <a:ext cx="4470475" cy="17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Exercise 2 (Cont.)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53" title="Screenshot from 2026-03-03 04-25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800" y="1140900"/>
            <a:ext cx="3200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3" title="Screenshot from 2026-03-03 04-25-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9050" y="1606975"/>
            <a:ext cx="5445900" cy="141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3"/>
          <p:cNvSpPr txBox="1"/>
          <p:nvPr/>
        </p:nvSpPr>
        <p:spPr>
          <a:xfrm>
            <a:off x="2467800" y="3375425"/>
            <a:ext cx="42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Did you familiar with the x, y and z value from the trigonometry method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Home Work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54" title="Screenshot from 2026-02-21 04-19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1710775"/>
            <a:ext cx="54864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Home Work (Cont.)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55" title="Screenshot from 2026-02-21 04-19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325" y="1133575"/>
            <a:ext cx="54864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5" title="Screenshot from 2026-02-21 04-19-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1150" y="3247325"/>
            <a:ext cx="4352925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Home Work (Cont.)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56" title="Screenshot from 2026-02-21 04-19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500" y="1113950"/>
            <a:ext cx="435292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6" title="Screenshot from 2026-02-21 04-20-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9550" y="3072325"/>
            <a:ext cx="3855157" cy="19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