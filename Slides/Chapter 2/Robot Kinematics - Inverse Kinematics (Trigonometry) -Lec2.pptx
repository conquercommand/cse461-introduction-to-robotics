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cf5fe5f4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ecf5fe5f4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cf5fe5f4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ecf5fe5f4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9e5a64dd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9e5a64dd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9e5a64dd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9e5a64dd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9e5a64dd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9e5a64dd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9e5a64dd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9e5a64dd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9e5a64dd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c9e5a64dd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0" y="1740550"/>
            <a:ext cx="45912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Inverse Kinematics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Trigonometry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Inverse Kinematics using Trigonometry</a:t>
            </a:r>
            <a:endParaRPr/>
          </a:p>
        </p:txBody>
      </p:sp>
      <p:grpSp>
        <p:nvGrpSpPr>
          <p:cNvPr id="67" name="Google Shape;67;p15"/>
          <p:cNvGrpSpPr/>
          <p:nvPr/>
        </p:nvGrpSpPr>
        <p:grpSpPr>
          <a:xfrm>
            <a:off x="4422901" y="1214195"/>
            <a:ext cx="4023194" cy="3480809"/>
            <a:chOff x="4422826" y="886070"/>
            <a:chExt cx="4023194" cy="3480809"/>
          </a:xfrm>
        </p:grpSpPr>
        <p:grpSp>
          <p:nvGrpSpPr>
            <p:cNvPr id="68" name="Google Shape;68;p15"/>
            <p:cNvGrpSpPr/>
            <p:nvPr/>
          </p:nvGrpSpPr>
          <p:grpSpPr>
            <a:xfrm>
              <a:off x="4422826" y="886070"/>
              <a:ext cx="4023194" cy="3480809"/>
              <a:chOff x="1949651" y="1049020"/>
              <a:chExt cx="4023194" cy="3480809"/>
            </a:xfrm>
          </p:grpSpPr>
          <p:sp>
            <p:nvSpPr>
              <p:cNvPr id="69" name="Google Shape;69;p15"/>
              <p:cNvSpPr/>
              <p:nvPr/>
            </p:nvSpPr>
            <p:spPr>
              <a:xfrm rot="-287634">
                <a:off x="3998052" y="1745022"/>
                <a:ext cx="990766" cy="137001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575388" y="2778300"/>
                <a:ext cx="812100" cy="978300"/>
              </a:xfrm>
              <a:prstGeom prst="can">
                <a:avLst>
                  <a:gd fmla="val 38881" name="adj"/>
                </a:avLst>
              </a:prstGeom>
              <a:solidFill>
                <a:srgbClr val="888888"/>
              </a:solidFill>
              <a:ln cap="flat" cmpd="sng" w="108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64810" rotWithShape="0" algn="bl" dir="5400000" dist="21603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 rot="3547017">
                <a:off x="3159148" y="2514462"/>
                <a:ext cx="438351" cy="483421"/>
              </a:xfrm>
              <a:prstGeom prst="arc">
                <a:avLst>
                  <a:gd fmla="val 13896013" name="adj1"/>
                  <a:gd fmla="val 20489641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72" name="Google Shape;72;p15"/>
              <p:cNvCxnSpPr/>
              <p:nvPr/>
            </p:nvCxnSpPr>
            <p:spPr>
              <a:xfrm>
                <a:off x="2984487" y="1089678"/>
                <a:ext cx="0" cy="23283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73" name="Google Shape;73;p15"/>
              <p:cNvCxnSpPr/>
              <p:nvPr/>
            </p:nvCxnSpPr>
            <p:spPr>
              <a:xfrm>
                <a:off x="2978647" y="3416700"/>
                <a:ext cx="2644500" cy="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4" name="Google Shape;74;p15"/>
              <p:cNvSpPr/>
              <p:nvPr/>
            </p:nvSpPr>
            <p:spPr>
              <a:xfrm rot="-2698554">
                <a:off x="2724021" y="2337686"/>
                <a:ext cx="1513138" cy="137037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861502" y="2778298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76" name="Google Shape;76;p15"/>
              <p:cNvSpPr txBox="1"/>
              <p:nvPr/>
            </p:nvSpPr>
            <p:spPr>
              <a:xfrm>
                <a:off x="5244751" y="338254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X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77" name="Google Shape;77;p15"/>
              <p:cNvSpPr txBox="1"/>
              <p:nvPr/>
            </p:nvSpPr>
            <p:spPr>
              <a:xfrm>
                <a:off x="2529960" y="104902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Z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 rot="9089041">
                <a:off x="3804466" y="1704117"/>
                <a:ext cx="551734" cy="539787"/>
              </a:xfrm>
              <a:prstGeom prst="arc">
                <a:avLst>
                  <a:gd fmla="val 11732183" name="adj1"/>
                  <a:gd fmla="val 21123469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79" name="Google Shape;79;p15"/>
              <p:cNvSpPr txBox="1"/>
              <p:nvPr/>
            </p:nvSpPr>
            <p:spPr>
              <a:xfrm>
                <a:off x="3628678" y="3447904"/>
                <a:ext cx="577200" cy="5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504">
                    <a:solidFill>
                      <a:srgbClr val="4472C4"/>
                    </a:solidFill>
                  </a:rPr>
                  <a:t>1</a:t>
                </a:r>
                <a:endParaRPr baseline="-25000" sz="1504">
                  <a:solidFill>
                    <a:srgbClr val="4472C4"/>
                  </a:solidFill>
                </a:endParaRPr>
              </a:p>
            </p:txBody>
          </p:sp>
          <p:sp>
            <p:nvSpPr>
              <p:cNvPr id="80" name="Google Shape;80;p15"/>
              <p:cNvSpPr txBox="1"/>
              <p:nvPr/>
            </p:nvSpPr>
            <p:spPr>
              <a:xfrm>
                <a:off x="4667411" y="1962780"/>
                <a:ext cx="577200" cy="5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504">
                    <a:solidFill>
                      <a:srgbClr val="4472C4"/>
                    </a:solidFill>
                  </a:rPr>
                  <a:t>3</a:t>
                </a:r>
                <a:endParaRPr baseline="-25000" sz="1504">
                  <a:solidFill>
                    <a:srgbClr val="4472C4"/>
                  </a:solidFill>
                </a:endParaRPr>
              </a:p>
            </p:txBody>
          </p:sp>
          <p:sp>
            <p:nvSpPr>
              <p:cNvPr id="81" name="Google Shape;81;p15"/>
              <p:cNvSpPr txBox="1"/>
              <p:nvPr/>
            </p:nvSpPr>
            <p:spPr>
              <a:xfrm>
                <a:off x="2064371" y="2989406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h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4260386" y="1297246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3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83" name="Google Shape;83;p15"/>
              <p:cNvSpPr txBox="1"/>
              <p:nvPr/>
            </p:nvSpPr>
            <p:spPr>
              <a:xfrm>
                <a:off x="3363236" y="1962784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2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84" name="Google Shape;84;p15"/>
              <p:cNvSpPr txBox="1"/>
              <p:nvPr/>
            </p:nvSpPr>
            <p:spPr>
              <a:xfrm>
                <a:off x="4903945" y="1180675"/>
                <a:ext cx="1068900" cy="4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675" lIns="103675" spcFirstLastPara="1" rIns="103675" wrap="square" tIns="1036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88">
                    <a:solidFill>
                      <a:schemeClr val="dk2"/>
                    </a:solidFill>
                  </a:rPr>
                  <a:t>P(x,y,z)</a:t>
                </a:r>
                <a:endParaRPr sz="1588">
                  <a:solidFill>
                    <a:schemeClr val="dk2"/>
                  </a:solidFill>
                </a:endParaRPr>
              </a:p>
            </p:txBody>
          </p:sp>
          <p:cxnSp>
            <p:nvCxnSpPr>
              <p:cNvPr id="85" name="Google Shape;85;p15"/>
              <p:cNvCxnSpPr/>
              <p:nvPr/>
            </p:nvCxnSpPr>
            <p:spPr>
              <a:xfrm flipH="1">
                <a:off x="1974780" y="3411229"/>
                <a:ext cx="1014300" cy="7974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6" name="Google Shape;86;p15"/>
              <p:cNvSpPr/>
              <p:nvPr/>
            </p:nvSpPr>
            <p:spPr>
              <a:xfrm>
                <a:off x="3895269" y="1745752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4882085" y="1651487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88" name="Google Shape;88;p15"/>
              <p:cNvCxnSpPr/>
              <p:nvPr/>
            </p:nvCxnSpPr>
            <p:spPr>
              <a:xfrm>
                <a:off x="2984487" y="2916495"/>
                <a:ext cx="1243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" name="Google Shape;89;p15"/>
              <p:cNvSpPr txBox="1"/>
              <p:nvPr/>
            </p:nvSpPr>
            <p:spPr>
              <a:xfrm>
                <a:off x="3512366" y="2461834"/>
                <a:ext cx="577200" cy="5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504">
                    <a:solidFill>
                      <a:srgbClr val="4472C4"/>
                    </a:solidFill>
                  </a:rPr>
                  <a:t>2</a:t>
                </a:r>
                <a:endParaRPr baseline="-25000" sz="1504">
                  <a:solidFill>
                    <a:srgbClr val="4472C4"/>
                  </a:solidFill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2361908" y="2879682"/>
                <a:ext cx="168000" cy="775800"/>
              </a:xfrm>
              <a:prstGeom prst="leftBrace">
                <a:avLst>
                  <a:gd fmla="val 50000" name="adj1"/>
                  <a:gd fmla="val 50000" name="adj2"/>
                </a:avLst>
              </a:prstGeom>
              <a:noFill/>
              <a:ln cap="flat" cmpd="sng" w="108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1949651" y="4019829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Y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92" name="Google Shape;92;p15"/>
            <p:cNvSpPr/>
            <p:nvPr/>
          </p:nvSpPr>
          <p:spPr>
            <a:xfrm>
              <a:off x="5934800" y="3260475"/>
              <a:ext cx="260600" cy="406650"/>
            </a:xfrm>
            <a:custGeom>
              <a:rect b="b" l="l" r="r" t="t"/>
              <a:pathLst>
                <a:path extrusionOk="0" h="16266" w="10424">
                  <a:moveTo>
                    <a:pt x="10258" y="0"/>
                  </a:moveTo>
                  <a:cubicBezTo>
                    <a:pt x="11315" y="6322"/>
                    <a:pt x="6082" y="14241"/>
                    <a:pt x="0" y="16266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cxnSp>
          <p:nvCxnSpPr>
            <p:cNvPr id="93" name="Google Shape;93;p15"/>
            <p:cNvCxnSpPr/>
            <p:nvPr/>
          </p:nvCxnSpPr>
          <p:spPr>
            <a:xfrm>
              <a:off x="5456187" y="3260470"/>
              <a:ext cx="1127100" cy="92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5"/>
          <p:cNvSpPr txBox="1"/>
          <p:nvPr/>
        </p:nvSpPr>
        <p:spPr>
          <a:xfrm>
            <a:off x="311700" y="1214201"/>
            <a:ext cx="4111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figure illustrates a 3R-3D Planar Robot Manipulator capable of reaching any point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P(x,y,z)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XYZ-workspace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inverse kinematics, the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to determine the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 angles (θ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 given end-effector position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P(x,y,z)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311700" y="3016443"/>
            <a:ext cx="41559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problem cannot be solved using a purely 2D geometric approach. Therefore, the manipulator is conceptually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decomposed into two view ports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similar to the forward kinematics formulation: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View - captures rotational motion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Side View - captures movement of other links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5055335" y="1616490"/>
            <a:ext cx="3186391" cy="2822480"/>
            <a:chOff x="5003135" y="886065"/>
            <a:chExt cx="3186391" cy="2822480"/>
          </a:xfrm>
        </p:grpSpPr>
        <p:sp>
          <p:nvSpPr>
            <p:cNvPr id="101" name="Google Shape;101;p16"/>
            <p:cNvSpPr/>
            <p:nvPr/>
          </p:nvSpPr>
          <p:spPr>
            <a:xfrm flipH="1" rot="10800000">
              <a:off x="5037625" y="926728"/>
              <a:ext cx="873000" cy="873000"/>
            </a:xfrm>
            <a:prstGeom prst="ellipse">
              <a:avLst/>
            </a:prstGeom>
            <a:solidFill>
              <a:srgbClr val="88888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flipH="1" rot="10049262">
              <a:off x="5419933" y="1014984"/>
              <a:ext cx="790679" cy="873069"/>
            </a:xfrm>
            <a:prstGeom prst="arc">
              <a:avLst>
                <a:gd fmla="val 17769257" name="adj1"/>
                <a:gd fmla="val 280597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cxnSp>
          <p:nvCxnSpPr>
            <p:cNvPr id="103" name="Google Shape;103;p16"/>
            <p:cNvCxnSpPr/>
            <p:nvPr/>
          </p:nvCxnSpPr>
          <p:spPr>
            <a:xfrm rot="10800000">
              <a:off x="5457662" y="1339575"/>
              <a:ext cx="0" cy="232830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104" name="Google Shape;104;p16"/>
            <p:cNvCxnSpPr/>
            <p:nvPr/>
          </p:nvCxnSpPr>
          <p:spPr>
            <a:xfrm>
              <a:off x="5451822" y="1340853"/>
              <a:ext cx="2644500" cy="0"/>
            </a:xfrm>
            <a:prstGeom prst="straightConnector1">
              <a:avLst/>
            </a:prstGeom>
            <a:noFill/>
            <a:ln cap="flat" cmpd="sng" w="143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05" name="Google Shape;105;p16"/>
            <p:cNvSpPr/>
            <p:nvPr/>
          </p:nvSpPr>
          <p:spPr>
            <a:xfrm flipH="1" rot="-8426404">
              <a:off x="5206272" y="1962072"/>
              <a:ext cx="2141360" cy="137013"/>
            </a:xfrm>
            <a:prstGeom prst="rect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337802" y="1243373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7717926" y="886065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X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5003135" y="3198545"/>
              <a:ext cx="4716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6">
                  <a:solidFill>
                    <a:schemeClr val="dk2"/>
                  </a:solidFill>
                </a:rPr>
                <a:t>Y</a:t>
              </a:r>
              <a:endParaRPr sz="1506">
                <a:solidFill>
                  <a:schemeClr val="dk2"/>
                </a:solidFill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6954320" y="2765275"/>
              <a:ext cx="1068900" cy="4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3675" lIns="103675" spcFirstLastPara="1" rIns="103675" wrap="square" tIns="1036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88">
                  <a:solidFill>
                    <a:schemeClr val="dk2"/>
                  </a:solidFill>
                </a:rPr>
                <a:t>P(x,y)</a:t>
              </a:r>
              <a:endParaRPr sz="1588">
                <a:solidFill>
                  <a:schemeClr val="dk2"/>
                </a:solidFill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 flipH="1" rot="10800000">
              <a:off x="6254344" y="1995401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111" name="Google Shape;111;p16"/>
            <p:cNvSpPr/>
            <p:nvPr/>
          </p:nvSpPr>
          <p:spPr>
            <a:xfrm flipH="1" rot="10800000">
              <a:off x="6954323" y="2594141"/>
              <a:ext cx="239700" cy="239700"/>
            </a:xfrm>
            <a:prstGeom prst="ellipse">
              <a:avLst/>
            </a:prstGeom>
            <a:solidFill>
              <a:schemeClr val="lt2"/>
            </a:solidFill>
            <a:ln cap="flat" cmpd="sng" w="14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6071" rotWithShape="0" algn="bl" dir="5400000" dist="28690">
                <a:srgbClr val="000000">
                  <a:alpha val="50000"/>
                </a:srgbClr>
              </a:outerShdw>
            </a:effectLst>
          </p:spPr>
          <p:txBody>
            <a:bodyPr anchorCtr="0" anchor="ctr" bIns="137700" lIns="137700" spcFirstLastPara="1" rIns="137700" wrap="square" tIns="137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8"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6138556" y="1334331"/>
              <a:ext cx="577200" cy="4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700" lIns="137700" spcFirstLastPara="1" rIns="137700" wrap="square" tIns="137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4">
                  <a:solidFill>
                    <a:srgbClr val="4472C4"/>
                  </a:solidFill>
                </a:rPr>
                <a:t>θ</a:t>
              </a:r>
              <a:r>
                <a:rPr baseline="-25000" lang="en" sz="1404">
                  <a:solidFill>
                    <a:srgbClr val="4472C4"/>
                  </a:solidFill>
                </a:rPr>
                <a:t>1</a:t>
              </a:r>
              <a:endParaRPr baseline="-25000" sz="1404">
                <a:solidFill>
                  <a:srgbClr val="4472C4"/>
                </a:solidFill>
              </a:endParaRPr>
            </a:p>
          </p:txBody>
        </p:sp>
        <p:sp>
          <p:nvSpPr>
            <p:cNvPr id="113" name="Google Shape;113;p16"/>
            <p:cNvSpPr/>
            <p:nvPr/>
          </p:nvSpPr>
          <p:spPr>
            <a:xfrm rot="-3044558">
              <a:off x="6060233" y="1254514"/>
              <a:ext cx="188684" cy="2030351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08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675" lIns="103675" spcFirstLastPara="1" rIns="103675" wrap="square" tIns="103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8"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5896753" y="2176605"/>
              <a:ext cx="35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00FF"/>
                  </a:solidFill>
                </a:rPr>
                <a:t>d</a:t>
              </a:r>
              <a:endParaRPr baseline="-25000" sz="1200">
                <a:solidFill>
                  <a:srgbClr val="FF00FF"/>
                </a:solidFill>
              </a:endParaRPr>
            </a:p>
          </p:txBody>
        </p:sp>
        <p:cxnSp>
          <p:nvCxnSpPr>
            <p:cNvPr id="115" name="Google Shape;115;p16"/>
            <p:cNvCxnSpPr/>
            <p:nvPr/>
          </p:nvCxnSpPr>
          <p:spPr>
            <a:xfrm rot="10800000">
              <a:off x="7074175" y="1347730"/>
              <a:ext cx="0" cy="1371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6" name="Google Shape;116;p16"/>
            <p:cNvSpPr txBox="1"/>
            <p:nvPr/>
          </p:nvSpPr>
          <p:spPr>
            <a:xfrm>
              <a:off x="7082303" y="1930608"/>
              <a:ext cx="35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5"/>
                  </a:solidFill>
                </a:rPr>
                <a:t>y</a:t>
              </a:r>
              <a:endParaRPr baseline="-25000" sz="1200">
                <a:solidFill>
                  <a:schemeClr val="accent5"/>
                </a:solidFill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5975778" y="2655908"/>
              <a:ext cx="35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5"/>
                  </a:solidFill>
                </a:rPr>
                <a:t>x</a:t>
              </a:r>
              <a:endParaRPr baseline="-25000" sz="1200">
                <a:solidFill>
                  <a:schemeClr val="accent5"/>
                </a:solidFill>
              </a:endParaRPr>
            </a:p>
          </p:txBody>
        </p:sp>
      </p:grpSp>
      <p:sp>
        <p:nvSpPr>
          <p:cNvPr id="118" name="Google Shape;11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Top View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11700" y="1075000"/>
            <a:ext cx="42603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inverse kinematics, we need to solve for the top view first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top view, we simply see how the arm is rotated around the base and how the projected length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spreads into the X and Y directions.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Considering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 y)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given, we get,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y / x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∴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= 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(y / x)</a:t>
            </a:r>
            <a:endParaRPr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further calculations in the side view, we need to calculate the value of 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√(x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6"/>
          <p:cNvCxnSpPr/>
          <p:nvPr/>
        </p:nvCxnSpPr>
        <p:spPr>
          <a:xfrm rot="10800000">
            <a:off x="5509403" y="3447925"/>
            <a:ext cx="1625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Side View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311700" y="1578678"/>
            <a:ext cx="41112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side view, d (the projection of the arm) becomes the value of x.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modified side-view formation,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divided into two parts.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∠CAP (θ’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∠PAB (θ’’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we need to separately calculate </a:t>
            </a: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and θ’’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17"/>
          <p:cNvGrpSpPr/>
          <p:nvPr/>
        </p:nvGrpSpPr>
        <p:grpSpPr>
          <a:xfrm>
            <a:off x="4827071" y="1214195"/>
            <a:ext cx="3619024" cy="2843520"/>
            <a:chOff x="4826996" y="886070"/>
            <a:chExt cx="3619024" cy="2843520"/>
          </a:xfrm>
        </p:grpSpPr>
        <p:grpSp>
          <p:nvGrpSpPr>
            <p:cNvPr id="128" name="Google Shape;128;p17"/>
            <p:cNvGrpSpPr/>
            <p:nvPr/>
          </p:nvGrpSpPr>
          <p:grpSpPr>
            <a:xfrm>
              <a:off x="4826996" y="886070"/>
              <a:ext cx="3619024" cy="2843520"/>
              <a:chOff x="2353821" y="1049020"/>
              <a:chExt cx="3619024" cy="2843520"/>
            </a:xfrm>
          </p:grpSpPr>
          <p:sp>
            <p:nvSpPr>
              <p:cNvPr id="129" name="Google Shape;129;p17"/>
              <p:cNvSpPr/>
              <p:nvPr/>
            </p:nvSpPr>
            <p:spPr>
              <a:xfrm rot="-287634">
                <a:off x="3998052" y="1745022"/>
                <a:ext cx="990766" cy="137001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 rot="2952503">
                <a:off x="3145178" y="2620208"/>
                <a:ext cx="352666" cy="389045"/>
              </a:xfrm>
              <a:prstGeom prst="arc">
                <a:avLst>
                  <a:gd fmla="val 13896013" name="adj1"/>
                  <a:gd fmla="val 20489641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131" name="Google Shape;131;p17"/>
              <p:cNvCxnSpPr/>
              <p:nvPr/>
            </p:nvCxnSpPr>
            <p:spPr>
              <a:xfrm>
                <a:off x="2984487" y="1089678"/>
                <a:ext cx="0" cy="23283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132" name="Google Shape;132;p17"/>
              <p:cNvCxnSpPr/>
              <p:nvPr/>
            </p:nvCxnSpPr>
            <p:spPr>
              <a:xfrm>
                <a:off x="2978647" y="3416700"/>
                <a:ext cx="2644500" cy="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33" name="Google Shape;133;p17"/>
              <p:cNvSpPr/>
              <p:nvPr/>
            </p:nvSpPr>
            <p:spPr>
              <a:xfrm rot="-2698554">
                <a:off x="2724021" y="2337686"/>
                <a:ext cx="1513138" cy="137037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>
                <a:off x="2861502" y="2778298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35" name="Google Shape;135;p17"/>
              <p:cNvSpPr txBox="1"/>
              <p:nvPr/>
            </p:nvSpPr>
            <p:spPr>
              <a:xfrm>
                <a:off x="5244751" y="338254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X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136" name="Google Shape;136;p17"/>
              <p:cNvSpPr txBox="1"/>
              <p:nvPr/>
            </p:nvSpPr>
            <p:spPr>
              <a:xfrm>
                <a:off x="2529960" y="104902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Z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 rot="9089023">
                <a:off x="3847316" y="1724326"/>
                <a:ext cx="480720" cy="470114"/>
              </a:xfrm>
              <a:prstGeom prst="arc">
                <a:avLst>
                  <a:gd fmla="val 11732183" name="adj1"/>
                  <a:gd fmla="val 21123469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3913535" y="1812057"/>
                <a:ext cx="577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3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139" name="Google Shape;139;p17"/>
              <p:cNvSpPr txBox="1"/>
              <p:nvPr/>
            </p:nvSpPr>
            <p:spPr>
              <a:xfrm>
                <a:off x="2353821" y="286888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h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140" name="Google Shape;140;p17"/>
              <p:cNvSpPr txBox="1"/>
              <p:nvPr/>
            </p:nvSpPr>
            <p:spPr>
              <a:xfrm>
                <a:off x="4204824" y="1173546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3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3233161" y="171935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2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142" name="Google Shape;142;p17"/>
              <p:cNvSpPr txBox="1"/>
              <p:nvPr/>
            </p:nvSpPr>
            <p:spPr>
              <a:xfrm>
                <a:off x="4903945" y="1180675"/>
                <a:ext cx="1068900" cy="4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675" lIns="103675" spcFirstLastPara="1" rIns="103675" wrap="square" tIns="1036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88">
                    <a:solidFill>
                      <a:schemeClr val="dk2"/>
                    </a:solidFill>
                  </a:rPr>
                  <a:t>P(d,z)</a:t>
                </a:r>
                <a:endParaRPr sz="1588">
                  <a:solidFill>
                    <a:schemeClr val="dk2"/>
                  </a:solidFill>
                </a:endParaRPr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3895269" y="1745752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4882085" y="1651487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145" name="Google Shape;145;p17"/>
              <p:cNvCxnSpPr/>
              <p:nvPr/>
            </p:nvCxnSpPr>
            <p:spPr>
              <a:xfrm>
                <a:off x="2984487" y="2916495"/>
                <a:ext cx="2026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" name="Google Shape;146;p17"/>
              <p:cNvSpPr txBox="1"/>
              <p:nvPr/>
            </p:nvSpPr>
            <p:spPr>
              <a:xfrm>
                <a:off x="3385527" y="2538973"/>
                <a:ext cx="439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2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2641575" y="2905827"/>
                <a:ext cx="168000" cy="510000"/>
              </a:xfrm>
              <a:prstGeom prst="leftBrace">
                <a:avLst>
                  <a:gd fmla="val 50000" name="adj1"/>
                  <a:gd fmla="val 50000" name="adj2"/>
                </a:avLst>
              </a:prstGeom>
              <a:noFill/>
              <a:ln cap="flat" cmpd="sng" w="108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</p:grpSp>
        <p:cxnSp>
          <p:nvCxnSpPr>
            <p:cNvPr id="148" name="Google Shape;148;p17"/>
            <p:cNvCxnSpPr/>
            <p:nvPr/>
          </p:nvCxnSpPr>
          <p:spPr>
            <a:xfrm>
              <a:off x="7474125" y="1625475"/>
              <a:ext cx="4800" cy="16377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49" name="Google Shape;149;p17"/>
          <p:cNvSpPr/>
          <p:nvPr/>
        </p:nvSpPr>
        <p:spPr>
          <a:xfrm rot="3953580">
            <a:off x="5735343" y="2692671"/>
            <a:ext cx="519290" cy="523859"/>
          </a:xfrm>
          <a:prstGeom prst="arc">
            <a:avLst>
              <a:gd fmla="val 13896013" name="adj1"/>
              <a:gd fmla="val 1928102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150" name="Google Shape;150;p17"/>
          <p:cNvSpPr/>
          <p:nvPr/>
        </p:nvSpPr>
        <p:spPr>
          <a:xfrm rot="3953580">
            <a:off x="5706768" y="2410382"/>
            <a:ext cx="519290" cy="523859"/>
          </a:xfrm>
          <a:prstGeom prst="arc">
            <a:avLst>
              <a:gd fmla="val 14831829" name="adj1"/>
              <a:gd fmla="val 1726898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cxnSp>
        <p:nvCxnSpPr>
          <p:cNvPr id="151" name="Google Shape;151;p17"/>
          <p:cNvCxnSpPr/>
          <p:nvPr/>
        </p:nvCxnSpPr>
        <p:spPr>
          <a:xfrm flipH="1" rot="10800000">
            <a:off x="5466600" y="1952600"/>
            <a:ext cx="2007300" cy="1118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7"/>
          <p:cNvSpPr/>
          <p:nvPr/>
        </p:nvSpPr>
        <p:spPr>
          <a:xfrm rot="-5400000">
            <a:off x="6385300" y="2695575"/>
            <a:ext cx="168000" cy="2016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153" name="Google Shape;153;p17"/>
          <p:cNvSpPr txBox="1"/>
          <p:nvPr/>
        </p:nvSpPr>
        <p:spPr>
          <a:xfrm>
            <a:off x="5854060" y="3719824"/>
            <a:ext cx="122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d </a:t>
            </a:r>
            <a:br>
              <a:rPr lang="en" sz="1200">
                <a:solidFill>
                  <a:srgbClr val="FF00FF"/>
                </a:solidFill>
              </a:rPr>
            </a:br>
            <a:r>
              <a:rPr lang="en" sz="1200">
                <a:solidFill>
                  <a:srgbClr val="FF00FF"/>
                </a:solidFill>
              </a:rPr>
              <a:t>(projection)</a:t>
            </a:r>
            <a:endParaRPr baseline="-25000" sz="1200">
              <a:solidFill>
                <a:srgbClr val="FF00FF"/>
              </a:solidFill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126975" y="26399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A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323700" y="15628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C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477600" y="284265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B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149881" y="2236490"/>
            <a:ext cx="38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218699" y="2672200"/>
            <a:ext cx="4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Side View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289150" y="1397875"/>
            <a:ext cx="17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   ⃤  APB, we get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18"/>
          <p:cNvGrpSpPr/>
          <p:nvPr/>
        </p:nvGrpSpPr>
        <p:grpSpPr>
          <a:xfrm>
            <a:off x="4827071" y="1214195"/>
            <a:ext cx="3619024" cy="2843520"/>
            <a:chOff x="4826996" y="886070"/>
            <a:chExt cx="3619024" cy="2843520"/>
          </a:xfrm>
        </p:grpSpPr>
        <p:grpSp>
          <p:nvGrpSpPr>
            <p:cNvPr id="166" name="Google Shape;166;p18"/>
            <p:cNvGrpSpPr/>
            <p:nvPr/>
          </p:nvGrpSpPr>
          <p:grpSpPr>
            <a:xfrm>
              <a:off x="4826996" y="886070"/>
              <a:ext cx="3619024" cy="2843520"/>
              <a:chOff x="2353821" y="1049020"/>
              <a:chExt cx="3619024" cy="2843520"/>
            </a:xfrm>
          </p:grpSpPr>
          <p:sp>
            <p:nvSpPr>
              <p:cNvPr id="167" name="Google Shape;167;p18"/>
              <p:cNvSpPr/>
              <p:nvPr/>
            </p:nvSpPr>
            <p:spPr>
              <a:xfrm rot="-287634">
                <a:off x="3998052" y="1745022"/>
                <a:ext cx="990766" cy="137001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 rot="2952503">
                <a:off x="3145178" y="2620208"/>
                <a:ext cx="352666" cy="389045"/>
              </a:xfrm>
              <a:prstGeom prst="arc">
                <a:avLst>
                  <a:gd fmla="val 13896013" name="adj1"/>
                  <a:gd fmla="val 20489641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169" name="Google Shape;169;p18"/>
              <p:cNvCxnSpPr/>
              <p:nvPr/>
            </p:nvCxnSpPr>
            <p:spPr>
              <a:xfrm>
                <a:off x="2984487" y="1089678"/>
                <a:ext cx="0" cy="23283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170" name="Google Shape;170;p18"/>
              <p:cNvCxnSpPr/>
              <p:nvPr/>
            </p:nvCxnSpPr>
            <p:spPr>
              <a:xfrm>
                <a:off x="2978647" y="3416700"/>
                <a:ext cx="2644500" cy="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71" name="Google Shape;171;p18"/>
              <p:cNvSpPr/>
              <p:nvPr/>
            </p:nvSpPr>
            <p:spPr>
              <a:xfrm rot="-2698554">
                <a:off x="2724021" y="2337686"/>
                <a:ext cx="1513138" cy="137037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2861502" y="2778298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73" name="Google Shape;173;p18"/>
              <p:cNvSpPr txBox="1"/>
              <p:nvPr/>
            </p:nvSpPr>
            <p:spPr>
              <a:xfrm>
                <a:off x="5244751" y="338254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X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174" name="Google Shape;174;p18"/>
              <p:cNvSpPr txBox="1"/>
              <p:nvPr/>
            </p:nvSpPr>
            <p:spPr>
              <a:xfrm>
                <a:off x="2529960" y="104902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Z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175" name="Google Shape;175;p18"/>
              <p:cNvSpPr/>
              <p:nvPr/>
            </p:nvSpPr>
            <p:spPr>
              <a:xfrm rot="9089023">
                <a:off x="3847316" y="1724326"/>
                <a:ext cx="480720" cy="470114"/>
              </a:xfrm>
              <a:prstGeom prst="arc">
                <a:avLst>
                  <a:gd fmla="val 11732183" name="adj1"/>
                  <a:gd fmla="val 21123469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76" name="Google Shape;176;p18"/>
              <p:cNvSpPr txBox="1"/>
              <p:nvPr/>
            </p:nvSpPr>
            <p:spPr>
              <a:xfrm>
                <a:off x="3913535" y="1812057"/>
                <a:ext cx="577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3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177" name="Google Shape;177;p18"/>
              <p:cNvSpPr txBox="1"/>
              <p:nvPr/>
            </p:nvSpPr>
            <p:spPr>
              <a:xfrm>
                <a:off x="2353821" y="286888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h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178" name="Google Shape;178;p18"/>
              <p:cNvSpPr txBox="1"/>
              <p:nvPr/>
            </p:nvSpPr>
            <p:spPr>
              <a:xfrm>
                <a:off x="4204824" y="1173546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3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179" name="Google Shape;179;p18"/>
              <p:cNvSpPr txBox="1"/>
              <p:nvPr/>
            </p:nvSpPr>
            <p:spPr>
              <a:xfrm>
                <a:off x="3233161" y="171935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2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180" name="Google Shape;180;p18"/>
              <p:cNvSpPr txBox="1"/>
              <p:nvPr/>
            </p:nvSpPr>
            <p:spPr>
              <a:xfrm>
                <a:off x="4903945" y="1180675"/>
                <a:ext cx="1068900" cy="4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675" lIns="103675" spcFirstLastPara="1" rIns="103675" wrap="square" tIns="1036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88">
                    <a:solidFill>
                      <a:schemeClr val="dk2"/>
                    </a:solidFill>
                  </a:rPr>
                  <a:t>P(d,z)</a:t>
                </a:r>
                <a:endParaRPr sz="1588">
                  <a:solidFill>
                    <a:schemeClr val="dk2"/>
                  </a:solidFill>
                </a:endParaRPr>
              </a:p>
            </p:txBody>
          </p:sp>
          <p:sp>
            <p:nvSpPr>
              <p:cNvPr id="181" name="Google Shape;181;p18"/>
              <p:cNvSpPr/>
              <p:nvPr/>
            </p:nvSpPr>
            <p:spPr>
              <a:xfrm>
                <a:off x="3895269" y="1745752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4882085" y="1651487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183" name="Google Shape;183;p18"/>
              <p:cNvCxnSpPr/>
              <p:nvPr/>
            </p:nvCxnSpPr>
            <p:spPr>
              <a:xfrm>
                <a:off x="2984487" y="2916495"/>
                <a:ext cx="2026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4" name="Google Shape;184;p18"/>
              <p:cNvSpPr txBox="1"/>
              <p:nvPr/>
            </p:nvSpPr>
            <p:spPr>
              <a:xfrm>
                <a:off x="3385527" y="2538973"/>
                <a:ext cx="439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2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185" name="Google Shape;185;p18"/>
              <p:cNvSpPr/>
              <p:nvPr/>
            </p:nvSpPr>
            <p:spPr>
              <a:xfrm>
                <a:off x="2641575" y="2905827"/>
                <a:ext cx="168000" cy="510000"/>
              </a:xfrm>
              <a:prstGeom prst="leftBrace">
                <a:avLst>
                  <a:gd fmla="val 50000" name="adj1"/>
                  <a:gd fmla="val 50000" name="adj2"/>
                </a:avLst>
              </a:prstGeom>
              <a:noFill/>
              <a:ln cap="flat" cmpd="sng" w="108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</p:grpSp>
        <p:cxnSp>
          <p:nvCxnSpPr>
            <p:cNvPr id="186" name="Google Shape;186;p18"/>
            <p:cNvCxnSpPr/>
            <p:nvPr/>
          </p:nvCxnSpPr>
          <p:spPr>
            <a:xfrm>
              <a:off x="7474125" y="1625475"/>
              <a:ext cx="4800" cy="16377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87" name="Google Shape;187;p18"/>
          <p:cNvSpPr/>
          <p:nvPr/>
        </p:nvSpPr>
        <p:spPr>
          <a:xfrm rot="3953580">
            <a:off x="5735343" y="2692671"/>
            <a:ext cx="519290" cy="523859"/>
          </a:xfrm>
          <a:prstGeom prst="arc">
            <a:avLst>
              <a:gd fmla="val 13896013" name="adj1"/>
              <a:gd fmla="val 1928102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188" name="Google Shape;188;p18"/>
          <p:cNvSpPr/>
          <p:nvPr/>
        </p:nvSpPr>
        <p:spPr>
          <a:xfrm rot="3953580">
            <a:off x="5706768" y="2410382"/>
            <a:ext cx="519290" cy="523859"/>
          </a:xfrm>
          <a:prstGeom prst="arc">
            <a:avLst>
              <a:gd fmla="val 14831829" name="adj1"/>
              <a:gd fmla="val 1726898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cxnSp>
        <p:nvCxnSpPr>
          <p:cNvPr id="189" name="Google Shape;189;p18"/>
          <p:cNvCxnSpPr/>
          <p:nvPr/>
        </p:nvCxnSpPr>
        <p:spPr>
          <a:xfrm flipH="1" rot="10800000">
            <a:off x="5466600" y="1952600"/>
            <a:ext cx="2007300" cy="1118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8"/>
          <p:cNvSpPr/>
          <p:nvPr/>
        </p:nvSpPr>
        <p:spPr>
          <a:xfrm rot="-5400000">
            <a:off x="6385300" y="2695575"/>
            <a:ext cx="168000" cy="2016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191" name="Google Shape;191;p18"/>
          <p:cNvSpPr txBox="1"/>
          <p:nvPr/>
        </p:nvSpPr>
        <p:spPr>
          <a:xfrm>
            <a:off x="5854060" y="3719824"/>
            <a:ext cx="122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d </a:t>
            </a:r>
            <a:br>
              <a:rPr lang="en" sz="1200">
                <a:solidFill>
                  <a:srgbClr val="FF00FF"/>
                </a:solidFill>
              </a:rPr>
            </a:br>
            <a:r>
              <a:rPr lang="en" sz="1200">
                <a:solidFill>
                  <a:srgbClr val="FF00FF"/>
                </a:solidFill>
              </a:rPr>
              <a:t>(projection)</a:t>
            </a:r>
            <a:endParaRPr baseline="-25000" sz="1200">
              <a:solidFill>
                <a:srgbClr val="FF00FF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126975" y="26399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A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323700" y="15628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C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477600" y="284265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B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149881" y="2236490"/>
            <a:ext cx="38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6218699" y="2672200"/>
            <a:ext cx="4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1700" y="2085699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θ’’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tan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              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152850" y="1993899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- 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2218550" y="2239449"/>
            <a:ext cx="41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0" name="Google Shape;200;p18"/>
          <p:cNvCxnSpPr/>
          <p:nvPr/>
        </p:nvCxnSpPr>
        <p:spPr>
          <a:xfrm>
            <a:off x="2152850" y="2289874"/>
            <a:ext cx="5493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18"/>
          <p:cNvSpPr txBox="1"/>
          <p:nvPr/>
        </p:nvSpPr>
        <p:spPr>
          <a:xfrm>
            <a:off x="313449" y="2548221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θ’’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 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                    )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2266372" y="2456421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z - h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1986421" y="2677676"/>
            <a:ext cx="103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√(x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rgbClr val="C00000"/>
              </a:solidFill>
            </a:endParaRPr>
          </a:p>
        </p:txBody>
      </p:sp>
      <p:cxnSp>
        <p:nvCxnSpPr>
          <p:cNvPr id="204" name="Google Shape;204;p18"/>
          <p:cNvCxnSpPr/>
          <p:nvPr/>
        </p:nvCxnSpPr>
        <p:spPr>
          <a:xfrm>
            <a:off x="2154599" y="2752396"/>
            <a:ext cx="7368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18"/>
          <p:cNvSpPr/>
          <p:nvPr/>
        </p:nvSpPr>
        <p:spPr>
          <a:xfrm flipH="1">
            <a:off x="2636450" y="772675"/>
            <a:ext cx="1383000" cy="1025400"/>
          </a:xfrm>
          <a:prstGeom prst="rtTriangl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2361125" y="15628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A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019450" y="515825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P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4019450" y="15628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B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09" name="Google Shape;209;p18"/>
          <p:cNvSpPr/>
          <p:nvPr/>
        </p:nvSpPr>
        <p:spPr>
          <a:xfrm rot="3953580">
            <a:off x="2728618" y="1426046"/>
            <a:ext cx="519290" cy="523859"/>
          </a:xfrm>
          <a:prstGeom prst="arc">
            <a:avLst>
              <a:gd fmla="val 13896013" name="adj1"/>
              <a:gd fmla="val 1928102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210" name="Google Shape;210;p18"/>
          <p:cNvSpPr txBox="1"/>
          <p:nvPr/>
        </p:nvSpPr>
        <p:spPr>
          <a:xfrm>
            <a:off x="3183124" y="1397875"/>
            <a:ext cx="4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313450" y="3219675"/>
            <a:ext cx="17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3202325" y="1716400"/>
            <a:ext cx="41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d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3980650" y="1105600"/>
            <a:ext cx="41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z-h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298880" y="3519834"/>
            <a:ext cx="45153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d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(z-h)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(√(x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(z-h)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 = √ (x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(z-h)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Side View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289150" y="1397875"/>
            <a:ext cx="17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   ⃤  CAP, we get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19"/>
          <p:cNvGrpSpPr/>
          <p:nvPr/>
        </p:nvGrpSpPr>
        <p:grpSpPr>
          <a:xfrm>
            <a:off x="4827071" y="1214195"/>
            <a:ext cx="3619024" cy="2843520"/>
            <a:chOff x="4826996" y="886070"/>
            <a:chExt cx="3619024" cy="2843520"/>
          </a:xfrm>
        </p:grpSpPr>
        <p:grpSp>
          <p:nvGrpSpPr>
            <p:cNvPr id="222" name="Google Shape;222;p19"/>
            <p:cNvGrpSpPr/>
            <p:nvPr/>
          </p:nvGrpSpPr>
          <p:grpSpPr>
            <a:xfrm>
              <a:off x="4826996" y="886070"/>
              <a:ext cx="3619024" cy="2843520"/>
              <a:chOff x="2353821" y="1049020"/>
              <a:chExt cx="3619024" cy="2843520"/>
            </a:xfrm>
          </p:grpSpPr>
          <p:sp>
            <p:nvSpPr>
              <p:cNvPr id="223" name="Google Shape;223;p19"/>
              <p:cNvSpPr/>
              <p:nvPr/>
            </p:nvSpPr>
            <p:spPr>
              <a:xfrm rot="-287634">
                <a:off x="3998052" y="1745022"/>
                <a:ext cx="990766" cy="137001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 rot="2952503">
                <a:off x="3145178" y="2620208"/>
                <a:ext cx="352666" cy="389045"/>
              </a:xfrm>
              <a:prstGeom prst="arc">
                <a:avLst>
                  <a:gd fmla="val 13896013" name="adj1"/>
                  <a:gd fmla="val 20489641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225" name="Google Shape;225;p19"/>
              <p:cNvCxnSpPr/>
              <p:nvPr/>
            </p:nvCxnSpPr>
            <p:spPr>
              <a:xfrm>
                <a:off x="2984487" y="1089678"/>
                <a:ext cx="0" cy="23283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226" name="Google Shape;226;p19"/>
              <p:cNvCxnSpPr/>
              <p:nvPr/>
            </p:nvCxnSpPr>
            <p:spPr>
              <a:xfrm>
                <a:off x="2978647" y="3416700"/>
                <a:ext cx="2644500" cy="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27" name="Google Shape;227;p19"/>
              <p:cNvSpPr/>
              <p:nvPr/>
            </p:nvSpPr>
            <p:spPr>
              <a:xfrm rot="-2698554">
                <a:off x="2724021" y="2337686"/>
                <a:ext cx="1513138" cy="137037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28" name="Google Shape;228;p19"/>
              <p:cNvSpPr/>
              <p:nvPr/>
            </p:nvSpPr>
            <p:spPr>
              <a:xfrm>
                <a:off x="2861502" y="2778298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29" name="Google Shape;229;p19"/>
              <p:cNvSpPr txBox="1"/>
              <p:nvPr/>
            </p:nvSpPr>
            <p:spPr>
              <a:xfrm>
                <a:off x="5244751" y="338254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X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230" name="Google Shape;230;p19"/>
              <p:cNvSpPr txBox="1"/>
              <p:nvPr/>
            </p:nvSpPr>
            <p:spPr>
              <a:xfrm>
                <a:off x="2529960" y="104902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Z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231" name="Google Shape;231;p19"/>
              <p:cNvSpPr/>
              <p:nvPr/>
            </p:nvSpPr>
            <p:spPr>
              <a:xfrm rot="9089023">
                <a:off x="3847316" y="1724326"/>
                <a:ext cx="480720" cy="470114"/>
              </a:xfrm>
              <a:prstGeom prst="arc">
                <a:avLst>
                  <a:gd fmla="val 11732183" name="adj1"/>
                  <a:gd fmla="val 21123469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32" name="Google Shape;232;p19"/>
              <p:cNvSpPr txBox="1"/>
              <p:nvPr/>
            </p:nvSpPr>
            <p:spPr>
              <a:xfrm>
                <a:off x="3913535" y="1812057"/>
                <a:ext cx="577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3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233" name="Google Shape;233;p19"/>
              <p:cNvSpPr txBox="1"/>
              <p:nvPr/>
            </p:nvSpPr>
            <p:spPr>
              <a:xfrm>
                <a:off x="2353821" y="286888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h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234" name="Google Shape;234;p19"/>
              <p:cNvSpPr txBox="1"/>
              <p:nvPr/>
            </p:nvSpPr>
            <p:spPr>
              <a:xfrm>
                <a:off x="4204824" y="1173546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3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235" name="Google Shape;235;p19"/>
              <p:cNvSpPr txBox="1"/>
              <p:nvPr/>
            </p:nvSpPr>
            <p:spPr>
              <a:xfrm>
                <a:off x="3233161" y="171935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2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236" name="Google Shape;236;p19"/>
              <p:cNvSpPr txBox="1"/>
              <p:nvPr/>
            </p:nvSpPr>
            <p:spPr>
              <a:xfrm>
                <a:off x="4903945" y="1180675"/>
                <a:ext cx="1068900" cy="4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675" lIns="103675" spcFirstLastPara="1" rIns="103675" wrap="square" tIns="1036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88">
                    <a:solidFill>
                      <a:schemeClr val="dk2"/>
                    </a:solidFill>
                  </a:rPr>
                  <a:t>P(d,z)</a:t>
                </a:r>
                <a:endParaRPr sz="1588">
                  <a:solidFill>
                    <a:schemeClr val="dk2"/>
                  </a:solidFill>
                </a:endParaRPr>
              </a:p>
            </p:txBody>
          </p:sp>
          <p:sp>
            <p:nvSpPr>
              <p:cNvPr id="237" name="Google Shape;237;p19"/>
              <p:cNvSpPr/>
              <p:nvPr/>
            </p:nvSpPr>
            <p:spPr>
              <a:xfrm>
                <a:off x="3895269" y="1745752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4882085" y="1651487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239" name="Google Shape;239;p19"/>
              <p:cNvCxnSpPr/>
              <p:nvPr/>
            </p:nvCxnSpPr>
            <p:spPr>
              <a:xfrm>
                <a:off x="2984487" y="2916495"/>
                <a:ext cx="2026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0" name="Google Shape;240;p19"/>
              <p:cNvSpPr txBox="1"/>
              <p:nvPr/>
            </p:nvSpPr>
            <p:spPr>
              <a:xfrm>
                <a:off x="3385527" y="2538973"/>
                <a:ext cx="439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2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2641575" y="2905827"/>
                <a:ext cx="168000" cy="510000"/>
              </a:xfrm>
              <a:prstGeom prst="leftBrace">
                <a:avLst>
                  <a:gd fmla="val 50000" name="adj1"/>
                  <a:gd fmla="val 50000" name="adj2"/>
                </a:avLst>
              </a:prstGeom>
              <a:noFill/>
              <a:ln cap="flat" cmpd="sng" w="108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</p:grpSp>
        <p:cxnSp>
          <p:nvCxnSpPr>
            <p:cNvPr id="242" name="Google Shape;242;p19"/>
            <p:cNvCxnSpPr/>
            <p:nvPr/>
          </p:nvCxnSpPr>
          <p:spPr>
            <a:xfrm>
              <a:off x="7474125" y="1625475"/>
              <a:ext cx="4800" cy="16377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43" name="Google Shape;243;p19"/>
          <p:cNvSpPr/>
          <p:nvPr/>
        </p:nvSpPr>
        <p:spPr>
          <a:xfrm rot="3953580">
            <a:off x="5735343" y="2692671"/>
            <a:ext cx="519290" cy="523859"/>
          </a:xfrm>
          <a:prstGeom prst="arc">
            <a:avLst>
              <a:gd fmla="val 13896013" name="adj1"/>
              <a:gd fmla="val 1928102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244" name="Google Shape;244;p19"/>
          <p:cNvSpPr/>
          <p:nvPr/>
        </p:nvSpPr>
        <p:spPr>
          <a:xfrm rot="3953580">
            <a:off x="5706768" y="2410382"/>
            <a:ext cx="519290" cy="523859"/>
          </a:xfrm>
          <a:prstGeom prst="arc">
            <a:avLst>
              <a:gd fmla="val 14831829" name="adj1"/>
              <a:gd fmla="val 1726898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cxnSp>
        <p:nvCxnSpPr>
          <p:cNvPr id="245" name="Google Shape;245;p19"/>
          <p:cNvCxnSpPr/>
          <p:nvPr/>
        </p:nvCxnSpPr>
        <p:spPr>
          <a:xfrm flipH="1" rot="10800000">
            <a:off x="5466600" y="1952600"/>
            <a:ext cx="2007300" cy="1118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19"/>
          <p:cNvSpPr/>
          <p:nvPr/>
        </p:nvSpPr>
        <p:spPr>
          <a:xfrm rot="-5400000">
            <a:off x="6385300" y="2695575"/>
            <a:ext cx="168000" cy="2016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247" name="Google Shape;247;p19"/>
          <p:cNvSpPr txBox="1"/>
          <p:nvPr/>
        </p:nvSpPr>
        <p:spPr>
          <a:xfrm>
            <a:off x="5854060" y="3719824"/>
            <a:ext cx="122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d </a:t>
            </a:r>
            <a:br>
              <a:rPr lang="en" sz="1200">
                <a:solidFill>
                  <a:srgbClr val="FF00FF"/>
                </a:solidFill>
              </a:rPr>
            </a:br>
            <a:r>
              <a:rPr lang="en" sz="1200">
                <a:solidFill>
                  <a:srgbClr val="FF00FF"/>
                </a:solidFill>
              </a:rPr>
              <a:t>(projection)</a:t>
            </a:r>
            <a:endParaRPr baseline="-25000" sz="1200">
              <a:solidFill>
                <a:srgbClr val="FF00FF"/>
              </a:solidFill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5126975" y="26399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A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6323700" y="15628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C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7477600" y="284265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B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6149881" y="2236490"/>
            <a:ext cx="38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6218699" y="2672200"/>
            <a:ext cx="4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311700" y="2085699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 θ’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                                     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(cosine rule)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1960933" y="1983600"/>
            <a:ext cx="16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2126216" y="2215152"/>
            <a:ext cx="11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AC . AP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6" name="Google Shape;256;p19"/>
          <p:cNvCxnSpPr/>
          <p:nvPr/>
        </p:nvCxnSpPr>
        <p:spPr>
          <a:xfrm>
            <a:off x="1987625" y="2294675"/>
            <a:ext cx="131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 txBox="1"/>
          <p:nvPr/>
        </p:nvSpPr>
        <p:spPr>
          <a:xfrm>
            <a:off x="2016613" y="1567425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A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4209000" y="5866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P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3042663" y="567161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C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313450" y="3219675"/>
            <a:ext cx="17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2266375" y="926439"/>
            <a:ext cx="2055650" cy="860175"/>
          </a:xfrm>
          <a:custGeom>
            <a:rect b="b" l="l" r="r" t="t"/>
            <a:pathLst>
              <a:path extrusionOk="0" h="34407" w="82226">
                <a:moveTo>
                  <a:pt x="0" y="34407"/>
                </a:moveTo>
                <a:lnTo>
                  <a:pt x="37323" y="0"/>
                </a:lnTo>
                <a:lnTo>
                  <a:pt x="82226" y="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2" name="Google Shape;262;p19"/>
          <p:cNvSpPr/>
          <p:nvPr/>
        </p:nvSpPr>
        <p:spPr>
          <a:xfrm rot="3953580">
            <a:off x="2481218" y="1213321"/>
            <a:ext cx="519290" cy="523859"/>
          </a:xfrm>
          <a:prstGeom prst="arc">
            <a:avLst>
              <a:gd fmla="val 13896013" name="adj1"/>
              <a:gd fmla="val 17610326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263" name="Google Shape;263;p19"/>
          <p:cNvSpPr txBox="1"/>
          <p:nvPr/>
        </p:nvSpPr>
        <p:spPr>
          <a:xfrm>
            <a:off x="2891399" y="1057700"/>
            <a:ext cx="4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294011" y="2622015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θ’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cos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2025847" y="2485900"/>
            <a:ext cx="22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2186282" y="2770906"/>
            <a:ext cx="11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AP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67" name="Google Shape;267;p19"/>
          <p:cNvCxnSpPr/>
          <p:nvPr/>
        </p:nvCxnSpPr>
        <p:spPr>
          <a:xfrm flipH="1" rot="10800000">
            <a:off x="2047691" y="2847730"/>
            <a:ext cx="11550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19"/>
          <p:cNvSpPr txBox="1"/>
          <p:nvPr/>
        </p:nvSpPr>
        <p:spPr>
          <a:xfrm>
            <a:off x="311700" y="3619875"/>
            <a:ext cx="2055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θ’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θ’’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1627075" y="4021575"/>
            <a:ext cx="197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cos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                            ) +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2083385" y="3861114"/>
            <a:ext cx="21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AP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rgbClr val="C00000"/>
              </a:solidFill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2236175" y="4146118"/>
            <a:ext cx="10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 AP</a:t>
            </a:r>
            <a:endParaRPr sz="1800">
              <a:solidFill>
                <a:srgbClr val="C00000"/>
              </a:solidFill>
            </a:endParaRPr>
          </a:p>
        </p:txBody>
      </p:sp>
      <p:cxnSp>
        <p:nvCxnSpPr>
          <p:cNvPr id="272" name="Google Shape;272;p19"/>
          <p:cNvCxnSpPr/>
          <p:nvPr/>
        </p:nvCxnSpPr>
        <p:spPr>
          <a:xfrm flipH="1" rot="10800000">
            <a:off x="2104188" y="4222941"/>
            <a:ext cx="1100100" cy="2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19"/>
          <p:cNvSpPr txBox="1"/>
          <p:nvPr/>
        </p:nvSpPr>
        <p:spPr>
          <a:xfrm>
            <a:off x="2067875" y="4006600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                    )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4020705" y="3914808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z - h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3740754" y="4136063"/>
            <a:ext cx="103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√(x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rgbClr val="C00000"/>
              </a:solidFill>
            </a:endParaRPr>
          </a:p>
        </p:txBody>
      </p:sp>
      <p:cxnSp>
        <p:nvCxnSpPr>
          <p:cNvPr id="276" name="Google Shape;276;p19"/>
          <p:cNvCxnSpPr/>
          <p:nvPr/>
        </p:nvCxnSpPr>
        <p:spPr>
          <a:xfrm>
            <a:off x="3908932" y="4210783"/>
            <a:ext cx="7368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Side View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289150" y="1397875"/>
            <a:ext cx="177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 ⃤ CAP, we also get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20"/>
          <p:cNvGrpSpPr/>
          <p:nvPr/>
        </p:nvGrpSpPr>
        <p:grpSpPr>
          <a:xfrm>
            <a:off x="4827071" y="1214195"/>
            <a:ext cx="3619024" cy="2843520"/>
            <a:chOff x="4826996" y="886070"/>
            <a:chExt cx="3619024" cy="2843520"/>
          </a:xfrm>
        </p:grpSpPr>
        <p:grpSp>
          <p:nvGrpSpPr>
            <p:cNvPr id="284" name="Google Shape;284;p20"/>
            <p:cNvGrpSpPr/>
            <p:nvPr/>
          </p:nvGrpSpPr>
          <p:grpSpPr>
            <a:xfrm>
              <a:off x="4826996" y="886070"/>
              <a:ext cx="3619024" cy="2843520"/>
              <a:chOff x="2353821" y="1049020"/>
              <a:chExt cx="3619024" cy="2843520"/>
            </a:xfrm>
          </p:grpSpPr>
          <p:sp>
            <p:nvSpPr>
              <p:cNvPr id="285" name="Google Shape;285;p20"/>
              <p:cNvSpPr/>
              <p:nvPr/>
            </p:nvSpPr>
            <p:spPr>
              <a:xfrm rot="-287634">
                <a:off x="3998052" y="1745022"/>
                <a:ext cx="990766" cy="137001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86" name="Google Shape;286;p20"/>
              <p:cNvSpPr/>
              <p:nvPr/>
            </p:nvSpPr>
            <p:spPr>
              <a:xfrm rot="2952503">
                <a:off x="3145178" y="2620208"/>
                <a:ext cx="352666" cy="389045"/>
              </a:xfrm>
              <a:prstGeom prst="arc">
                <a:avLst>
                  <a:gd fmla="val 13896013" name="adj1"/>
                  <a:gd fmla="val 20489641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287" name="Google Shape;287;p20"/>
              <p:cNvCxnSpPr/>
              <p:nvPr/>
            </p:nvCxnSpPr>
            <p:spPr>
              <a:xfrm>
                <a:off x="2984487" y="1089678"/>
                <a:ext cx="0" cy="23283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288" name="Google Shape;288;p20"/>
              <p:cNvCxnSpPr/>
              <p:nvPr/>
            </p:nvCxnSpPr>
            <p:spPr>
              <a:xfrm>
                <a:off x="2978647" y="3416700"/>
                <a:ext cx="2644500" cy="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89" name="Google Shape;289;p20"/>
              <p:cNvSpPr/>
              <p:nvPr/>
            </p:nvSpPr>
            <p:spPr>
              <a:xfrm rot="-2698554">
                <a:off x="2724021" y="2337686"/>
                <a:ext cx="1513138" cy="137037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>
                <a:off x="2861502" y="2778298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91" name="Google Shape;291;p20"/>
              <p:cNvSpPr txBox="1"/>
              <p:nvPr/>
            </p:nvSpPr>
            <p:spPr>
              <a:xfrm>
                <a:off x="5244751" y="338254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X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292" name="Google Shape;292;p20"/>
              <p:cNvSpPr txBox="1"/>
              <p:nvPr/>
            </p:nvSpPr>
            <p:spPr>
              <a:xfrm>
                <a:off x="2529960" y="104902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Z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 rot="9089023">
                <a:off x="3847316" y="1724326"/>
                <a:ext cx="480720" cy="470114"/>
              </a:xfrm>
              <a:prstGeom prst="arc">
                <a:avLst>
                  <a:gd fmla="val 11732183" name="adj1"/>
                  <a:gd fmla="val 21123469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294" name="Google Shape;294;p20"/>
              <p:cNvSpPr txBox="1"/>
              <p:nvPr/>
            </p:nvSpPr>
            <p:spPr>
              <a:xfrm>
                <a:off x="3913525" y="1812050"/>
                <a:ext cx="4278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3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295" name="Google Shape;295;p20"/>
              <p:cNvSpPr txBox="1"/>
              <p:nvPr/>
            </p:nvSpPr>
            <p:spPr>
              <a:xfrm>
                <a:off x="2353821" y="286888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h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296" name="Google Shape;296;p20"/>
              <p:cNvSpPr txBox="1"/>
              <p:nvPr/>
            </p:nvSpPr>
            <p:spPr>
              <a:xfrm>
                <a:off x="4204824" y="1173546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3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297" name="Google Shape;297;p20"/>
              <p:cNvSpPr txBox="1"/>
              <p:nvPr/>
            </p:nvSpPr>
            <p:spPr>
              <a:xfrm>
                <a:off x="3233161" y="1719350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2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298" name="Google Shape;298;p20"/>
              <p:cNvSpPr txBox="1"/>
              <p:nvPr/>
            </p:nvSpPr>
            <p:spPr>
              <a:xfrm>
                <a:off x="4903945" y="1180675"/>
                <a:ext cx="1068900" cy="4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675" lIns="103675" spcFirstLastPara="1" rIns="103675" wrap="square" tIns="1036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88">
                    <a:solidFill>
                      <a:schemeClr val="dk2"/>
                    </a:solidFill>
                  </a:rPr>
                  <a:t>P(d,z)</a:t>
                </a:r>
                <a:endParaRPr sz="1588">
                  <a:solidFill>
                    <a:schemeClr val="dk2"/>
                  </a:solidFill>
                </a:endParaRPr>
              </a:p>
            </p:txBody>
          </p:sp>
          <p:sp>
            <p:nvSpPr>
              <p:cNvPr id="299" name="Google Shape;299;p20"/>
              <p:cNvSpPr/>
              <p:nvPr/>
            </p:nvSpPr>
            <p:spPr>
              <a:xfrm>
                <a:off x="3895269" y="1745752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>
                <a:off x="4882085" y="1651487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301" name="Google Shape;301;p20"/>
              <p:cNvCxnSpPr/>
              <p:nvPr/>
            </p:nvCxnSpPr>
            <p:spPr>
              <a:xfrm>
                <a:off x="2984487" y="2916495"/>
                <a:ext cx="2026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2" name="Google Shape;302;p20"/>
              <p:cNvSpPr txBox="1"/>
              <p:nvPr/>
            </p:nvSpPr>
            <p:spPr>
              <a:xfrm>
                <a:off x="3385527" y="2538973"/>
                <a:ext cx="439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204">
                    <a:solidFill>
                      <a:srgbClr val="4472C4"/>
                    </a:solidFill>
                  </a:rPr>
                  <a:t>2</a:t>
                </a:r>
                <a:endParaRPr baseline="-25000" sz="1204">
                  <a:solidFill>
                    <a:srgbClr val="4472C4"/>
                  </a:solidFill>
                </a:endParaRPr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>
                <a:off x="2641575" y="2905827"/>
                <a:ext cx="168000" cy="510000"/>
              </a:xfrm>
              <a:prstGeom prst="leftBrace">
                <a:avLst>
                  <a:gd fmla="val 50000" name="adj1"/>
                  <a:gd fmla="val 50000" name="adj2"/>
                </a:avLst>
              </a:prstGeom>
              <a:noFill/>
              <a:ln cap="flat" cmpd="sng" w="108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</p:grpSp>
        <p:cxnSp>
          <p:nvCxnSpPr>
            <p:cNvPr id="304" name="Google Shape;304;p20"/>
            <p:cNvCxnSpPr/>
            <p:nvPr/>
          </p:nvCxnSpPr>
          <p:spPr>
            <a:xfrm>
              <a:off x="7474125" y="1625475"/>
              <a:ext cx="4800" cy="16377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305" name="Google Shape;305;p20"/>
          <p:cNvSpPr/>
          <p:nvPr/>
        </p:nvSpPr>
        <p:spPr>
          <a:xfrm rot="3953580">
            <a:off x="5735343" y="2692671"/>
            <a:ext cx="519290" cy="523859"/>
          </a:xfrm>
          <a:prstGeom prst="arc">
            <a:avLst>
              <a:gd fmla="val 13896013" name="adj1"/>
              <a:gd fmla="val 1928102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306" name="Google Shape;306;p20"/>
          <p:cNvSpPr/>
          <p:nvPr/>
        </p:nvSpPr>
        <p:spPr>
          <a:xfrm rot="3953580">
            <a:off x="5706768" y="2410382"/>
            <a:ext cx="519290" cy="523859"/>
          </a:xfrm>
          <a:prstGeom prst="arc">
            <a:avLst>
              <a:gd fmla="val 14831829" name="adj1"/>
              <a:gd fmla="val 1726898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cxnSp>
        <p:nvCxnSpPr>
          <p:cNvPr id="307" name="Google Shape;307;p20"/>
          <p:cNvCxnSpPr/>
          <p:nvPr/>
        </p:nvCxnSpPr>
        <p:spPr>
          <a:xfrm flipH="1" rot="10800000">
            <a:off x="5466600" y="1952600"/>
            <a:ext cx="2007300" cy="1118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0"/>
          <p:cNvSpPr/>
          <p:nvPr/>
        </p:nvSpPr>
        <p:spPr>
          <a:xfrm rot="-5400000">
            <a:off x="6385300" y="2695575"/>
            <a:ext cx="168000" cy="2016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8"/>
          </a:p>
        </p:txBody>
      </p:sp>
      <p:sp>
        <p:nvSpPr>
          <p:cNvPr id="309" name="Google Shape;309;p20"/>
          <p:cNvSpPr txBox="1"/>
          <p:nvPr/>
        </p:nvSpPr>
        <p:spPr>
          <a:xfrm>
            <a:off x="5854060" y="3719824"/>
            <a:ext cx="122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d </a:t>
            </a:r>
            <a:br>
              <a:rPr lang="en" sz="1200">
                <a:solidFill>
                  <a:srgbClr val="FF00FF"/>
                </a:solidFill>
              </a:rPr>
            </a:br>
            <a:r>
              <a:rPr lang="en" sz="1200">
                <a:solidFill>
                  <a:srgbClr val="FF00FF"/>
                </a:solidFill>
              </a:rPr>
              <a:t>(projection)</a:t>
            </a:r>
            <a:endParaRPr baseline="-25000" sz="1200">
              <a:solidFill>
                <a:srgbClr val="FF00FF"/>
              </a:solidFill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5126975" y="26399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A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6323700" y="15628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C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7477600" y="284265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B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6149881" y="2236490"/>
            <a:ext cx="38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6218699" y="2672200"/>
            <a:ext cx="4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θ’’</a:t>
            </a:r>
            <a:r>
              <a:rPr b="1" baseline="-25000"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311700" y="2085699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 θ</a:t>
            </a:r>
            <a:r>
              <a:rPr b="1" baseline="-25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                                     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(cosine rule)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960933" y="1983600"/>
            <a:ext cx="16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CP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chemeClr val="dk2"/>
              </a:solidFill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2126216" y="2215152"/>
            <a:ext cx="11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AC . CP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18" name="Google Shape;318;p20"/>
          <p:cNvCxnSpPr/>
          <p:nvPr/>
        </p:nvCxnSpPr>
        <p:spPr>
          <a:xfrm>
            <a:off x="1987625" y="2294675"/>
            <a:ext cx="131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0"/>
          <p:cNvSpPr txBox="1"/>
          <p:nvPr/>
        </p:nvSpPr>
        <p:spPr>
          <a:xfrm>
            <a:off x="2016613" y="1567425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A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4209000" y="586600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P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3042663" y="567161"/>
            <a:ext cx="28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C</a:t>
            </a:r>
            <a:endParaRPr sz="1600">
              <a:solidFill>
                <a:srgbClr val="38761D"/>
              </a:solidFill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266375" y="926439"/>
            <a:ext cx="2055650" cy="860175"/>
          </a:xfrm>
          <a:custGeom>
            <a:rect b="b" l="l" r="r" t="t"/>
            <a:pathLst>
              <a:path extrusionOk="0" h="34407" w="82226">
                <a:moveTo>
                  <a:pt x="0" y="34407"/>
                </a:moveTo>
                <a:lnTo>
                  <a:pt x="37323" y="0"/>
                </a:lnTo>
                <a:lnTo>
                  <a:pt x="82226" y="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3" name="Google Shape;323;p20"/>
          <p:cNvSpPr txBox="1"/>
          <p:nvPr/>
        </p:nvSpPr>
        <p:spPr>
          <a:xfrm>
            <a:off x="294011" y="2622015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 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 cos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2025847" y="2485900"/>
            <a:ext cx="22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 AP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rgbClr val="C00000"/>
              </a:solidFill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2186282" y="2770906"/>
            <a:ext cx="11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rgbClr val="C00000"/>
              </a:solidFill>
            </a:endParaRPr>
          </a:p>
        </p:txBody>
      </p:sp>
      <p:cxnSp>
        <p:nvCxnSpPr>
          <p:cNvPr id="326" name="Google Shape;326;p20"/>
          <p:cNvCxnSpPr/>
          <p:nvPr/>
        </p:nvCxnSpPr>
        <p:spPr>
          <a:xfrm flipH="1" rot="10800000">
            <a:off x="2047691" y="2847730"/>
            <a:ext cx="1155000" cy="2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20"/>
          <p:cNvSpPr txBox="1"/>
          <p:nvPr/>
        </p:nvSpPr>
        <p:spPr>
          <a:xfrm>
            <a:off x="3280335" y="874452"/>
            <a:ext cx="5772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700" lIns="137700" spcFirstLastPara="1" rIns="137700" wrap="square" tIns="13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4">
                <a:solidFill>
                  <a:srgbClr val="4472C4"/>
                </a:solidFill>
              </a:rPr>
              <a:t>θ</a:t>
            </a:r>
            <a:r>
              <a:rPr baseline="-25000" lang="en" sz="1204">
                <a:solidFill>
                  <a:srgbClr val="4472C4"/>
                </a:solidFill>
              </a:rPr>
              <a:t>3</a:t>
            </a:r>
            <a:endParaRPr baseline="-25000" sz="1204">
              <a:solidFill>
                <a:srgbClr val="4472C4"/>
              </a:solidFill>
            </a:endParaRPr>
          </a:p>
        </p:txBody>
      </p:sp>
      <p:sp>
        <p:nvSpPr>
          <p:cNvPr id="328" name="Google Shape;328;p20"/>
          <p:cNvSpPr/>
          <p:nvPr/>
        </p:nvSpPr>
        <p:spPr>
          <a:xfrm rot="9089023">
            <a:off x="2943316" y="715201"/>
            <a:ext cx="480720" cy="470114"/>
          </a:xfrm>
          <a:prstGeom prst="arc">
            <a:avLst>
              <a:gd fmla="val 12352934" name="adj1"/>
              <a:gd fmla="val 20704022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37700" lIns="137700" spcFirstLastPara="1" rIns="137700" wrap="square" tIns="13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8"/>
          </a:p>
        </p:txBody>
      </p:sp>
      <p:sp>
        <p:nvSpPr>
          <p:cNvPr id="329" name="Google Shape;329;p20"/>
          <p:cNvSpPr txBox="1"/>
          <p:nvPr/>
        </p:nvSpPr>
        <p:spPr>
          <a:xfrm>
            <a:off x="311700" y="3212250"/>
            <a:ext cx="17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657625" y="3424899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= 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(y / x)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678143" y="39149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1893629" y="3907058"/>
            <a:ext cx="197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cos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                            ) +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2349939" y="3746597"/>
            <a:ext cx="21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AP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rgbClr val="C00000"/>
              </a:solidFill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2502729" y="4031601"/>
            <a:ext cx="10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 AP</a:t>
            </a:r>
            <a:endParaRPr sz="1800">
              <a:solidFill>
                <a:srgbClr val="C00000"/>
              </a:solidFill>
            </a:endParaRPr>
          </a:p>
        </p:txBody>
      </p:sp>
      <p:cxnSp>
        <p:nvCxnSpPr>
          <p:cNvPr id="335" name="Google Shape;335;p20"/>
          <p:cNvCxnSpPr/>
          <p:nvPr/>
        </p:nvCxnSpPr>
        <p:spPr>
          <a:xfrm flipH="1" rot="10800000">
            <a:off x="2370742" y="4108424"/>
            <a:ext cx="1100100" cy="2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20"/>
          <p:cNvSpPr txBox="1"/>
          <p:nvPr/>
        </p:nvSpPr>
        <p:spPr>
          <a:xfrm>
            <a:off x="2334429" y="3892083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                    )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4287259" y="3800291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z - h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4007308" y="4021546"/>
            <a:ext cx="103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√(x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rgbClr val="C00000"/>
              </a:solidFill>
            </a:endParaRPr>
          </a:p>
        </p:txBody>
      </p:sp>
      <p:cxnSp>
        <p:nvCxnSpPr>
          <p:cNvPr id="339" name="Google Shape;339;p20"/>
          <p:cNvCxnSpPr/>
          <p:nvPr/>
        </p:nvCxnSpPr>
        <p:spPr>
          <a:xfrm>
            <a:off x="4175486" y="4096266"/>
            <a:ext cx="7368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20"/>
          <p:cNvSpPr txBox="1"/>
          <p:nvPr/>
        </p:nvSpPr>
        <p:spPr>
          <a:xfrm>
            <a:off x="628162" y="4525612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 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 cos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2359998" y="4389497"/>
            <a:ext cx="22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 AP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rgbClr val="C00000"/>
              </a:solidFill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2520433" y="4674503"/>
            <a:ext cx="11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rgbClr val="C00000"/>
              </a:solidFill>
            </a:endParaRPr>
          </a:p>
        </p:txBody>
      </p:sp>
      <p:cxnSp>
        <p:nvCxnSpPr>
          <p:cNvPr id="343" name="Google Shape;343;p20"/>
          <p:cNvCxnSpPr/>
          <p:nvPr/>
        </p:nvCxnSpPr>
        <p:spPr>
          <a:xfrm flipH="1" rot="10800000">
            <a:off x="2381842" y="4751326"/>
            <a:ext cx="1155000" cy="2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170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Inverse Kinematics using Trigonometry [Extension]</a:t>
            </a:r>
            <a:endParaRPr/>
          </a:p>
        </p:txBody>
      </p:sp>
      <p:grpSp>
        <p:nvGrpSpPr>
          <p:cNvPr id="349" name="Google Shape;349;p21"/>
          <p:cNvGrpSpPr/>
          <p:nvPr/>
        </p:nvGrpSpPr>
        <p:grpSpPr>
          <a:xfrm>
            <a:off x="4422901" y="1214195"/>
            <a:ext cx="4098619" cy="3480809"/>
            <a:chOff x="4422826" y="886070"/>
            <a:chExt cx="4098619" cy="3480809"/>
          </a:xfrm>
        </p:grpSpPr>
        <p:grpSp>
          <p:nvGrpSpPr>
            <p:cNvPr id="350" name="Google Shape;350;p21"/>
            <p:cNvGrpSpPr/>
            <p:nvPr/>
          </p:nvGrpSpPr>
          <p:grpSpPr>
            <a:xfrm>
              <a:off x="4422826" y="886070"/>
              <a:ext cx="4098619" cy="3480809"/>
              <a:chOff x="1949651" y="1049020"/>
              <a:chExt cx="4098619" cy="3480809"/>
            </a:xfrm>
          </p:grpSpPr>
          <p:sp>
            <p:nvSpPr>
              <p:cNvPr id="351" name="Google Shape;351;p21"/>
              <p:cNvSpPr/>
              <p:nvPr/>
            </p:nvSpPr>
            <p:spPr>
              <a:xfrm rot="-287634">
                <a:off x="3998052" y="1745022"/>
                <a:ext cx="990766" cy="137001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352" name="Google Shape;352;p21"/>
              <p:cNvSpPr/>
              <p:nvPr/>
            </p:nvSpPr>
            <p:spPr>
              <a:xfrm>
                <a:off x="2575388" y="2778300"/>
                <a:ext cx="812100" cy="978300"/>
              </a:xfrm>
              <a:prstGeom prst="can">
                <a:avLst>
                  <a:gd fmla="val 38881" name="adj"/>
                </a:avLst>
              </a:prstGeom>
              <a:solidFill>
                <a:srgbClr val="888888"/>
              </a:solidFill>
              <a:ln cap="flat" cmpd="sng" w="108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64810" rotWithShape="0" algn="bl" dir="5400000" dist="21603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 rot="3547017">
                <a:off x="3159148" y="2514462"/>
                <a:ext cx="438351" cy="483421"/>
              </a:xfrm>
              <a:prstGeom prst="arc">
                <a:avLst>
                  <a:gd fmla="val 13896013" name="adj1"/>
                  <a:gd fmla="val 20489641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354" name="Google Shape;354;p21"/>
              <p:cNvCxnSpPr/>
              <p:nvPr/>
            </p:nvCxnSpPr>
            <p:spPr>
              <a:xfrm>
                <a:off x="2984487" y="1089678"/>
                <a:ext cx="0" cy="23283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355" name="Google Shape;355;p21"/>
              <p:cNvCxnSpPr/>
              <p:nvPr/>
            </p:nvCxnSpPr>
            <p:spPr>
              <a:xfrm>
                <a:off x="2978647" y="3416700"/>
                <a:ext cx="2644500" cy="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56" name="Google Shape;356;p21"/>
              <p:cNvSpPr/>
              <p:nvPr/>
            </p:nvSpPr>
            <p:spPr>
              <a:xfrm rot="-2698554">
                <a:off x="2724021" y="2337686"/>
                <a:ext cx="1513138" cy="137037"/>
              </a:xfrm>
              <a:prstGeom prst="rect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357" name="Google Shape;357;p21"/>
              <p:cNvSpPr/>
              <p:nvPr/>
            </p:nvSpPr>
            <p:spPr>
              <a:xfrm>
                <a:off x="2861502" y="2778298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358" name="Google Shape;358;p21"/>
              <p:cNvSpPr txBox="1"/>
              <p:nvPr/>
            </p:nvSpPr>
            <p:spPr>
              <a:xfrm>
                <a:off x="5244751" y="338254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X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359" name="Google Shape;359;p21"/>
              <p:cNvSpPr txBox="1"/>
              <p:nvPr/>
            </p:nvSpPr>
            <p:spPr>
              <a:xfrm>
                <a:off x="2529960" y="1049020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Z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 rot="7322899">
                <a:off x="4093178" y="1380373"/>
                <a:ext cx="551793" cy="539804"/>
              </a:xfrm>
              <a:prstGeom prst="arc">
                <a:avLst>
                  <a:gd fmla="val 10634650" name="adj1"/>
                  <a:gd fmla="val 15268825" name="adj2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stealth"/>
                <a:tailEnd len="sm" w="sm" type="none"/>
              </a:ln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361" name="Google Shape;361;p21"/>
              <p:cNvSpPr txBox="1"/>
              <p:nvPr/>
            </p:nvSpPr>
            <p:spPr>
              <a:xfrm>
                <a:off x="2841728" y="3852854"/>
                <a:ext cx="577200" cy="5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504">
                    <a:solidFill>
                      <a:srgbClr val="4472C4"/>
                    </a:solidFill>
                  </a:rPr>
                  <a:t>1</a:t>
                </a:r>
                <a:endParaRPr baseline="-25000" sz="1504">
                  <a:solidFill>
                    <a:srgbClr val="4472C4"/>
                  </a:solidFill>
                </a:endParaRPr>
              </a:p>
            </p:txBody>
          </p:sp>
          <p:sp>
            <p:nvSpPr>
              <p:cNvPr id="362" name="Google Shape;362;p21"/>
              <p:cNvSpPr txBox="1"/>
              <p:nvPr/>
            </p:nvSpPr>
            <p:spPr>
              <a:xfrm>
                <a:off x="4516595" y="1226841"/>
                <a:ext cx="577200" cy="5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504">
                    <a:solidFill>
                      <a:srgbClr val="4472C4"/>
                    </a:solidFill>
                  </a:rPr>
                  <a:t>3</a:t>
                </a:r>
                <a:endParaRPr baseline="-25000" sz="1504">
                  <a:solidFill>
                    <a:srgbClr val="4472C4"/>
                  </a:solidFill>
                </a:endParaRPr>
              </a:p>
            </p:txBody>
          </p:sp>
          <p:sp>
            <p:nvSpPr>
              <p:cNvPr id="363" name="Google Shape;363;p21"/>
              <p:cNvSpPr txBox="1"/>
              <p:nvPr/>
            </p:nvSpPr>
            <p:spPr>
              <a:xfrm>
                <a:off x="2064371" y="2989406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h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364" name="Google Shape;364;p21"/>
              <p:cNvSpPr txBox="1"/>
              <p:nvPr/>
            </p:nvSpPr>
            <p:spPr>
              <a:xfrm>
                <a:off x="4345886" y="1718182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3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365" name="Google Shape;365;p21"/>
              <p:cNvSpPr txBox="1"/>
              <p:nvPr/>
            </p:nvSpPr>
            <p:spPr>
              <a:xfrm>
                <a:off x="3135357" y="1831631"/>
                <a:ext cx="577200" cy="55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7">
                    <a:solidFill>
                      <a:srgbClr val="4472C4"/>
                    </a:solidFill>
                  </a:rPr>
                  <a:t>L</a:t>
                </a:r>
                <a:r>
                  <a:rPr baseline="-25000" lang="en" sz="1807">
                    <a:solidFill>
                      <a:srgbClr val="4472C4"/>
                    </a:solidFill>
                  </a:rPr>
                  <a:t>2</a:t>
                </a:r>
                <a:endParaRPr baseline="-25000" sz="1807">
                  <a:solidFill>
                    <a:srgbClr val="4472C4"/>
                  </a:solidFill>
                </a:endParaRPr>
              </a:p>
            </p:txBody>
          </p:sp>
          <p:sp>
            <p:nvSpPr>
              <p:cNvPr id="366" name="Google Shape;366;p21"/>
              <p:cNvSpPr txBox="1"/>
              <p:nvPr/>
            </p:nvSpPr>
            <p:spPr>
              <a:xfrm>
                <a:off x="4979370" y="1349525"/>
                <a:ext cx="1068900" cy="4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3675" lIns="103675" spcFirstLastPara="1" rIns="103675" wrap="square" tIns="1036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88">
                    <a:solidFill>
                      <a:schemeClr val="dk2"/>
                    </a:solidFill>
                  </a:rPr>
                  <a:t>P(x,y,z)</a:t>
                </a:r>
                <a:endParaRPr sz="1588">
                  <a:solidFill>
                    <a:schemeClr val="dk2"/>
                  </a:solidFill>
                </a:endParaRPr>
              </a:p>
            </p:txBody>
          </p:sp>
          <p:cxnSp>
            <p:nvCxnSpPr>
              <p:cNvPr id="367" name="Google Shape;367;p21"/>
              <p:cNvCxnSpPr/>
              <p:nvPr/>
            </p:nvCxnSpPr>
            <p:spPr>
              <a:xfrm flipH="1">
                <a:off x="1974780" y="3411229"/>
                <a:ext cx="1014300" cy="797400"/>
              </a:xfrm>
              <a:prstGeom prst="straightConnector1">
                <a:avLst/>
              </a:prstGeom>
              <a:noFill/>
              <a:ln cap="flat" cmpd="sng" w="143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68" name="Google Shape;368;p21"/>
              <p:cNvSpPr/>
              <p:nvPr/>
            </p:nvSpPr>
            <p:spPr>
              <a:xfrm>
                <a:off x="3895269" y="1745752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sp>
            <p:nvSpPr>
              <p:cNvPr id="369" name="Google Shape;369;p21"/>
              <p:cNvSpPr/>
              <p:nvPr/>
            </p:nvSpPr>
            <p:spPr>
              <a:xfrm>
                <a:off x="4882085" y="1651487"/>
                <a:ext cx="239700" cy="239700"/>
              </a:xfrm>
              <a:prstGeom prst="ellipse">
                <a:avLst/>
              </a:prstGeom>
              <a:solidFill>
                <a:schemeClr val="lt2"/>
              </a:solidFill>
              <a:ln cap="flat" cmpd="sng" w="1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86071" rotWithShape="0" algn="bl" dir="5400000" dist="2869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137700" lIns="137700" spcFirstLastPara="1" rIns="137700" wrap="square" tIns="137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8"/>
              </a:p>
            </p:txBody>
          </p:sp>
          <p:cxnSp>
            <p:nvCxnSpPr>
              <p:cNvPr id="370" name="Google Shape;370;p21"/>
              <p:cNvCxnSpPr/>
              <p:nvPr/>
            </p:nvCxnSpPr>
            <p:spPr>
              <a:xfrm>
                <a:off x="2984487" y="2916495"/>
                <a:ext cx="1243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1" name="Google Shape;371;p21"/>
              <p:cNvSpPr txBox="1"/>
              <p:nvPr/>
            </p:nvSpPr>
            <p:spPr>
              <a:xfrm>
                <a:off x="3512366" y="2461834"/>
                <a:ext cx="577200" cy="5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4">
                    <a:solidFill>
                      <a:srgbClr val="4472C4"/>
                    </a:solidFill>
                  </a:rPr>
                  <a:t>θ</a:t>
                </a:r>
                <a:r>
                  <a:rPr baseline="-25000" lang="en" sz="1504">
                    <a:solidFill>
                      <a:srgbClr val="4472C4"/>
                    </a:solidFill>
                  </a:rPr>
                  <a:t>2</a:t>
                </a:r>
                <a:endParaRPr baseline="-25000" sz="1504">
                  <a:solidFill>
                    <a:srgbClr val="4472C4"/>
                  </a:solidFill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2361908" y="2879682"/>
                <a:ext cx="168000" cy="775800"/>
              </a:xfrm>
              <a:prstGeom prst="leftBrace">
                <a:avLst>
                  <a:gd fmla="val 50000" name="adj1"/>
                  <a:gd fmla="val 50000" name="adj2"/>
                </a:avLst>
              </a:prstGeom>
              <a:noFill/>
              <a:ln cap="flat" cmpd="sng" w="108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3675" lIns="103675" spcFirstLastPara="1" rIns="103675" wrap="square" tIns="103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88"/>
              </a:p>
            </p:txBody>
          </p:sp>
          <p:sp>
            <p:nvSpPr>
              <p:cNvPr id="373" name="Google Shape;373;p21"/>
              <p:cNvSpPr txBox="1"/>
              <p:nvPr/>
            </p:nvSpPr>
            <p:spPr>
              <a:xfrm>
                <a:off x="1949651" y="4019829"/>
                <a:ext cx="4716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37700" lIns="137700" spcFirstLastPara="1" rIns="137700" wrap="square" tIns="137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6">
                    <a:solidFill>
                      <a:schemeClr val="dk2"/>
                    </a:solidFill>
                  </a:rPr>
                  <a:t>Y</a:t>
                </a:r>
                <a:endParaRPr sz="1506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374" name="Google Shape;374;p21"/>
            <p:cNvSpPr/>
            <p:nvPr/>
          </p:nvSpPr>
          <p:spPr>
            <a:xfrm rot="2898012">
              <a:off x="5101459" y="3287994"/>
              <a:ext cx="641797" cy="758275"/>
            </a:xfrm>
            <a:custGeom>
              <a:rect b="b" l="l" r="r" t="t"/>
              <a:pathLst>
                <a:path extrusionOk="0" h="16266" w="10424">
                  <a:moveTo>
                    <a:pt x="10258" y="0"/>
                  </a:moveTo>
                  <a:cubicBezTo>
                    <a:pt x="11315" y="6322"/>
                    <a:pt x="6082" y="14241"/>
                    <a:pt x="0" y="16266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cxnSp>
          <p:nvCxnSpPr>
            <p:cNvPr id="375" name="Google Shape;375;p21"/>
            <p:cNvCxnSpPr/>
            <p:nvPr/>
          </p:nvCxnSpPr>
          <p:spPr>
            <a:xfrm>
              <a:off x="5456187" y="3260470"/>
              <a:ext cx="1127100" cy="92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76" name="Google Shape;376;p21"/>
          <p:cNvCxnSpPr/>
          <p:nvPr/>
        </p:nvCxnSpPr>
        <p:spPr>
          <a:xfrm flipH="1" rot="10800000">
            <a:off x="5460012" y="1274570"/>
            <a:ext cx="1804200" cy="180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7" name="Google Shape;377;p21"/>
          <p:cNvSpPr txBox="1"/>
          <p:nvPr/>
        </p:nvSpPr>
        <p:spPr>
          <a:xfrm>
            <a:off x="538250" y="1109275"/>
            <a:ext cx="350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= 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 / x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  or, (90 -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(y / x) </a:t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509044" y="1703700"/>
            <a:ext cx="4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882386" y="1700952"/>
            <a:ext cx="197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cos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              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   ) +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1338696" y="1540490"/>
            <a:ext cx="21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rgbClr val="C00000"/>
              </a:solidFill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1491486" y="1825495"/>
            <a:ext cx="10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800">
              <a:solidFill>
                <a:srgbClr val="C00000"/>
              </a:solidFill>
            </a:endParaRPr>
          </a:p>
        </p:txBody>
      </p:sp>
      <p:cxnSp>
        <p:nvCxnSpPr>
          <p:cNvPr id="382" name="Google Shape;382;p21"/>
          <p:cNvCxnSpPr/>
          <p:nvPr/>
        </p:nvCxnSpPr>
        <p:spPr>
          <a:xfrm flipH="1" rot="10800000">
            <a:off x="1359499" y="1902318"/>
            <a:ext cx="1100100" cy="2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21"/>
          <p:cNvSpPr txBox="1"/>
          <p:nvPr/>
        </p:nvSpPr>
        <p:spPr>
          <a:xfrm>
            <a:off x="1323175" y="1685975"/>
            <a:ext cx="27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tan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                    )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3276016" y="1594185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z - h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2996065" y="1815440"/>
            <a:ext cx="103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√(x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rgbClr val="C00000"/>
              </a:solidFill>
            </a:endParaRPr>
          </a:p>
        </p:txBody>
      </p:sp>
      <p:cxnSp>
        <p:nvCxnSpPr>
          <p:cNvPr id="386" name="Google Shape;386;p21"/>
          <p:cNvCxnSpPr/>
          <p:nvPr/>
        </p:nvCxnSpPr>
        <p:spPr>
          <a:xfrm>
            <a:off x="3164243" y="1890160"/>
            <a:ext cx="7368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1"/>
          <p:cNvSpPr txBox="1"/>
          <p:nvPr/>
        </p:nvSpPr>
        <p:spPr>
          <a:xfrm>
            <a:off x="35012" y="2365262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 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= 180 - cos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</a:t>
            </a:r>
            <a:endParaRPr sz="1800">
              <a:solidFill>
                <a:srgbClr val="C00000"/>
              </a:solidFill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1640547" y="2222747"/>
            <a:ext cx="22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+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 AP</a:t>
            </a:r>
            <a:r>
              <a:rPr b="1" baseline="30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sz="1800">
              <a:solidFill>
                <a:srgbClr val="C00000"/>
              </a:solidFill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1800982" y="2507753"/>
            <a:ext cx="115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 L</a:t>
            </a:r>
            <a:r>
              <a:rPr b="1" baseline="-25000" lang="en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rgbClr val="C00000"/>
              </a:solidFill>
            </a:endParaRPr>
          </a:p>
        </p:txBody>
      </p:sp>
      <p:cxnSp>
        <p:nvCxnSpPr>
          <p:cNvPr id="390" name="Google Shape;390;p21"/>
          <p:cNvCxnSpPr/>
          <p:nvPr/>
        </p:nvCxnSpPr>
        <p:spPr>
          <a:xfrm flipH="1" rot="10800000">
            <a:off x="1662391" y="2584576"/>
            <a:ext cx="1155000" cy="2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21"/>
          <p:cNvSpPr txBox="1"/>
          <p:nvPr/>
        </p:nvSpPr>
        <p:spPr>
          <a:xfrm>
            <a:off x="311700" y="3136325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(√(x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y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(z-h)</a:t>
            </a:r>
            <a:r>
              <a:rPr b="1" baseline="30000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