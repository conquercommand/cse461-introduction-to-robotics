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5143500" cx="9144000"/>
  <p:notesSz cx="6858000" cy="9144000"/>
  <p:embeddedFontLst>
    <p:embeddedFont>
      <p:font typeface="Robot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Roboto-bold.fntdata"/><Relationship Id="rId10" Type="http://schemas.openxmlformats.org/officeDocument/2006/relationships/slide" Target="slides/slide6.xml"/><Relationship Id="rId32" Type="http://schemas.openxmlformats.org/officeDocument/2006/relationships/font" Target="fonts/Roboto-regular.fntdata"/><Relationship Id="rId13" Type="http://schemas.openxmlformats.org/officeDocument/2006/relationships/slide" Target="slides/slide9.xml"/><Relationship Id="rId35" Type="http://schemas.openxmlformats.org/officeDocument/2006/relationships/font" Target="fonts/Roboto-boldItalic.fntdata"/><Relationship Id="rId12" Type="http://schemas.openxmlformats.org/officeDocument/2006/relationships/slide" Target="slides/slide8.xml"/><Relationship Id="rId34" Type="http://schemas.openxmlformats.org/officeDocument/2006/relationships/font" Target="fonts/Roboto-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ecf5fe5f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ecf5fe5f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ecf5fe5f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ecf5fe5f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ecf5fe5f4_0_8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ecf5fe5f4_0_8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ecf5fe5f4_0_8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ecf5fe5f4_0_8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ecf5fe5f4_0_2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becf5fe5f4_0_2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g3becf5fe5f4_0_2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ecf5fe5f4_0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g3becf5fe5f4_0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ecf5fe5f4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becf5fe5f4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c926080d87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c926080d87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911605c10_2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c911605c10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c911605c10_2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c911605c10_2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c911605c10_2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c911605c10_2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c911605c10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c911605c10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becf5fe5f4_0_8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becf5fe5f4_0_8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becf5fe5f4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becf5fe5f4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becf5fe5f4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becf5fe5f4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becf5fe5f4_0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becf5fe5f4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becf5fe5f4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becf5fe5f4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becf5fe5f4_0_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becf5fe5f4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becf5fe5f4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becf5fe5f4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becf5fe5f4_0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becf5fe5f4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becf5fe5f4_0_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becf5fe5f4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becf5fe5f4_0_6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becf5fe5f4_0_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becf5fe5f4_0_6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becf5fe5f4_0_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becf5fe5f4_0_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becf5fe5f4_0_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becf5fe5f4_0_8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3becf5fe5f4_0_8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becf5fe5f4_0_7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3becf5fe5f4_0_7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0" y="1740550"/>
            <a:ext cx="4591200" cy="24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robotics101-viscircuit.web.app/robotics/dh-model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Robotics </a:t>
            </a:r>
            <a:r>
              <a:rPr lang="en"/>
              <a:t>Kinematics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BRAC University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Basics of Robotics Kinematics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27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Kinematics comes from two Greek roots: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77470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Kine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→ motion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774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Matics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→ related to study or analysis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So, </a:t>
            </a:r>
            <a:r>
              <a:rPr i="1"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kinematics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literally means 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the study of motion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.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In robotics, kinematics answers a very specific and practical question: 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1400"/>
              </a:spcBef>
              <a:spcAft>
                <a:spcPts val="1400"/>
              </a:spcAft>
              <a:buNone/>
            </a:pPr>
            <a:b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</a:br>
            <a:r>
              <a:rPr b="1" i="1"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How does the motion of joints translate into the motion of the robot’s end-effector?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038850"/>
            <a:ext cx="5338800" cy="38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Robot kinematics deals with the analytical study of the </a:t>
            </a: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geometry of motion</a:t>
            </a: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a manipulator with respect to </a:t>
            </a: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fixed reference </a:t>
            </a: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coordinate</a:t>
            </a: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system without regard to the force </a:t>
            </a: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causes the motion.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Anatomy divided into base, links, joints and end-effector.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b="1"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Links: </a:t>
            </a:r>
            <a:r>
              <a:rPr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1"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rigid</a:t>
            </a:r>
            <a:r>
              <a:rPr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segments between the joints.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b="1"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Joints: </a:t>
            </a:r>
            <a:r>
              <a:rPr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1"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movable</a:t>
            </a:r>
            <a:r>
              <a:rPr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connections </a:t>
            </a:r>
            <a:r>
              <a:rPr b="1" i="1"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between links</a:t>
            </a:r>
            <a:r>
              <a:rPr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which can be rotational (revolute) or translational (prismatic).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b="1"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End-Effector: </a:t>
            </a:r>
            <a:r>
              <a:rPr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tool at the end of the manipulator, designed to </a:t>
            </a:r>
            <a:r>
              <a:rPr b="1" i="1"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interact with the environment</a:t>
            </a:r>
            <a:r>
              <a:rPr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achieve certain </a:t>
            </a:r>
            <a:r>
              <a:rPr b="1" i="1"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goals</a:t>
            </a:r>
            <a:r>
              <a:rPr i="1"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(e.g., grippers, welders, sensors).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•"/>
            </a:pPr>
            <a:r>
              <a:rPr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Actuators and Sensors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0500" y="1218212"/>
            <a:ext cx="3493500" cy="3133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4" name="Google Shape;74;p16"/>
          <p:cNvSpPr/>
          <p:nvPr/>
        </p:nvSpPr>
        <p:spPr>
          <a:xfrm>
            <a:off x="6441814" y="2550884"/>
            <a:ext cx="508800" cy="814200"/>
          </a:xfrm>
          <a:prstGeom prst="rect">
            <a:avLst/>
          </a:prstGeom>
          <a:noFill/>
          <a:ln cap="flat" cmpd="sng" w="264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1675" lIns="63375" spcFirstLastPara="1" rIns="63375" wrap="square" tIns="31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8"/>
              <a:buFont typeface="Arial"/>
              <a:buNone/>
            </a:pPr>
            <a:r>
              <a:t/>
            </a:r>
            <a:endParaRPr b="0" i="0" sz="1248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5919043" y="3716714"/>
            <a:ext cx="1568400" cy="535800"/>
          </a:xfrm>
          <a:prstGeom prst="rect">
            <a:avLst/>
          </a:prstGeom>
          <a:noFill/>
          <a:ln cap="flat" cmpd="sng" w="264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1675" lIns="63375" spcFirstLastPara="1" rIns="63375" wrap="square" tIns="31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8"/>
              <a:buFont typeface="Arial"/>
              <a:buNone/>
            </a:pPr>
            <a:r>
              <a:t/>
            </a:r>
            <a:endParaRPr b="0" i="0" sz="1248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 rot="3748135">
            <a:off x="7045310" y="1634569"/>
            <a:ext cx="366052" cy="840922"/>
          </a:xfrm>
          <a:prstGeom prst="rect">
            <a:avLst/>
          </a:prstGeom>
          <a:noFill/>
          <a:ln cap="flat" cmpd="sng" w="264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1675" lIns="63375" spcFirstLastPara="1" rIns="63375" wrap="square" tIns="31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8"/>
              <a:buFont typeface="Arial"/>
              <a:buNone/>
            </a:pPr>
            <a:r>
              <a:t/>
            </a:r>
            <a:endParaRPr b="0" i="0" sz="1248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/>
          <p:nvPr/>
        </p:nvSpPr>
        <p:spPr>
          <a:xfrm rot="7347341">
            <a:off x="7940549" y="1610839"/>
            <a:ext cx="254916" cy="840908"/>
          </a:xfrm>
          <a:prstGeom prst="rect">
            <a:avLst/>
          </a:prstGeom>
          <a:noFill/>
          <a:ln cap="flat" cmpd="sng" w="264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1675" lIns="63375" spcFirstLastPara="1" rIns="63375" wrap="square" tIns="31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8"/>
              <a:buFont typeface="Arial"/>
              <a:buNone/>
            </a:pPr>
            <a:r>
              <a:t/>
            </a:r>
            <a:endParaRPr b="0" i="0" sz="1248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" name="Google Shape;78;p16"/>
          <p:cNvCxnSpPr/>
          <p:nvPr/>
        </p:nvCxnSpPr>
        <p:spPr>
          <a:xfrm>
            <a:off x="6305722" y="1605915"/>
            <a:ext cx="136200" cy="945000"/>
          </a:xfrm>
          <a:prstGeom prst="straightConnector1">
            <a:avLst/>
          </a:prstGeom>
          <a:noFill/>
          <a:ln cap="flat" cmpd="sng" w="6600">
            <a:solidFill>
              <a:srgbClr val="4472C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9" name="Google Shape;79;p16"/>
          <p:cNvCxnSpPr>
            <a:endCxn id="76" idx="1"/>
          </p:cNvCxnSpPr>
          <p:nvPr/>
        </p:nvCxnSpPr>
        <p:spPr>
          <a:xfrm>
            <a:off x="6391635" y="1559130"/>
            <a:ext cx="752100" cy="333600"/>
          </a:xfrm>
          <a:prstGeom prst="straightConnector1">
            <a:avLst/>
          </a:prstGeom>
          <a:noFill/>
          <a:ln cap="flat" cmpd="sng" w="6600">
            <a:solidFill>
              <a:srgbClr val="4472C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0" name="Google Shape;80;p16"/>
          <p:cNvCxnSpPr/>
          <p:nvPr/>
        </p:nvCxnSpPr>
        <p:spPr>
          <a:xfrm>
            <a:off x="6441814" y="1472011"/>
            <a:ext cx="1359600" cy="226500"/>
          </a:xfrm>
          <a:prstGeom prst="straightConnector1">
            <a:avLst/>
          </a:prstGeom>
          <a:noFill/>
          <a:ln cap="flat" cmpd="sng" w="6600">
            <a:solidFill>
              <a:srgbClr val="4472C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1" name="Google Shape;81;p16"/>
          <p:cNvSpPr txBox="1"/>
          <p:nvPr/>
        </p:nvSpPr>
        <p:spPr>
          <a:xfrm>
            <a:off x="5991954" y="1349917"/>
            <a:ext cx="449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1675" lIns="63375" spcFirstLastPara="1" rIns="63375" wrap="square" tIns="31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8"/>
              <a:buFont typeface="Arial"/>
              <a:buNone/>
            </a:pPr>
            <a:r>
              <a:rPr b="0" i="0" lang="en" sz="1248" u="none" cap="none" strike="noStrike">
                <a:solidFill>
                  <a:srgbClr val="8DA9DB"/>
                </a:solidFill>
                <a:latin typeface="Calibri"/>
                <a:ea typeface="Calibri"/>
                <a:cs typeface="Calibri"/>
                <a:sym typeface="Calibri"/>
              </a:rPr>
              <a:t>Links</a:t>
            </a:r>
            <a:endParaRPr b="0" i="0" sz="97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6316074" y="4482883"/>
            <a:ext cx="731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1675" lIns="63375" spcFirstLastPara="1" rIns="63375" wrap="square" tIns="31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8"/>
              <a:buFont typeface="Arial"/>
              <a:buNone/>
            </a:pPr>
            <a:r>
              <a:rPr b="0" i="0" lang="en" sz="1248" u="none" cap="none" strike="noStrike">
                <a:solidFill>
                  <a:srgbClr val="8DA9DB"/>
                </a:solidFill>
                <a:latin typeface="Calibri"/>
                <a:ea typeface="Calibri"/>
                <a:cs typeface="Calibri"/>
                <a:sym typeface="Calibri"/>
              </a:rPr>
              <a:t>Base Link</a:t>
            </a:r>
            <a:endParaRPr b="0" i="0" sz="97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16"/>
          <p:cNvCxnSpPr/>
          <p:nvPr/>
        </p:nvCxnSpPr>
        <p:spPr>
          <a:xfrm rot="10800000">
            <a:off x="6681736" y="4253780"/>
            <a:ext cx="0" cy="252300"/>
          </a:xfrm>
          <a:prstGeom prst="straightConnector1">
            <a:avLst/>
          </a:prstGeom>
          <a:noFill/>
          <a:ln cap="flat" cmpd="sng" w="6600">
            <a:solidFill>
              <a:srgbClr val="4472C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Basics of Robotics Kinematics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038850"/>
            <a:ext cx="5338800" cy="38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Robot kinematics deals with the analytical study of the </a:t>
            </a: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geometry of motion</a:t>
            </a: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a manipulator with respect to </a:t>
            </a: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fixed reference coordinate system without regard to the force </a:t>
            </a: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causes the motion.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Anatomy divided into base, links, joints and end-effector.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b="1"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Links: </a:t>
            </a:r>
            <a:r>
              <a:rPr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1"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rigid</a:t>
            </a:r>
            <a:r>
              <a:rPr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segments between the joints.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b="1"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Joints: </a:t>
            </a:r>
            <a:r>
              <a:rPr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1"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movable</a:t>
            </a:r>
            <a:r>
              <a:rPr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connections </a:t>
            </a:r>
            <a:r>
              <a:rPr b="1" i="1"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between links</a:t>
            </a:r>
            <a:r>
              <a:rPr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which can be rotational (revolute) or translational (prismatic).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b="1"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End-Effector: </a:t>
            </a:r>
            <a:r>
              <a:rPr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tool at the end of the manipulator, designed to </a:t>
            </a:r>
            <a:r>
              <a:rPr b="1" i="1"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interact with the environment</a:t>
            </a:r>
            <a:r>
              <a:rPr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achieve certain </a:t>
            </a:r>
            <a:r>
              <a:rPr b="1" i="1"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goals</a:t>
            </a:r>
            <a:r>
              <a:rPr i="1"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(e.g., grippers, welders, sensors).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•"/>
            </a:pPr>
            <a:r>
              <a:rPr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Actuators and Sensors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0500" y="1218212"/>
            <a:ext cx="3493500" cy="3133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Basics of Robotics Kinematics</a:t>
            </a:r>
            <a:endParaRPr/>
          </a:p>
        </p:txBody>
      </p:sp>
      <p:grpSp>
        <p:nvGrpSpPr>
          <p:cNvPr id="92" name="Google Shape;92;p17"/>
          <p:cNvGrpSpPr/>
          <p:nvPr/>
        </p:nvGrpSpPr>
        <p:grpSpPr>
          <a:xfrm>
            <a:off x="5830434" y="1356881"/>
            <a:ext cx="2771312" cy="2434656"/>
            <a:chOff x="5693707" y="1117578"/>
            <a:chExt cx="2602904" cy="2286920"/>
          </a:xfrm>
        </p:grpSpPr>
        <p:sp>
          <p:nvSpPr>
            <p:cNvPr id="93" name="Google Shape;93;p17"/>
            <p:cNvSpPr/>
            <p:nvPr/>
          </p:nvSpPr>
          <p:spPr>
            <a:xfrm>
              <a:off x="6279983" y="2970398"/>
              <a:ext cx="477000" cy="434100"/>
            </a:xfrm>
            <a:prstGeom prst="rect">
              <a:avLst/>
            </a:prstGeom>
            <a:noFill/>
            <a:ln cap="flat" cmpd="sng" w="2637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1625" lIns="63275" spcFirstLastPara="1" rIns="63275" wrap="square" tIns="31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46"/>
                <a:buFont typeface="Arial"/>
                <a:buNone/>
              </a:pPr>
              <a:r>
                <a:t/>
              </a:r>
              <a:endParaRPr b="0" i="0" sz="12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7"/>
            <p:cNvSpPr/>
            <p:nvPr/>
          </p:nvSpPr>
          <p:spPr>
            <a:xfrm rot="3751001">
              <a:off x="6362179" y="1845144"/>
              <a:ext cx="343236" cy="393424"/>
            </a:xfrm>
            <a:prstGeom prst="rect">
              <a:avLst/>
            </a:prstGeom>
            <a:noFill/>
            <a:ln cap="flat" cmpd="sng" w="2637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1625" lIns="63275" spcFirstLastPara="1" rIns="63275" wrap="square" tIns="31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46"/>
                <a:buFont typeface="Arial"/>
                <a:buNone/>
              </a:pPr>
              <a:r>
                <a:t/>
              </a:r>
              <a:endParaRPr b="0" i="0" sz="12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7"/>
            <p:cNvSpPr/>
            <p:nvPr/>
          </p:nvSpPr>
          <p:spPr>
            <a:xfrm rot="7345953">
              <a:off x="7360620" y="1392515"/>
              <a:ext cx="238856" cy="284552"/>
            </a:xfrm>
            <a:prstGeom prst="rect">
              <a:avLst/>
            </a:prstGeom>
            <a:noFill/>
            <a:ln cap="flat" cmpd="sng" w="2637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1625" lIns="63275" spcFirstLastPara="1" rIns="63275" wrap="square" tIns="31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46"/>
                <a:buFont typeface="Arial"/>
                <a:buNone/>
              </a:pPr>
              <a:r>
                <a:t/>
              </a:r>
              <a:endParaRPr b="0" i="0" sz="12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6" name="Google Shape;96;p17"/>
            <p:cNvCxnSpPr/>
            <p:nvPr/>
          </p:nvCxnSpPr>
          <p:spPr>
            <a:xfrm>
              <a:off x="5923622" y="1357631"/>
              <a:ext cx="344400" cy="1612800"/>
            </a:xfrm>
            <a:prstGeom prst="straightConnector1">
              <a:avLst/>
            </a:prstGeom>
            <a:noFill/>
            <a:ln cap="flat" cmpd="sng" w="6600">
              <a:solidFill>
                <a:srgbClr val="4472C4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97" name="Google Shape;97;p17"/>
            <p:cNvCxnSpPr>
              <a:endCxn id="94" idx="1"/>
            </p:cNvCxnSpPr>
            <p:nvPr/>
          </p:nvCxnSpPr>
          <p:spPr>
            <a:xfrm>
              <a:off x="5984797" y="1357706"/>
              <a:ext cx="469800" cy="531900"/>
            </a:xfrm>
            <a:prstGeom prst="straightConnector1">
              <a:avLst/>
            </a:prstGeom>
            <a:noFill/>
            <a:ln cap="flat" cmpd="sng" w="6600">
              <a:solidFill>
                <a:srgbClr val="4472C4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98" name="Google Shape;98;p17"/>
            <p:cNvCxnSpPr>
              <a:stCxn id="99" idx="3"/>
              <a:endCxn id="95" idx="2"/>
            </p:cNvCxnSpPr>
            <p:nvPr/>
          </p:nvCxnSpPr>
          <p:spPr>
            <a:xfrm>
              <a:off x="6161407" y="1237578"/>
              <a:ext cx="1198500" cy="221100"/>
            </a:xfrm>
            <a:prstGeom prst="straightConnector1">
              <a:avLst/>
            </a:prstGeom>
            <a:noFill/>
            <a:ln cap="flat" cmpd="sng" w="6600">
              <a:solidFill>
                <a:srgbClr val="4472C4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99" name="Google Shape;99;p17"/>
            <p:cNvSpPr txBox="1"/>
            <p:nvPr/>
          </p:nvSpPr>
          <p:spPr>
            <a:xfrm>
              <a:off x="5693707" y="1117578"/>
              <a:ext cx="4677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1625" lIns="63275" spcFirstLastPara="1" rIns="63275" wrap="square" tIns="316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46"/>
                <a:buFont typeface="Arial"/>
                <a:buNone/>
              </a:pPr>
              <a:r>
                <a:rPr b="0" i="0" lang="en" sz="1246" u="none" cap="none" strike="noStrike">
                  <a:solidFill>
                    <a:srgbClr val="8DA9DB"/>
                  </a:solidFill>
                  <a:latin typeface="Calibri"/>
                  <a:ea typeface="Calibri"/>
                  <a:cs typeface="Calibri"/>
                  <a:sym typeface="Calibri"/>
                </a:rPr>
                <a:t>Joints</a:t>
              </a:r>
              <a:endParaRPr b="0" i="0" sz="96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7"/>
            <p:cNvSpPr/>
            <p:nvPr/>
          </p:nvSpPr>
          <p:spPr>
            <a:xfrm rot="7343801">
              <a:off x="7962007" y="1768376"/>
              <a:ext cx="265408" cy="309931"/>
            </a:xfrm>
            <a:prstGeom prst="rect">
              <a:avLst/>
            </a:prstGeom>
            <a:noFill/>
            <a:ln cap="flat" cmpd="sng" w="2637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1625" lIns="63275" spcFirstLastPara="1" rIns="63275" wrap="square" tIns="31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46"/>
                <a:buFont typeface="Arial"/>
                <a:buNone/>
              </a:pPr>
              <a:r>
                <a:t/>
              </a:r>
              <a:endParaRPr b="0" i="0" sz="12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1" name="Google Shape;101;p17"/>
            <p:cNvCxnSpPr/>
            <p:nvPr/>
          </p:nvCxnSpPr>
          <p:spPr>
            <a:xfrm>
              <a:off x="6095930" y="1331260"/>
              <a:ext cx="1823100" cy="588900"/>
            </a:xfrm>
            <a:prstGeom prst="straightConnector1">
              <a:avLst/>
            </a:prstGeom>
            <a:noFill/>
            <a:ln cap="flat" cmpd="sng" w="6600">
              <a:solidFill>
                <a:srgbClr val="4472C4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idx="1" type="body"/>
          </p:nvPr>
        </p:nvSpPr>
        <p:spPr>
          <a:xfrm>
            <a:off x="311700" y="1038850"/>
            <a:ext cx="5338800" cy="38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Robot kinematics deals with the analytical study of the </a:t>
            </a: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geometry of motion</a:t>
            </a: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a manipulator with respect to </a:t>
            </a: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fixed reference coordinate system without regard to the force </a:t>
            </a: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causes the motion.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Anatomy divided into base, links, joints and end-effector.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Links: </a:t>
            </a: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rigid</a:t>
            </a: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segments between the joints.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Joints: </a:t>
            </a: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movable</a:t>
            </a: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connections </a:t>
            </a:r>
            <a:r>
              <a:rPr b="1" i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between links</a:t>
            </a: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which can be rotational (revolute) or translational (prismatic).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End-Effector: </a:t>
            </a: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tool at the end of the manipulator, designed to </a:t>
            </a:r>
            <a:r>
              <a:rPr b="1" i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interact with the environment</a:t>
            </a: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achieve certain </a:t>
            </a:r>
            <a:r>
              <a:rPr b="1" i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goals</a:t>
            </a:r>
            <a:r>
              <a:rPr i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(e.g., grippers, welders, sensors).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Actuators and Sensors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0500" y="1218212"/>
            <a:ext cx="3493500" cy="3133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8" name="Google Shape;10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Basics of Robotics Kinematics</a:t>
            </a:r>
            <a:endParaRPr/>
          </a:p>
        </p:txBody>
      </p:sp>
      <p:grpSp>
        <p:nvGrpSpPr>
          <p:cNvPr id="109" name="Google Shape;109;p18"/>
          <p:cNvGrpSpPr/>
          <p:nvPr/>
        </p:nvGrpSpPr>
        <p:grpSpPr>
          <a:xfrm>
            <a:off x="8151941" y="1414208"/>
            <a:ext cx="903707" cy="1485979"/>
            <a:chOff x="7671901" y="1264625"/>
            <a:chExt cx="821253" cy="1350399"/>
          </a:xfrm>
        </p:grpSpPr>
        <p:sp>
          <p:nvSpPr>
            <p:cNvPr id="110" name="Google Shape;110;p18"/>
            <p:cNvSpPr txBox="1"/>
            <p:nvPr/>
          </p:nvSpPr>
          <p:spPr>
            <a:xfrm>
              <a:off x="7671901" y="1264625"/>
              <a:ext cx="7956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0275" lIns="60575" spcFirstLastPara="1" rIns="60575" wrap="square" tIns="30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93"/>
                <a:buFont typeface="Arial"/>
                <a:buNone/>
              </a:pPr>
              <a:r>
                <a:rPr b="0" i="0" lang="en" sz="1193" u="none" cap="none" strike="noStrike">
                  <a:solidFill>
                    <a:srgbClr val="8DA9DB"/>
                  </a:solidFill>
                  <a:latin typeface="Calibri"/>
                  <a:ea typeface="Calibri"/>
                  <a:cs typeface="Calibri"/>
                  <a:sym typeface="Calibri"/>
                </a:rPr>
                <a:t>End Effector</a:t>
              </a:r>
              <a:endParaRPr b="0" i="0" sz="9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8"/>
            <p:cNvSpPr/>
            <p:nvPr/>
          </p:nvSpPr>
          <p:spPr>
            <a:xfrm rot="8047804">
              <a:off x="7789191" y="1916703"/>
              <a:ext cx="586825" cy="574940"/>
            </a:xfrm>
            <a:prstGeom prst="rect">
              <a:avLst/>
            </a:prstGeom>
            <a:noFill/>
            <a:ln cap="flat" cmpd="sng" w="252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0275" lIns="60575" spcFirstLastPara="1" rIns="60575" wrap="square" tIns="30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93"/>
                <a:buFont typeface="Arial"/>
                <a:buNone/>
              </a:pPr>
              <a:r>
                <a:t/>
              </a:r>
              <a:endParaRPr b="0" i="0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2" name="Google Shape;112;p18"/>
            <p:cNvCxnSpPr/>
            <p:nvPr/>
          </p:nvCxnSpPr>
          <p:spPr>
            <a:xfrm>
              <a:off x="8002011" y="1487052"/>
              <a:ext cx="84300" cy="306300"/>
            </a:xfrm>
            <a:prstGeom prst="straightConnector1">
              <a:avLst/>
            </a:prstGeom>
            <a:noFill/>
            <a:ln cap="flat" cmpd="sng" w="6300">
              <a:solidFill>
                <a:srgbClr val="4472C4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/>
        </p:nvSpPr>
        <p:spPr>
          <a:xfrm>
            <a:off x="311690" y="1086068"/>
            <a:ext cx="56208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Based on Mobility</a:t>
            </a:r>
            <a:endParaRPr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673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i="0" lang="en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Active Joints – Can move, can change angles</a:t>
            </a:r>
            <a:endParaRPr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673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i="0" lang="en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Passive Joints – Rigid. Cannot move, cannot change angles.</a:t>
            </a:r>
            <a:endParaRPr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6387453" y="3157841"/>
            <a:ext cx="2606400" cy="144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9"/>
          <p:cNvSpPr txBox="1"/>
          <p:nvPr/>
        </p:nvSpPr>
        <p:spPr>
          <a:xfrm>
            <a:off x="311690" y="2200260"/>
            <a:ext cx="81438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Based on type of movement </a:t>
            </a:r>
            <a:r>
              <a:rPr i="0" lang="en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(applicable for active joints)</a:t>
            </a:r>
            <a:endParaRPr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673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i="0" lang="en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Prismatic Joints (P-joint) – Allows linear/sliding motion along a single axis (1 DoF)</a:t>
            </a:r>
            <a:endParaRPr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673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673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673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673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i="0" lang="en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Revolute Joint (R-Joint) – Allows rotational motion around a single axis (1 DoF)</a:t>
            </a:r>
            <a:endParaRPr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2508391" y="3276588"/>
            <a:ext cx="712500" cy="166200"/>
          </a:xfrm>
          <a:prstGeom prst="rect">
            <a:avLst/>
          </a:prstGeom>
          <a:solidFill>
            <a:srgbClr val="B3C6E7"/>
          </a:solidFill>
          <a:ln cap="flat" cmpd="sng" w="952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5143502" y="3240713"/>
            <a:ext cx="1420800" cy="166200"/>
          </a:xfrm>
          <a:prstGeom prst="rect">
            <a:avLst/>
          </a:prstGeom>
          <a:solidFill>
            <a:srgbClr val="B3C6E7"/>
          </a:solidFill>
          <a:ln cap="flat" cmpd="sng" w="952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2019902" y="3193818"/>
            <a:ext cx="719100" cy="331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4572000" y="3157943"/>
            <a:ext cx="719100" cy="331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2835459" y="3152106"/>
            <a:ext cx="289200" cy="831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5382067" y="3099445"/>
            <a:ext cx="1065300" cy="942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0C0C0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3603044" y="3318135"/>
            <a:ext cx="630600" cy="831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D8E2F3"/>
          </a:solidFill>
          <a:ln cap="flat" cmpd="sng" w="952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2411440" y="4664515"/>
            <a:ext cx="892800" cy="166200"/>
          </a:xfrm>
          <a:prstGeom prst="rect">
            <a:avLst/>
          </a:prstGeom>
          <a:solidFill>
            <a:srgbClr val="2E75B5"/>
          </a:solidFill>
          <a:ln cap="flat" cmpd="sng" w="952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9"/>
          <p:cNvSpPr/>
          <p:nvPr/>
        </p:nvSpPr>
        <p:spPr>
          <a:xfrm rot="-6942883">
            <a:off x="1955484" y="4385636"/>
            <a:ext cx="723224" cy="166245"/>
          </a:xfrm>
          <a:prstGeom prst="rect">
            <a:avLst/>
          </a:prstGeom>
          <a:solidFill>
            <a:srgbClr val="B3C6E7"/>
          </a:solidFill>
          <a:ln cap="flat" cmpd="sng" w="952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5069454" y="4664514"/>
            <a:ext cx="892800" cy="166200"/>
          </a:xfrm>
          <a:prstGeom prst="rect">
            <a:avLst/>
          </a:prstGeom>
          <a:solidFill>
            <a:srgbClr val="2E75B5"/>
          </a:solidFill>
          <a:ln cap="flat" cmpd="sng" w="952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9"/>
          <p:cNvSpPr/>
          <p:nvPr/>
        </p:nvSpPr>
        <p:spPr>
          <a:xfrm rot="7369597">
            <a:off x="4826179" y="4398732"/>
            <a:ext cx="723300" cy="166265"/>
          </a:xfrm>
          <a:prstGeom prst="rect">
            <a:avLst/>
          </a:prstGeom>
          <a:solidFill>
            <a:srgbClr val="B3C6E7"/>
          </a:solidFill>
          <a:ln cap="flat" cmpd="sng" w="952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2068540" y="4405553"/>
            <a:ext cx="629700" cy="518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sm" w="sm" type="stealth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5144813" y="4472416"/>
            <a:ext cx="309000" cy="392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sm" w="sm" type="stealth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2341074" y="4625817"/>
            <a:ext cx="243600" cy="243600"/>
          </a:xfrm>
          <a:prstGeom prst="ellipse">
            <a:avLst/>
          </a:prstGeom>
          <a:solidFill>
            <a:srgbClr val="999999"/>
          </a:solidFill>
          <a:ln cap="flat" cmpd="sng" w="11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66935" rotWithShape="0" algn="bl" dir="5400000" dist="22312">
              <a:srgbClr val="000000">
                <a:alpha val="50000"/>
              </a:srgbClr>
            </a:outerShdw>
          </a:effectLst>
        </p:spPr>
        <p:txBody>
          <a:bodyPr anchorCtr="0" anchor="ctr" bIns="107075" lIns="107075" spcFirstLastPara="1" rIns="107075" wrap="square" tIns="107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40"/>
          </a:p>
        </p:txBody>
      </p:sp>
      <p:sp>
        <p:nvSpPr>
          <p:cNvPr id="135" name="Google Shape;135;p19"/>
          <p:cNvSpPr/>
          <p:nvPr/>
        </p:nvSpPr>
        <p:spPr>
          <a:xfrm>
            <a:off x="4893174" y="4631567"/>
            <a:ext cx="243600" cy="243600"/>
          </a:xfrm>
          <a:prstGeom prst="ellipse">
            <a:avLst/>
          </a:prstGeom>
          <a:solidFill>
            <a:srgbClr val="999999"/>
          </a:solidFill>
          <a:ln cap="flat" cmpd="sng" w="11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66935" rotWithShape="0" algn="bl" dir="5400000" dist="22312">
              <a:srgbClr val="000000">
                <a:alpha val="50000"/>
              </a:srgbClr>
            </a:outerShdw>
          </a:effectLst>
        </p:spPr>
        <p:txBody>
          <a:bodyPr anchorCtr="0" anchor="ctr" bIns="107075" lIns="107075" spcFirstLastPara="1" rIns="107075" wrap="square" tIns="107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40"/>
          </a:p>
        </p:txBody>
      </p:sp>
      <p:sp>
        <p:nvSpPr>
          <p:cNvPr id="136" name="Google Shape;13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Types of Joints</a:t>
            </a:r>
            <a:endParaRPr sz="2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/>
        </p:nvSpPr>
        <p:spPr>
          <a:xfrm>
            <a:off x="540628" y="780908"/>
            <a:ext cx="27735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2" name="Google Shape;142;p20"/>
          <p:cNvGrpSpPr/>
          <p:nvPr/>
        </p:nvGrpSpPr>
        <p:grpSpPr>
          <a:xfrm>
            <a:off x="311700" y="1351950"/>
            <a:ext cx="4265100" cy="2952170"/>
            <a:chOff x="542900" y="1351950"/>
            <a:chExt cx="4265100" cy="2952170"/>
          </a:xfrm>
        </p:grpSpPr>
        <p:sp>
          <p:nvSpPr>
            <p:cNvPr id="143" name="Google Shape;143;p20"/>
            <p:cNvSpPr txBox="1"/>
            <p:nvPr/>
          </p:nvSpPr>
          <p:spPr>
            <a:xfrm>
              <a:off x="542900" y="1351950"/>
              <a:ext cx="4265100" cy="243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i="0" lang="en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 </a:t>
              </a:r>
              <a:r>
                <a:rPr b="1" i="0" lang="en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Forward/Direct Kinematics </a:t>
              </a:r>
              <a:r>
                <a:rPr i="0" lang="en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– We want to know the final position of the end effector due to the movement of the joints.</a:t>
              </a:r>
              <a:endParaRPr i="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i="0" lang="en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2. </a:t>
              </a:r>
              <a:r>
                <a:rPr b="1" i="0" lang="en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Backward/Inverse Kinematics </a:t>
              </a:r>
              <a:r>
                <a:rPr i="0" lang="en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– Given the final position of the end effector, we want to know the angle of the joints.</a:t>
              </a:r>
              <a:endParaRPr i="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20"/>
            <p:cNvSpPr txBox="1"/>
            <p:nvPr/>
          </p:nvSpPr>
          <p:spPr>
            <a:xfrm>
              <a:off x="832578" y="2320290"/>
              <a:ext cx="12846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Joint angles </a:t>
              </a:r>
              <a:endParaRPr i="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20"/>
            <p:cNvSpPr txBox="1"/>
            <p:nvPr/>
          </p:nvSpPr>
          <p:spPr>
            <a:xfrm>
              <a:off x="3394617" y="3973689"/>
              <a:ext cx="12846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Joint angles </a:t>
              </a:r>
              <a:endParaRPr i="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20"/>
            <p:cNvSpPr txBox="1"/>
            <p:nvPr/>
          </p:nvSpPr>
          <p:spPr>
            <a:xfrm>
              <a:off x="3835021" y="2281190"/>
              <a:ext cx="667800" cy="34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x, y, θ</a:t>
              </a:r>
              <a:endParaRPr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20"/>
            <p:cNvSpPr txBox="1"/>
            <p:nvPr/>
          </p:nvSpPr>
          <p:spPr>
            <a:xfrm>
              <a:off x="1140979" y="3957920"/>
              <a:ext cx="667800" cy="34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x, y, θ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20"/>
            <p:cNvSpPr/>
            <p:nvPr/>
          </p:nvSpPr>
          <p:spPr>
            <a:xfrm>
              <a:off x="2242306" y="2392607"/>
              <a:ext cx="1141200" cy="1401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D8E2F3"/>
            </a:solidFill>
            <a:ln cap="flat" cmpd="sng" w="9525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20"/>
            <p:cNvSpPr/>
            <p:nvPr/>
          </p:nvSpPr>
          <p:spPr>
            <a:xfrm>
              <a:off x="2117160" y="4055874"/>
              <a:ext cx="1141200" cy="1401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D8E2F3"/>
            </a:solidFill>
            <a:ln cap="flat" cmpd="sng" w="9525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50" name="Google Shape;150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9775" y="1594525"/>
            <a:ext cx="4804200" cy="2591400"/>
          </a:xfrm>
          <a:prstGeom prst="rect">
            <a:avLst/>
          </a:prstGeom>
          <a:ln cap="flat" cmpd="sng" w="9525">
            <a:solidFill>
              <a:schemeClr val="lt1"/>
            </a:solidFill>
            <a:prstDash val="dot"/>
            <a:round/>
            <a:headEnd len="sm" w="sm" type="none"/>
            <a:tailEnd len="sm" w="sm" type="none"/>
          </a:ln>
        </p:spPr>
      </p:pic>
      <p:sp>
        <p:nvSpPr>
          <p:cNvPr id="151" name="Google Shape;15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Types of Kinematics</a:t>
            </a:r>
            <a:endParaRPr sz="2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Basics of Robotics Kinematics</a:t>
            </a:r>
            <a:endParaRPr/>
          </a:p>
        </p:txBody>
      </p:sp>
      <p:sp>
        <p:nvSpPr>
          <p:cNvPr id="157" name="Google Shape;157;p21"/>
          <p:cNvSpPr txBox="1"/>
          <p:nvPr>
            <p:ph idx="1" type="body"/>
          </p:nvPr>
        </p:nvSpPr>
        <p:spPr>
          <a:xfrm>
            <a:off x="311700" y="1152475"/>
            <a:ext cx="8520600" cy="26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In this chapter we study how a robot arm moves in space and how joint angles relate to the position of the end-effector.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We will build everything using 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pure trigonometry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before moving to the 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DH-parameter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method in the next section.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This chapter is divided into 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three parts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: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77470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en" sz="1400" u="sng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orward </a:t>
            </a:r>
            <a:r>
              <a:rPr b="1" lang="en" sz="1400" u="sng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inematics (FK) using Trigonometry.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774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en" sz="1400" u="sng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nverse </a:t>
            </a:r>
            <a:r>
              <a:rPr b="1" lang="en" sz="1400" u="sng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inematics (IK) using Trigonometry.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774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en" sz="1400" u="sng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" sz="14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orward </a:t>
            </a:r>
            <a:r>
              <a:rPr b="1" lang="en" sz="1400" u="sng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" sz="14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inematics (FK)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using </a:t>
            </a:r>
            <a:r>
              <a:rPr b="1" lang="en" sz="1400" u="sng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enavit–</a:t>
            </a:r>
            <a:r>
              <a:rPr b="1" lang="en" sz="1400" u="sng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artenberg (DH) Parameters.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Preliminaries for Forward Kinematics</a:t>
            </a:r>
            <a:endParaRPr sz="2500"/>
          </a:p>
        </p:txBody>
      </p:sp>
      <p:pic>
        <p:nvPicPr>
          <p:cNvPr id="163" name="Google Shape;163;p22" title="f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7663" y="973875"/>
            <a:ext cx="6188675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Angle Sign Convention</a:t>
            </a:r>
            <a:endParaRPr/>
          </a:p>
        </p:txBody>
      </p:sp>
      <p:grpSp>
        <p:nvGrpSpPr>
          <p:cNvPr id="169" name="Google Shape;169;p23"/>
          <p:cNvGrpSpPr/>
          <p:nvPr/>
        </p:nvGrpSpPr>
        <p:grpSpPr>
          <a:xfrm>
            <a:off x="396683" y="1713429"/>
            <a:ext cx="3449746" cy="2156141"/>
            <a:chOff x="4072400" y="1563050"/>
            <a:chExt cx="2597700" cy="1623600"/>
          </a:xfrm>
        </p:grpSpPr>
        <p:grpSp>
          <p:nvGrpSpPr>
            <p:cNvPr id="170" name="Google Shape;170;p23"/>
            <p:cNvGrpSpPr/>
            <p:nvPr/>
          </p:nvGrpSpPr>
          <p:grpSpPr>
            <a:xfrm>
              <a:off x="4072400" y="1563050"/>
              <a:ext cx="2597700" cy="1623600"/>
              <a:chOff x="1962575" y="2223650"/>
              <a:chExt cx="2597700" cy="1623600"/>
            </a:xfrm>
          </p:grpSpPr>
          <p:sp>
            <p:nvSpPr>
              <p:cNvPr id="171" name="Google Shape;171;p23"/>
              <p:cNvSpPr/>
              <p:nvPr/>
            </p:nvSpPr>
            <p:spPr>
              <a:xfrm rot="-1183704">
                <a:off x="3268002" y="2624944"/>
                <a:ext cx="1147345" cy="90912"/>
              </a:xfrm>
              <a:prstGeom prst="rect">
                <a:avLst/>
              </a:prstGeom>
              <a:solidFill>
                <a:schemeClr val="lt2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1604664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cxnSp>
            <p:nvCxnSpPr>
              <p:cNvPr id="172" name="Google Shape;172;p23"/>
              <p:cNvCxnSpPr/>
              <p:nvPr/>
            </p:nvCxnSpPr>
            <p:spPr>
              <a:xfrm>
                <a:off x="2319775" y="2223650"/>
                <a:ext cx="0" cy="1623600"/>
              </a:xfrm>
              <a:prstGeom prst="straightConnector1">
                <a:avLst/>
              </a:prstGeom>
              <a:noFill/>
              <a:ln cap="flat" cmpd="sng" w="12650">
                <a:solidFill>
                  <a:schemeClr val="dk1"/>
                </a:solidFill>
                <a:prstDash val="solid"/>
                <a:round/>
                <a:headEnd len="med" w="med" type="stealth"/>
                <a:tailEnd len="med" w="med" type="none"/>
              </a:ln>
            </p:spPr>
          </p:cxnSp>
          <p:cxnSp>
            <p:nvCxnSpPr>
              <p:cNvPr id="173" name="Google Shape;173;p23"/>
              <p:cNvCxnSpPr/>
              <p:nvPr/>
            </p:nvCxnSpPr>
            <p:spPr>
              <a:xfrm>
                <a:off x="1962575" y="3606950"/>
                <a:ext cx="2597700" cy="0"/>
              </a:xfrm>
              <a:prstGeom prst="straightConnector1">
                <a:avLst/>
              </a:prstGeom>
              <a:noFill/>
              <a:ln cap="flat" cmpd="sng" w="126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174" name="Google Shape;174;p23"/>
              <p:cNvSpPr/>
              <p:nvPr/>
            </p:nvSpPr>
            <p:spPr>
              <a:xfrm rot="-2194086">
                <a:off x="2231448" y="3175547"/>
                <a:ext cx="1173256" cy="90900"/>
              </a:xfrm>
              <a:prstGeom prst="rect">
                <a:avLst/>
              </a:prstGeom>
              <a:solidFill>
                <a:schemeClr val="lt2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sp>
            <p:nvSpPr>
              <p:cNvPr id="175" name="Google Shape;175;p23"/>
              <p:cNvSpPr/>
              <p:nvPr/>
            </p:nvSpPr>
            <p:spPr>
              <a:xfrm>
                <a:off x="3204450" y="2759900"/>
                <a:ext cx="207900" cy="207900"/>
              </a:xfrm>
              <a:prstGeom prst="ellipse">
                <a:avLst/>
              </a:prstGeom>
              <a:solidFill>
                <a:srgbClr val="999999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75899" rotWithShape="0" algn="bl" dir="5400000" dist="2530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sp>
            <p:nvSpPr>
              <p:cNvPr id="176" name="Google Shape;176;p23"/>
              <p:cNvSpPr/>
              <p:nvPr/>
            </p:nvSpPr>
            <p:spPr>
              <a:xfrm>
                <a:off x="2215825" y="3503000"/>
                <a:ext cx="207900" cy="207900"/>
              </a:xfrm>
              <a:prstGeom prst="ellipse">
                <a:avLst/>
              </a:prstGeom>
              <a:solidFill>
                <a:srgbClr val="999999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75899" rotWithShape="0" algn="bl" dir="5400000" dist="2530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</p:grpSp>
        <p:sp>
          <p:nvSpPr>
            <p:cNvPr id="177" name="Google Shape;177;p23"/>
            <p:cNvSpPr txBox="1"/>
            <p:nvPr/>
          </p:nvSpPr>
          <p:spPr>
            <a:xfrm>
              <a:off x="4654511" y="2099299"/>
              <a:ext cx="383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94">
                  <a:solidFill>
                    <a:srgbClr val="4472C4"/>
                  </a:solidFill>
                </a:rPr>
                <a:t>L</a:t>
              </a:r>
              <a:r>
                <a:rPr baseline="-25000" lang="en" sz="1594">
                  <a:solidFill>
                    <a:srgbClr val="4472C4"/>
                  </a:solidFill>
                </a:rPr>
                <a:t>n</a:t>
              </a:r>
              <a:endParaRPr baseline="-25000" sz="1594">
                <a:solidFill>
                  <a:srgbClr val="4472C4"/>
                </a:solidFill>
              </a:endParaRPr>
            </a:p>
          </p:txBody>
        </p:sp>
        <p:sp>
          <p:nvSpPr>
            <p:cNvPr id="178" name="Google Shape;178;p23"/>
            <p:cNvSpPr txBox="1"/>
            <p:nvPr/>
          </p:nvSpPr>
          <p:spPr>
            <a:xfrm>
              <a:off x="5580401" y="1602712"/>
              <a:ext cx="511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94">
                  <a:solidFill>
                    <a:srgbClr val="4472C4"/>
                  </a:solidFill>
                </a:rPr>
                <a:t>L</a:t>
              </a:r>
              <a:r>
                <a:rPr baseline="-25000" lang="en" sz="1594">
                  <a:solidFill>
                    <a:srgbClr val="4472C4"/>
                  </a:solidFill>
                </a:rPr>
                <a:t>n+1</a:t>
              </a:r>
              <a:endParaRPr baseline="-25000" sz="1594">
                <a:solidFill>
                  <a:srgbClr val="4472C4"/>
                </a:solidFill>
              </a:endParaRPr>
            </a:p>
          </p:txBody>
        </p:sp>
      </p:grpSp>
      <p:sp>
        <p:nvSpPr>
          <p:cNvPr id="179" name="Google Shape;179;p23"/>
          <p:cNvSpPr txBox="1"/>
          <p:nvPr/>
        </p:nvSpPr>
        <p:spPr>
          <a:xfrm>
            <a:off x="4142575" y="1713425"/>
            <a:ext cx="5001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angle is defined by </a:t>
            </a:r>
            <a:r>
              <a:rPr b="1" lang="en"/>
              <a:t>two positions</a:t>
            </a:r>
            <a:r>
              <a:rPr lang="en"/>
              <a:t>: a source (initial) position and a final (end) position.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direction of rotation from the </a:t>
            </a:r>
            <a:r>
              <a:rPr b="1" lang="en"/>
              <a:t>initial</a:t>
            </a:r>
            <a:r>
              <a:rPr b="1" lang="en"/>
              <a:t> to the end position</a:t>
            </a:r>
            <a:r>
              <a:rPr lang="en"/>
              <a:t> determines the sign of the angle: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u="sng"/>
              <a:t>C</a:t>
            </a:r>
            <a:r>
              <a:rPr lang="en"/>
              <a:t>ounter-</a:t>
            </a:r>
            <a:r>
              <a:rPr lang="en" u="sng"/>
              <a:t>C</a:t>
            </a:r>
            <a:r>
              <a:rPr lang="en"/>
              <a:t>lock</a:t>
            </a:r>
            <a:r>
              <a:rPr lang="en" u="sng"/>
              <a:t>W</a:t>
            </a:r>
            <a:r>
              <a:rPr lang="en"/>
              <a:t>ise</a:t>
            </a:r>
            <a:r>
              <a:rPr lang="en"/>
              <a:t> </a:t>
            </a:r>
            <a:r>
              <a:rPr b="1" lang="en"/>
              <a:t>(CCW)</a:t>
            </a:r>
            <a:r>
              <a:rPr lang="en"/>
              <a:t> is positive (+)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u="sng"/>
              <a:t>C</a:t>
            </a:r>
            <a:r>
              <a:rPr lang="en"/>
              <a:t>lock</a:t>
            </a:r>
            <a:r>
              <a:rPr lang="en" u="sng"/>
              <a:t>W</a:t>
            </a:r>
            <a:r>
              <a:rPr lang="en"/>
              <a:t>ise </a:t>
            </a:r>
            <a:r>
              <a:rPr b="1" lang="en"/>
              <a:t>(CW)</a:t>
            </a:r>
            <a:r>
              <a:rPr lang="en"/>
              <a:t> is negative (−)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</a:t>
            </a:r>
            <a:r>
              <a:rPr lang="en"/>
              <a:t>Example</a:t>
            </a:r>
            <a:r>
              <a:rPr lang="en"/>
              <a:t>] Angle Sign Convention</a:t>
            </a:r>
            <a:endParaRPr/>
          </a:p>
        </p:txBody>
      </p:sp>
      <p:grpSp>
        <p:nvGrpSpPr>
          <p:cNvPr id="185" name="Google Shape;185;p24"/>
          <p:cNvGrpSpPr/>
          <p:nvPr/>
        </p:nvGrpSpPr>
        <p:grpSpPr>
          <a:xfrm>
            <a:off x="396683" y="1713429"/>
            <a:ext cx="3449746" cy="2156141"/>
            <a:chOff x="4072400" y="1563050"/>
            <a:chExt cx="2597700" cy="1623600"/>
          </a:xfrm>
        </p:grpSpPr>
        <p:grpSp>
          <p:nvGrpSpPr>
            <p:cNvPr id="186" name="Google Shape;186;p24"/>
            <p:cNvGrpSpPr/>
            <p:nvPr/>
          </p:nvGrpSpPr>
          <p:grpSpPr>
            <a:xfrm>
              <a:off x="4072400" y="1563050"/>
              <a:ext cx="2597700" cy="1623600"/>
              <a:chOff x="1962575" y="2223650"/>
              <a:chExt cx="2597700" cy="1623600"/>
            </a:xfrm>
          </p:grpSpPr>
          <p:sp>
            <p:nvSpPr>
              <p:cNvPr id="187" name="Google Shape;187;p24"/>
              <p:cNvSpPr/>
              <p:nvPr/>
            </p:nvSpPr>
            <p:spPr>
              <a:xfrm rot="-1183704">
                <a:off x="3268002" y="2624944"/>
                <a:ext cx="1147345" cy="90912"/>
              </a:xfrm>
              <a:prstGeom prst="rect">
                <a:avLst/>
              </a:prstGeom>
              <a:solidFill>
                <a:schemeClr val="lt2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1604664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cxnSp>
            <p:nvCxnSpPr>
              <p:cNvPr id="188" name="Google Shape;188;p24"/>
              <p:cNvCxnSpPr/>
              <p:nvPr/>
            </p:nvCxnSpPr>
            <p:spPr>
              <a:xfrm>
                <a:off x="2319775" y="2223650"/>
                <a:ext cx="0" cy="1623600"/>
              </a:xfrm>
              <a:prstGeom prst="straightConnector1">
                <a:avLst/>
              </a:prstGeom>
              <a:noFill/>
              <a:ln cap="flat" cmpd="sng" w="12650">
                <a:solidFill>
                  <a:schemeClr val="dk1"/>
                </a:solidFill>
                <a:prstDash val="solid"/>
                <a:round/>
                <a:headEnd len="med" w="med" type="stealth"/>
                <a:tailEnd len="med" w="med" type="none"/>
              </a:ln>
            </p:spPr>
          </p:cxnSp>
          <p:cxnSp>
            <p:nvCxnSpPr>
              <p:cNvPr id="189" name="Google Shape;189;p24"/>
              <p:cNvCxnSpPr/>
              <p:nvPr/>
            </p:nvCxnSpPr>
            <p:spPr>
              <a:xfrm>
                <a:off x="1962575" y="3606950"/>
                <a:ext cx="2597700" cy="0"/>
              </a:xfrm>
              <a:prstGeom prst="straightConnector1">
                <a:avLst/>
              </a:prstGeom>
              <a:noFill/>
              <a:ln cap="flat" cmpd="sng" w="126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190" name="Google Shape;190;p24"/>
              <p:cNvSpPr/>
              <p:nvPr/>
            </p:nvSpPr>
            <p:spPr>
              <a:xfrm rot="-2194086">
                <a:off x="2231448" y="3175547"/>
                <a:ext cx="1173256" cy="90900"/>
              </a:xfrm>
              <a:prstGeom prst="rect">
                <a:avLst/>
              </a:prstGeom>
              <a:solidFill>
                <a:schemeClr val="lt2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sp>
            <p:nvSpPr>
              <p:cNvPr id="191" name="Google Shape;191;p24"/>
              <p:cNvSpPr/>
              <p:nvPr/>
            </p:nvSpPr>
            <p:spPr>
              <a:xfrm>
                <a:off x="3204450" y="2759900"/>
                <a:ext cx="207900" cy="207900"/>
              </a:xfrm>
              <a:prstGeom prst="ellipse">
                <a:avLst/>
              </a:prstGeom>
              <a:solidFill>
                <a:srgbClr val="999999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75899" rotWithShape="0" algn="bl" dir="5400000" dist="2530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sp>
            <p:nvSpPr>
              <p:cNvPr id="192" name="Google Shape;192;p24"/>
              <p:cNvSpPr/>
              <p:nvPr/>
            </p:nvSpPr>
            <p:spPr>
              <a:xfrm>
                <a:off x="2215825" y="3503000"/>
                <a:ext cx="207900" cy="207900"/>
              </a:xfrm>
              <a:prstGeom prst="ellipse">
                <a:avLst/>
              </a:prstGeom>
              <a:solidFill>
                <a:srgbClr val="999999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75899" rotWithShape="0" algn="bl" dir="5400000" dist="2530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</p:grpSp>
        <p:sp>
          <p:nvSpPr>
            <p:cNvPr id="193" name="Google Shape;193;p24"/>
            <p:cNvSpPr txBox="1"/>
            <p:nvPr/>
          </p:nvSpPr>
          <p:spPr>
            <a:xfrm>
              <a:off x="4654511" y="2099299"/>
              <a:ext cx="383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94">
                  <a:solidFill>
                    <a:srgbClr val="4472C4"/>
                  </a:solidFill>
                </a:rPr>
                <a:t>L</a:t>
              </a:r>
              <a:r>
                <a:rPr baseline="-25000" lang="en" sz="1594">
                  <a:solidFill>
                    <a:srgbClr val="4472C4"/>
                  </a:solidFill>
                </a:rPr>
                <a:t>n</a:t>
              </a:r>
              <a:endParaRPr baseline="-25000" sz="1594">
                <a:solidFill>
                  <a:srgbClr val="4472C4"/>
                </a:solidFill>
              </a:endParaRPr>
            </a:p>
          </p:txBody>
        </p:sp>
        <p:sp>
          <p:nvSpPr>
            <p:cNvPr id="194" name="Google Shape;194;p24"/>
            <p:cNvSpPr txBox="1"/>
            <p:nvPr/>
          </p:nvSpPr>
          <p:spPr>
            <a:xfrm>
              <a:off x="5580401" y="1602712"/>
              <a:ext cx="511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94">
                  <a:solidFill>
                    <a:srgbClr val="4472C4"/>
                  </a:solidFill>
                </a:rPr>
                <a:t>L</a:t>
              </a:r>
              <a:r>
                <a:rPr baseline="-25000" lang="en" sz="1594">
                  <a:solidFill>
                    <a:srgbClr val="4472C4"/>
                  </a:solidFill>
                </a:rPr>
                <a:t>n+1</a:t>
              </a:r>
              <a:endParaRPr baseline="-25000" sz="1594">
                <a:solidFill>
                  <a:srgbClr val="4472C4"/>
                </a:solidFill>
              </a:endParaRPr>
            </a:p>
          </p:txBody>
        </p:sp>
      </p:grpSp>
      <p:sp>
        <p:nvSpPr>
          <p:cNvPr id="195" name="Google Shape;195;p24"/>
          <p:cNvSpPr txBox="1"/>
          <p:nvPr/>
        </p:nvSpPr>
        <p:spPr>
          <a:xfrm>
            <a:off x="2279668" y="2723849"/>
            <a:ext cx="5091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26">
                <a:solidFill>
                  <a:srgbClr val="4472C4"/>
                </a:solidFill>
              </a:rPr>
              <a:t>θ</a:t>
            </a:r>
            <a:endParaRPr baseline="-25000" sz="1726">
              <a:solidFill>
                <a:srgbClr val="4472C4"/>
              </a:solidFill>
            </a:endParaRPr>
          </a:p>
        </p:txBody>
      </p:sp>
      <p:sp>
        <p:nvSpPr>
          <p:cNvPr id="196" name="Google Shape;196;p24"/>
          <p:cNvSpPr txBox="1"/>
          <p:nvPr/>
        </p:nvSpPr>
        <p:spPr>
          <a:xfrm>
            <a:off x="4142575" y="1713425"/>
            <a:ext cx="5001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          </a:t>
            </a:r>
            <a:r>
              <a:rPr b="1" lang="en"/>
              <a:t>L</a:t>
            </a:r>
            <a:r>
              <a:rPr b="1" baseline="-25000" lang="en"/>
              <a:t>n    </a:t>
            </a:r>
            <a:r>
              <a:rPr b="1" lang="en"/>
              <a:t>:</a:t>
            </a:r>
            <a:r>
              <a:rPr lang="en"/>
              <a:t> Initial line or link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          </a:t>
            </a:r>
            <a:r>
              <a:rPr b="1" lang="en">
                <a:solidFill>
                  <a:schemeClr val="dk1"/>
                </a:solidFill>
              </a:rPr>
              <a:t>L</a:t>
            </a:r>
            <a:r>
              <a:rPr b="1" baseline="-25000" lang="en">
                <a:solidFill>
                  <a:schemeClr val="dk1"/>
                </a:solidFill>
              </a:rPr>
              <a:t>n+1</a:t>
            </a:r>
            <a:r>
              <a:rPr b="1" lang="en">
                <a:solidFill>
                  <a:schemeClr val="dk1"/>
                </a:solidFill>
              </a:rPr>
              <a:t>:</a:t>
            </a:r>
            <a:r>
              <a:rPr lang="en">
                <a:solidFill>
                  <a:schemeClr val="dk1"/>
                </a:solidFill>
              </a:rPr>
              <a:t> End line or link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So, the </a:t>
            </a:r>
            <a:r>
              <a:rPr lang="en">
                <a:solidFill>
                  <a:srgbClr val="FF0000"/>
                </a:solidFill>
              </a:rPr>
              <a:t>arrow </a:t>
            </a:r>
            <a:r>
              <a:rPr lang="en">
                <a:solidFill>
                  <a:schemeClr val="dk1"/>
                </a:solidFill>
              </a:rPr>
              <a:t>describes the direction of the </a:t>
            </a:r>
            <a:r>
              <a:rPr lang="en">
                <a:solidFill>
                  <a:srgbClr val="4472C4"/>
                </a:solidFill>
              </a:rPr>
              <a:t>angle</a:t>
            </a:r>
            <a:r>
              <a:rPr lang="en">
                <a:solidFill>
                  <a:schemeClr val="dk1"/>
                </a:solidFill>
              </a:rPr>
              <a:t>, the tail part of the arrow is end point.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Therefore, the direction: </a:t>
            </a:r>
            <a:r>
              <a:rPr lang="en"/>
              <a:t>counter-clockwise</a:t>
            </a:r>
            <a:r>
              <a:rPr lang="en"/>
              <a:t> </a:t>
            </a:r>
            <a:r>
              <a:rPr b="1" lang="en"/>
              <a:t>(CCW)</a:t>
            </a:r>
            <a:r>
              <a:rPr lang="en"/>
              <a:t>. </a:t>
            </a:r>
            <a:endParaRPr/>
          </a:p>
        </p:txBody>
      </p:sp>
      <p:sp>
        <p:nvSpPr>
          <p:cNvPr id="197" name="Google Shape;197;p24"/>
          <p:cNvSpPr/>
          <p:nvPr/>
        </p:nvSpPr>
        <p:spPr>
          <a:xfrm rot="7626148">
            <a:off x="1833587" y="2154817"/>
            <a:ext cx="694746" cy="810426"/>
          </a:xfrm>
          <a:prstGeom prst="arc">
            <a:avLst>
              <a:gd fmla="val 13632365" name="adj1"/>
              <a:gd fmla="val 0" name="adj2"/>
            </a:avLst>
          </a:prstGeom>
          <a:noFill/>
          <a:ln cap="flat" cmpd="sng" w="12650">
            <a:solidFill>
              <a:srgbClr val="FF0000"/>
            </a:solidFill>
            <a:prstDash val="solid"/>
            <a:round/>
            <a:headEnd len="sm" w="sm" type="stealth"/>
            <a:tailEnd len="sm" w="sm" type="none"/>
          </a:ln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sp>
        <p:nvSpPr>
          <p:cNvPr id="198" name="Google Shape;198;p24"/>
          <p:cNvSpPr txBox="1"/>
          <p:nvPr/>
        </p:nvSpPr>
        <p:spPr>
          <a:xfrm>
            <a:off x="828838" y="3738400"/>
            <a:ext cx="27042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26">
                <a:solidFill>
                  <a:srgbClr val="4472C4"/>
                </a:solidFill>
              </a:rPr>
              <a:t>θ</a:t>
            </a:r>
            <a:r>
              <a:rPr lang="en" sz="1726">
                <a:solidFill>
                  <a:srgbClr val="4472C4"/>
                </a:solidFill>
              </a:rPr>
              <a:t> will be positive</a:t>
            </a:r>
            <a:endParaRPr baseline="-25000" sz="1726">
              <a:solidFill>
                <a:srgbClr val="4472C4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[Test] Angle Sign Convention</a:t>
            </a:r>
            <a:endParaRPr/>
          </a:p>
        </p:txBody>
      </p:sp>
      <p:grpSp>
        <p:nvGrpSpPr>
          <p:cNvPr id="204" name="Google Shape;204;p25"/>
          <p:cNvGrpSpPr/>
          <p:nvPr/>
        </p:nvGrpSpPr>
        <p:grpSpPr>
          <a:xfrm>
            <a:off x="311708" y="1223929"/>
            <a:ext cx="3449746" cy="2156141"/>
            <a:chOff x="4072400" y="1563050"/>
            <a:chExt cx="2597700" cy="1623600"/>
          </a:xfrm>
        </p:grpSpPr>
        <p:sp>
          <p:nvSpPr>
            <p:cNvPr id="205" name="Google Shape;205;p25"/>
            <p:cNvSpPr/>
            <p:nvPr/>
          </p:nvSpPr>
          <p:spPr>
            <a:xfrm rot="1516218">
              <a:off x="5296257" y="2519252"/>
              <a:ext cx="290942" cy="321136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12650">
              <a:solidFill>
                <a:srgbClr val="0000FF"/>
              </a:solidFill>
              <a:prstDash val="solid"/>
              <a:round/>
              <a:headEnd len="sm" w="sm" type="stealth"/>
              <a:tailEnd len="sm" w="sm" type="none"/>
            </a:ln>
          </p:spPr>
          <p:txBody>
            <a:bodyPr anchorCtr="0" anchor="ctr" bIns="121425" lIns="121425" spcFirstLastPara="1" rIns="121425" wrap="square" tIns="12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59"/>
            </a:p>
          </p:txBody>
        </p:sp>
        <p:grpSp>
          <p:nvGrpSpPr>
            <p:cNvPr id="206" name="Google Shape;206;p25"/>
            <p:cNvGrpSpPr/>
            <p:nvPr/>
          </p:nvGrpSpPr>
          <p:grpSpPr>
            <a:xfrm>
              <a:off x="4072400" y="1563050"/>
              <a:ext cx="2597700" cy="1623600"/>
              <a:chOff x="1962575" y="2223650"/>
              <a:chExt cx="2597700" cy="1623600"/>
            </a:xfrm>
          </p:grpSpPr>
          <p:sp>
            <p:nvSpPr>
              <p:cNvPr id="207" name="Google Shape;207;p25"/>
              <p:cNvSpPr/>
              <p:nvPr/>
            </p:nvSpPr>
            <p:spPr>
              <a:xfrm rot="-1183704">
                <a:off x="3268002" y="2624944"/>
                <a:ext cx="1147345" cy="90912"/>
              </a:xfrm>
              <a:prstGeom prst="rect">
                <a:avLst/>
              </a:prstGeom>
              <a:solidFill>
                <a:schemeClr val="lt2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1604664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cxnSp>
            <p:nvCxnSpPr>
              <p:cNvPr id="208" name="Google Shape;208;p25"/>
              <p:cNvCxnSpPr/>
              <p:nvPr/>
            </p:nvCxnSpPr>
            <p:spPr>
              <a:xfrm>
                <a:off x="2319775" y="2223650"/>
                <a:ext cx="0" cy="1623600"/>
              </a:xfrm>
              <a:prstGeom prst="straightConnector1">
                <a:avLst/>
              </a:prstGeom>
              <a:noFill/>
              <a:ln cap="flat" cmpd="sng" w="12650">
                <a:solidFill>
                  <a:schemeClr val="dk1"/>
                </a:solidFill>
                <a:prstDash val="solid"/>
                <a:round/>
                <a:headEnd len="med" w="med" type="stealth"/>
                <a:tailEnd len="med" w="med" type="none"/>
              </a:ln>
            </p:spPr>
          </p:cxnSp>
          <p:cxnSp>
            <p:nvCxnSpPr>
              <p:cNvPr id="209" name="Google Shape;209;p25"/>
              <p:cNvCxnSpPr/>
              <p:nvPr/>
            </p:nvCxnSpPr>
            <p:spPr>
              <a:xfrm>
                <a:off x="1962575" y="3606950"/>
                <a:ext cx="2597700" cy="0"/>
              </a:xfrm>
              <a:prstGeom prst="straightConnector1">
                <a:avLst/>
              </a:prstGeom>
              <a:noFill/>
              <a:ln cap="flat" cmpd="sng" w="126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210" name="Google Shape;210;p25"/>
              <p:cNvSpPr/>
              <p:nvPr/>
            </p:nvSpPr>
            <p:spPr>
              <a:xfrm rot="-2194086">
                <a:off x="2231448" y="3175547"/>
                <a:ext cx="1173256" cy="90900"/>
              </a:xfrm>
              <a:prstGeom prst="rect">
                <a:avLst/>
              </a:prstGeom>
              <a:solidFill>
                <a:schemeClr val="lt2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sp>
            <p:nvSpPr>
              <p:cNvPr id="211" name="Google Shape;211;p25"/>
              <p:cNvSpPr/>
              <p:nvPr/>
            </p:nvSpPr>
            <p:spPr>
              <a:xfrm>
                <a:off x="3204450" y="2759900"/>
                <a:ext cx="207900" cy="207900"/>
              </a:xfrm>
              <a:prstGeom prst="ellipse">
                <a:avLst/>
              </a:prstGeom>
              <a:solidFill>
                <a:srgbClr val="999999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75899" rotWithShape="0" algn="bl" dir="5400000" dist="2530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sp>
            <p:nvSpPr>
              <p:cNvPr id="212" name="Google Shape;212;p25"/>
              <p:cNvSpPr/>
              <p:nvPr/>
            </p:nvSpPr>
            <p:spPr>
              <a:xfrm>
                <a:off x="2215825" y="3503000"/>
                <a:ext cx="207900" cy="207900"/>
              </a:xfrm>
              <a:prstGeom prst="ellipse">
                <a:avLst/>
              </a:prstGeom>
              <a:solidFill>
                <a:srgbClr val="999999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75899" rotWithShape="0" algn="bl" dir="5400000" dist="2530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</p:grpSp>
      </p:grpSp>
      <p:grpSp>
        <p:nvGrpSpPr>
          <p:cNvPr id="213" name="Google Shape;213;p25"/>
          <p:cNvGrpSpPr/>
          <p:nvPr/>
        </p:nvGrpSpPr>
        <p:grpSpPr>
          <a:xfrm>
            <a:off x="4051408" y="748527"/>
            <a:ext cx="3449746" cy="2631543"/>
            <a:chOff x="4072400" y="1205067"/>
            <a:chExt cx="2597700" cy="1981583"/>
          </a:xfrm>
        </p:grpSpPr>
        <p:sp>
          <p:nvSpPr>
            <p:cNvPr id="214" name="Google Shape;214;p25"/>
            <p:cNvSpPr/>
            <p:nvPr/>
          </p:nvSpPr>
          <p:spPr>
            <a:xfrm rot="1516218">
              <a:off x="5780425" y="2519252"/>
              <a:ext cx="290942" cy="321136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12650">
              <a:solidFill>
                <a:srgbClr val="FF00FF"/>
              </a:solidFill>
              <a:prstDash val="solid"/>
              <a:round/>
              <a:headEnd len="sm" w="sm" type="none"/>
              <a:tailEnd len="sm" w="sm" type="stealth"/>
            </a:ln>
          </p:spPr>
          <p:txBody>
            <a:bodyPr anchorCtr="0" anchor="ctr" bIns="121425" lIns="121425" spcFirstLastPara="1" rIns="121425" wrap="square" tIns="12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59"/>
            </a:p>
          </p:txBody>
        </p:sp>
        <p:grpSp>
          <p:nvGrpSpPr>
            <p:cNvPr id="215" name="Google Shape;215;p25"/>
            <p:cNvGrpSpPr/>
            <p:nvPr/>
          </p:nvGrpSpPr>
          <p:grpSpPr>
            <a:xfrm>
              <a:off x="4072400" y="1205067"/>
              <a:ext cx="2597700" cy="1981583"/>
              <a:chOff x="1962575" y="1865667"/>
              <a:chExt cx="2597700" cy="1981583"/>
            </a:xfrm>
          </p:grpSpPr>
          <p:sp>
            <p:nvSpPr>
              <p:cNvPr id="216" name="Google Shape;216;p25"/>
              <p:cNvSpPr/>
              <p:nvPr/>
            </p:nvSpPr>
            <p:spPr>
              <a:xfrm rot="-3590890">
                <a:off x="2993074" y="2338877"/>
                <a:ext cx="1147338" cy="90980"/>
              </a:xfrm>
              <a:prstGeom prst="rect">
                <a:avLst/>
              </a:prstGeom>
              <a:solidFill>
                <a:schemeClr val="lt2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1604664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cxnSp>
            <p:nvCxnSpPr>
              <p:cNvPr id="217" name="Google Shape;217;p25"/>
              <p:cNvCxnSpPr/>
              <p:nvPr/>
            </p:nvCxnSpPr>
            <p:spPr>
              <a:xfrm>
                <a:off x="2319775" y="2223650"/>
                <a:ext cx="0" cy="1623600"/>
              </a:xfrm>
              <a:prstGeom prst="straightConnector1">
                <a:avLst/>
              </a:prstGeom>
              <a:noFill/>
              <a:ln cap="flat" cmpd="sng" w="12650">
                <a:solidFill>
                  <a:schemeClr val="dk1"/>
                </a:solidFill>
                <a:prstDash val="solid"/>
                <a:round/>
                <a:headEnd len="med" w="med" type="stealth"/>
                <a:tailEnd len="med" w="med" type="none"/>
              </a:ln>
            </p:spPr>
          </p:cxnSp>
          <p:cxnSp>
            <p:nvCxnSpPr>
              <p:cNvPr id="218" name="Google Shape;218;p25"/>
              <p:cNvCxnSpPr/>
              <p:nvPr/>
            </p:nvCxnSpPr>
            <p:spPr>
              <a:xfrm>
                <a:off x="1962575" y="3606950"/>
                <a:ext cx="2597700" cy="0"/>
              </a:xfrm>
              <a:prstGeom prst="straightConnector1">
                <a:avLst/>
              </a:prstGeom>
              <a:noFill/>
              <a:ln cap="flat" cmpd="sng" w="126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219" name="Google Shape;219;p25"/>
              <p:cNvSpPr/>
              <p:nvPr/>
            </p:nvSpPr>
            <p:spPr>
              <a:xfrm rot="-2194086">
                <a:off x="2231448" y="3175547"/>
                <a:ext cx="1173256" cy="90900"/>
              </a:xfrm>
              <a:prstGeom prst="rect">
                <a:avLst/>
              </a:prstGeom>
              <a:solidFill>
                <a:schemeClr val="lt2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sp>
            <p:nvSpPr>
              <p:cNvPr id="220" name="Google Shape;220;p25"/>
              <p:cNvSpPr/>
              <p:nvPr/>
            </p:nvSpPr>
            <p:spPr>
              <a:xfrm>
                <a:off x="3204450" y="2759900"/>
                <a:ext cx="207900" cy="207900"/>
              </a:xfrm>
              <a:prstGeom prst="ellipse">
                <a:avLst/>
              </a:prstGeom>
              <a:solidFill>
                <a:srgbClr val="999999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75899" rotWithShape="0" algn="bl" dir="5400000" dist="2530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sp>
            <p:nvSpPr>
              <p:cNvPr id="221" name="Google Shape;221;p25"/>
              <p:cNvSpPr/>
              <p:nvPr/>
            </p:nvSpPr>
            <p:spPr>
              <a:xfrm>
                <a:off x="2215825" y="3503000"/>
                <a:ext cx="207900" cy="207900"/>
              </a:xfrm>
              <a:prstGeom prst="ellipse">
                <a:avLst/>
              </a:prstGeom>
              <a:solidFill>
                <a:srgbClr val="999999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75899" rotWithShape="0" algn="bl" dir="5400000" dist="2530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</p:grpSp>
      </p:grpSp>
      <p:cxnSp>
        <p:nvCxnSpPr>
          <p:cNvPr id="222" name="Google Shape;222;p25"/>
          <p:cNvCxnSpPr/>
          <p:nvPr/>
        </p:nvCxnSpPr>
        <p:spPr>
          <a:xfrm flipH="1" rot="10800000">
            <a:off x="775108" y="1125064"/>
            <a:ext cx="2571000" cy="19458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25"/>
          <p:cNvCxnSpPr/>
          <p:nvPr/>
        </p:nvCxnSpPr>
        <p:spPr>
          <a:xfrm flipH="1" rot="10800000">
            <a:off x="4490783" y="1125064"/>
            <a:ext cx="2571000" cy="19458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24" name="Google Shape;224;p25"/>
          <p:cNvSpPr/>
          <p:nvPr/>
        </p:nvSpPr>
        <p:spPr>
          <a:xfrm rot="1516328">
            <a:off x="2651917" y="2493685"/>
            <a:ext cx="386491" cy="426617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650">
            <a:solidFill>
              <a:srgbClr val="FF00FF"/>
            </a:solidFill>
            <a:prstDash val="solid"/>
            <a:round/>
            <a:headEnd len="sm" w="sm" type="none"/>
            <a:tailEnd len="sm" w="sm" type="stealth"/>
          </a:ln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sp>
        <p:nvSpPr>
          <p:cNvPr id="225" name="Google Shape;225;p25"/>
          <p:cNvSpPr/>
          <p:nvPr/>
        </p:nvSpPr>
        <p:spPr>
          <a:xfrm rot="1516328">
            <a:off x="5583042" y="2493685"/>
            <a:ext cx="386491" cy="426617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650">
            <a:solidFill>
              <a:srgbClr val="0000FF"/>
            </a:solidFill>
            <a:prstDash val="solid"/>
            <a:round/>
            <a:headEnd len="sm" w="sm" type="stealth"/>
            <a:tailEnd len="sm" w="sm" type="none"/>
          </a:ln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sp>
        <p:nvSpPr>
          <p:cNvPr id="226" name="Google Shape;226;p25"/>
          <p:cNvSpPr txBox="1"/>
          <p:nvPr/>
        </p:nvSpPr>
        <p:spPr>
          <a:xfrm>
            <a:off x="1535550" y="3912325"/>
            <a:ext cx="6072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Here, the </a:t>
            </a:r>
            <a:r>
              <a:rPr lang="en" sz="1800">
                <a:solidFill>
                  <a:srgbClr val="C00000"/>
                </a:solidFill>
              </a:rPr>
              <a:t>dotted line (---) </a:t>
            </a:r>
            <a:r>
              <a:rPr lang="en" sz="1800">
                <a:solidFill>
                  <a:schemeClr val="dk2"/>
                </a:solidFill>
              </a:rPr>
              <a:t>is the initial line.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What will the direction of A and B figure?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7" name="Google Shape;227;p25"/>
          <p:cNvSpPr txBox="1"/>
          <p:nvPr/>
        </p:nvSpPr>
        <p:spPr>
          <a:xfrm>
            <a:off x="2228375" y="3280450"/>
            <a:ext cx="31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8" name="Google Shape;228;p25"/>
          <p:cNvSpPr txBox="1"/>
          <p:nvPr/>
        </p:nvSpPr>
        <p:spPr>
          <a:xfrm>
            <a:off x="5880375" y="3260750"/>
            <a:ext cx="31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9" name="Google Shape;229;p25"/>
          <p:cNvSpPr txBox="1"/>
          <p:nvPr/>
        </p:nvSpPr>
        <p:spPr>
          <a:xfrm>
            <a:off x="1749325" y="2482725"/>
            <a:ext cx="59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</a:rPr>
              <a:t>CCW</a:t>
            </a:r>
            <a:endParaRPr sz="1200">
              <a:solidFill>
                <a:srgbClr val="0000FF"/>
              </a:solidFill>
            </a:endParaRPr>
          </a:p>
        </p:txBody>
      </p:sp>
      <p:sp>
        <p:nvSpPr>
          <p:cNvPr id="230" name="Google Shape;230;p25"/>
          <p:cNvSpPr txBox="1"/>
          <p:nvPr/>
        </p:nvSpPr>
        <p:spPr>
          <a:xfrm>
            <a:off x="5378775" y="2482725"/>
            <a:ext cx="638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</a:rPr>
              <a:t>C</a:t>
            </a:r>
            <a:r>
              <a:rPr lang="en" sz="1200">
                <a:solidFill>
                  <a:srgbClr val="0000FF"/>
                </a:solidFill>
              </a:rPr>
              <a:t>CW</a:t>
            </a:r>
            <a:endParaRPr sz="1200">
              <a:solidFill>
                <a:srgbClr val="0000FF"/>
              </a:solidFill>
            </a:endParaRPr>
          </a:p>
        </p:txBody>
      </p:sp>
      <p:sp>
        <p:nvSpPr>
          <p:cNvPr id="231" name="Google Shape;231;p25"/>
          <p:cNvSpPr txBox="1"/>
          <p:nvPr/>
        </p:nvSpPr>
        <p:spPr>
          <a:xfrm>
            <a:off x="2469425" y="2482725"/>
            <a:ext cx="68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FF"/>
                </a:solidFill>
              </a:rPr>
              <a:t>   </a:t>
            </a:r>
            <a:r>
              <a:rPr lang="en" sz="1200">
                <a:solidFill>
                  <a:srgbClr val="FF00FF"/>
                </a:solidFill>
              </a:rPr>
              <a:t>CW</a:t>
            </a:r>
            <a:endParaRPr sz="1200">
              <a:solidFill>
                <a:srgbClr val="FF00FF"/>
              </a:solidFill>
            </a:endParaRPr>
          </a:p>
        </p:txBody>
      </p:sp>
      <p:sp>
        <p:nvSpPr>
          <p:cNvPr id="232" name="Google Shape;232;p25"/>
          <p:cNvSpPr txBox="1"/>
          <p:nvPr/>
        </p:nvSpPr>
        <p:spPr>
          <a:xfrm>
            <a:off x="6165250" y="2482725"/>
            <a:ext cx="68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FF"/>
                </a:solidFill>
              </a:rPr>
              <a:t>   </a:t>
            </a:r>
            <a:r>
              <a:rPr lang="en" sz="1200">
                <a:solidFill>
                  <a:srgbClr val="FF00FF"/>
                </a:solidFill>
              </a:rPr>
              <a:t>CW</a:t>
            </a:r>
            <a:endParaRPr sz="12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[Result] </a:t>
            </a:r>
            <a:r>
              <a:rPr lang="en"/>
              <a:t>Angle Sign Convention</a:t>
            </a:r>
            <a:endParaRPr/>
          </a:p>
        </p:txBody>
      </p:sp>
      <p:grpSp>
        <p:nvGrpSpPr>
          <p:cNvPr id="238" name="Google Shape;238;p26"/>
          <p:cNvGrpSpPr/>
          <p:nvPr/>
        </p:nvGrpSpPr>
        <p:grpSpPr>
          <a:xfrm>
            <a:off x="311708" y="1223929"/>
            <a:ext cx="3449746" cy="2156141"/>
            <a:chOff x="1962575" y="2223650"/>
            <a:chExt cx="2597700" cy="1623600"/>
          </a:xfrm>
        </p:grpSpPr>
        <p:sp>
          <p:nvSpPr>
            <p:cNvPr id="239" name="Google Shape;239;p26"/>
            <p:cNvSpPr/>
            <p:nvPr/>
          </p:nvSpPr>
          <p:spPr>
            <a:xfrm rot="-1183704">
              <a:off x="3268002" y="2624944"/>
              <a:ext cx="1147345" cy="90912"/>
            </a:xfrm>
            <a:prstGeom prst="rect">
              <a:avLst/>
            </a:prstGeom>
            <a:solidFill>
              <a:schemeClr val="lt2"/>
            </a:solidFill>
            <a:ln cap="flat" cmpd="sng" w="126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425" lIns="121425" spcFirstLastPara="1" rIns="121425" wrap="square" tIns="121425">
              <a:noAutofit/>
            </a:bodyPr>
            <a:lstStyle/>
            <a:p>
              <a:pPr indent="0" lvl="0" marL="1604664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59"/>
            </a:p>
          </p:txBody>
        </p:sp>
        <p:cxnSp>
          <p:nvCxnSpPr>
            <p:cNvPr id="240" name="Google Shape;240;p26"/>
            <p:cNvCxnSpPr/>
            <p:nvPr/>
          </p:nvCxnSpPr>
          <p:spPr>
            <a:xfrm>
              <a:off x="2319775" y="2223650"/>
              <a:ext cx="0" cy="1623600"/>
            </a:xfrm>
            <a:prstGeom prst="straightConnector1">
              <a:avLst/>
            </a:prstGeom>
            <a:noFill/>
            <a:ln cap="flat" cmpd="sng" w="12650">
              <a:solidFill>
                <a:schemeClr val="dk1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cxnSp>
          <p:nvCxnSpPr>
            <p:cNvPr id="241" name="Google Shape;241;p26"/>
            <p:cNvCxnSpPr/>
            <p:nvPr/>
          </p:nvCxnSpPr>
          <p:spPr>
            <a:xfrm>
              <a:off x="1962575" y="3606950"/>
              <a:ext cx="2597700" cy="0"/>
            </a:xfrm>
            <a:prstGeom prst="straightConnector1">
              <a:avLst/>
            </a:prstGeom>
            <a:noFill/>
            <a:ln cap="flat" cmpd="sng" w="12650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42" name="Google Shape;242;p26"/>
            <p:cNvSpPr/>
            <p:nvPr/>
          </p:nvSpPr>
          <p:spPr>
            <a:xfrm rot="-2194086">
              <a:off x="2231448" y="3175547"/>
              <a:ext cx="1173256" cy="90900"/>
            </a:xfrm>
            <a:prstGeom prst="rect">
              <a:avLst/>
            </a:prstGeom>
            <a:solidFill>
              <a:schemeClr val="lt2"/>
            </a:solidFill>
            <a:ln cap="flat" cmpd="sng" w="126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425" lIns="121425" spcFirstLastPara="1" rIns="121425" wrap="square" tIns="12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59"/>
            </a:p>
          </p:txBody>
        </p:sp>
        <p:sp>
          <p:nvSpPr>
            <p:cNvPr id="243" name="Google Shape;243;p26"/>
            <p:cNvSpPr/>
            <p:nvPr/>
          </p:nvSpPr>
          <p:spPr>
            <a:xfrm>
              <a:off x="3204450" y="2759900"/>
              <a:ext cx="207900" cy="207900"/>
            </a:xfrm>
            <a:prstGeom prst="ellipse">
              <a:avLst/>
            </a:prstGeom>
            <a:solidFill>
              <a:srgbClr val="999999"/>
            </a:solidFill>
            <a:ln cap="flat" cmpd="sng" w="126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5899" rotWithShape="0" algn="bl" dir="5400000" dist="25300">
                <a:srgbClr val="000000">
                  <a:alpha val="50000"/>
                </a:srgbClr>
              </a:outerShdw>
            </a:effectLst>
          </p:spPr>
          <p:txBody>
            <a:bodyPr anchorCtr="0" anchor="ctr" bIns="121425" lIns="121425" spcFirstLastPara="1" rIns="121425" wrap="square" tIns="12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59"/>
            </a:p>
          </p:txBody>
        </p:sp>
        <p:sp>
          <p:nvSpPr>
            <p:cNvPr id="244" name="Google Shape;244;p26"/>
            <p:cNvSpPr/>
            <p:nvPr/>
          </p:nvSpPr>
          <p:spPr>
            <a:xfrm>
              <a:off x="2215825" y="3503000"/>
              <a:ext cx="207900" cy="207900"/>
            </a:xfrm>
            <a:prstGeom prst="ellipse">
              <a:avLst/>
            </a:prstGeom>
            <a:solidFill>
              <a:srgbClr val="999999"/>
            </a:solidFill>
            <a:ln cap="flat" cmpd="sng" w="126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5899" rotWithShape="0" algn="bl" dir="5400000" dist="25300">
                <a:srgbClr val="000000">
                  <a:alpha val="50000"/>
                </a:srgbClr>
              </a:outerShdw>
            </a:effectLst>
          </p:spPr>
          <p:txBody>
            <a:bodyPr anchorCtr="0" anchor="ctr" bIns="121425" lIns="121425" spcFirstLastPara="1" rIns="121425" wrap="square" tIns="12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59"/>
            </a:p>
          </p:txBody>
        </p:sp>
      </p:grpSp>
      <p:grpSp>
        <p:nvGrpSpPr>
          <p:cNvPr id="245" name="Google Shape;245;p26"/>
          <p:cNvGrpSpPr/>
          <p:nvPr/>
        </p:nvGrpSpPr>
        <p:grpSpPr>
          <a:xfrm>
            <a:off x="4051408" y="748527"/>
            <a:ext cx="3449746" cy="2631543"/>
            <a:chOff x="1962575" y="1865667"/>
            <a:chExt cx="2597700" cy="1981583"/>
          </a:xfrm>
        </p:grpSpPr>
        <p:sp>
          <p:nvSpPr>
            <p:cNvPr id="246" name="Google Shape;246;p26"/>
            <p:cNvSpPr/>
            <p:nvPr/>
          </p:nvSpPr>
          <p:spPr>
            <a:xfrm rot="-3590890">
              <a:off x="2993074" y="2338877"/>
              <a:ext cx="1147338" cy="90980"/>
            </a:xfrm>
            <a:prstGeom prst="rect">
              <a:avLst/>
            </a:prstGeom>
            <a:solidFill>
              <a:schemeClr val="lt2"/>
            </a:solidFill>
            <a:ln cap="flat" cmpd="sng" w="126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425" lIns="121425" spcFirstLastPara="1" rIns="121425" wrap="square" tIns="121425">
              <a:noAutofit/>
            </a:bodyPr>
            <a:lstStyle/>
            <a:p>
              <a:pPr indent="0" lvl="0" marL="1604664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59"/>
            </a:p>
          </p:txBody>
        </p:sp>
        <p:cxnSp>
          <p:nvCxnSpPr>
            <p:cNvPr id="247" name="Google Shape;247;p26"/>
            <p:cNvCxnSpPr/>
            <p:nvPr/>
          </p:nvCxnSpPr>
          <p:spPr>
            <a:xfrm>
              <a:off x="2319775" y="2223650"/>
              <a:ext cx="0" cy="1623600"/>
            </a:xfrm>
            <a:prstGeom prst="straightConnector1">
              <a:avLst/>
            </a:prstGeom>
            <a:noFill/>
            <a:ln cap="flat" cmpd="sng" w="12650">
              <a:solidFill>
                <a:schemeClr val="dk1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cxnSp>
          <p:nvCxnSpPr>
            <p:cNvPr id="248" name="Google Shape;248;p26"/>
            <p:cNvCxnSpPr/>
            <p:nvPr/>
          </p:nvCxnSpPr>
          <p:spPr>
            <a:xfrm>
              <a:off x="1962575" y="3606950"/>
              <a:ext cx="2597700" cy="0"/>
            </a:xfrm>
            <a:prstGeom prst="straightConnector1">
              <a:avLst/>
            </a:prstGeom>
            <a:noFill/>
            <a:ln cap="flat" cmpd="sng" w="12650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49" name="Google Shape;249;p26"/>
            <p:cNvSpPr/>
            <p:nvPr/>
          </p:nvSpPr>
          <p:spPr>
            <a:xfrm rot="-2194086">
              <a:off x="2231448" y="3175547"/>
              <a:ext cx="1173256" cy="90900"/>
            </a:xfrm>
            <a:prstGeom prst="rect">
              <a:avLst/>
            </a:prstGeom>
            <a:solidFill>
              <a:schemeClr val="lt2"/>
            </a:solidFill>
            <a:ln cap="flat" cmpd="sng" w="126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425" lIns="121425" spcFirstLastPara="1" rIns="121425" wrap="square" tIns="12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59"/>
            </a:p>
          </p:txBody>
        </p:sp>
        <p:sp>
          <p:nvSpPr>
            <p:cNvPr id="250" name="Google Shape;250;p26"/>
            <p:cNvSpPr/>
            <p:nvPr/>
          </p:nvSpPr>
          <p:spPr>
            <a:xfrm>
              <a:off x="3204450" y="2759900"/>
              <a:ext cx="207900" cy="207900"/>
            </a:xfrm>
            <a:prstGeom prst="ellipse">
              <a:avLst/>
            </a:prstGeom>
            <a:solidFill>
              <a:srgbClr val="999999"/>
            </a:solidFill>
            <a:ln cap="flat" cmpd="sng" w="126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5899" rotWithShape="0" algn="bl" dir="5400000" dist="25300">
                <a:srgbClr val="000000">
                  <a:alpha val="50000"/>
                </a:srgbClr>
              </a:outerShdw>
            </a:effectLst>
          </p:spPr>
          <p:txBody>
            <a:bodyPr anchorCtr="0" anchor="ctr" bIns="121425" lIns="121425" spcFirstLastPara="1" rIns="121425" wrap="square" tIns="12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59"/>
            </a:p>
          </p:txBody>
        </p:sp>
        <p:sp>
          <p:nvSpPr>
            <p:cNvPr id="251" name="Google Shape;251;p26"/>
            <p:cNvSpPr/>
            <p:nvPr/>
          </p:nvSpPr>
          <p:spPr>
            <a:xfrm>
              <a:off x="2215825" y="3503000"/>
              <a:ext cx="207900" cy="207900"/>
            </a:xfrm>
            <a:prstGeom prst="ellipse">
              <a:avLst/>
            </a:prstGeom>
            <a:solidFill>
              <a:srgbClr val="999999"/>
            </a:solidFill>
            <a:ln cap="flat" cmpd="sng" w="126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5899" rotWithShape="0" algn="bl" dir="5400000" dist="25300">
                <a:srgbClr val="000000">
                  <a:alpha val="50000"/>
                </a:srgbClr>
              </a:outerShdw>
            </a:effectLst>
          </p:spPr>
          <p:txBody>
            <a:bodyPr anchorCtr="0" anchor="ctr" bIns="121425" lIns="121425" spcFirstLastPara="1" rIns="121425" wrap="square" tIns="12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59"/>
            </a:p>
          </p:txBody>
        </p:sp>
      </p:grpSp>
      <p:cxnSp>
        <p:nvCxnSpPr>
          <p:cNvPr id="252" name="Google Shape;252;p26"/>
          <p:cNvCxnSpPr/>
          <p:nvPr/>
        </p:nvCxnSpPr>
        <p:spPr>
          <a:xfrm flipH="1" rot="10800000">
            <a:off x="775108" y="1125064"/>
            <a:ext cx="2571000" cy="19458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53" name="Google Shape;253;p26"/>
          <p:cNvCxnSpPr/>
          <p:nvPr/>
        </p:nvCxnSpPr>
        <p:spPr>
          <a:xfrm flipH="1" rot="10800000">
            <a:off x="4490783" y="1125064"/>
            <a:ext cx="2571000" cy="19458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54" name="Google Shape;254;p26"/>
          <p:cNvSpPr/>
          <p:nvPr/>
        </p:nvSpPr>
        <p:spPr>
          <a:xfrm rot="1516328">
            <a:off x="2856492" y="1286010"/>
            <a:ext cx="386491" cy="426617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650">
            <a:solidFill>
              <a:srgbClr val="FF00FF"/>
            </a:solidFill>
            <a:prstDash val="solid"/>
            <a:round/>
            <a:headEnd len="sm" w="sm" type="none"/>
            <a:tailEnd len="sm" w="sm" type="stealth"/>
          </a:ln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sp>
        <p:nvSpPr>
          <p:cNvPr id="255" name="Google Shape;255;p26"/>
          <p:cNvSpPr/>
          <p:nvPr/>
        </p:nvSpPr>
        <p:spPr>
          <a:xfrm rot="1516328">
            <a:off x="6028717" y="1346635"/>
            <a:ext cx="386491" cy="426617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650">
            <a:solidFill>
              <a:srgbClr val="0000FF"/>
            </a:solidFill>
            <a:prstDash val="solid"/>
            <a:round/>
            <a:headEnd len="sm" w="sm" type="stealth"/>
            <a:tailEnd len="sm" w="sm" type="none"/>
          </a:ln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sp>
        <p:nvSpPr>
          <p:cNvPr id="256" name="Google Shape;256;p26"/>
          <p:cNvSpPr txBox="1"/>
          <p:nvPr/>
        </p:nvSpPr>
        <p:spPr>
          <a:xfrm>
            <a:off x="2278500" y="3912325"/>
            <a:ext cx="4587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Fig. A has </a:t>
            </a:r>
            <a:r>
              <a:rPr b="1" lang="en" sz="1800">
                <a:solidFill>
                  <a:schemeClr val="dk1"/>
                </a:solidFill>
              </a:rPr>
              <a:t>negative</a:t>
            </a:r>
            <a:r>
              <a:rPr lang="en" sz="1800">
                <a:solidFill>
                  <a:schemeClr val="dk2"/>
                </a:solidFill>
              </a:rPr>
              <a:t> angle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Fig. B has </a:t>
            </a:r>
            <a:r>
              <a:rPr b="1" lang="en" sz="1800">
                <a:solidFill>
                  <a:schemeClr val="dk1"/>
                </a:solidFill>
              </a:rPr>
              <a:t>positive</a:t>
            </a:r>
            <a:r>
              <a:rPr lang="en" sz="1800">
                <a:solidFill>
                  <a:schemeClr val="dk2"/>
                </a:solidFill>
              </a:rPr>
              <a:t> angle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7" name="Google Shape;257;p26"/>
          <p:cNvSpPr txBox="1"/>
          <p:nvPr/>
        </p:nvSpPr>
        <p:spPr>
          <a:xfrm>
            <a:off x="2228375" y="3280450"/>
            <a:ext cx="31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8" name="Google Shape;258;p26"/>
          <p:cNvSpPr txBox="1"/>
          <p:nvPr/>
        </p:nvSpPr>
        <p:spPr>
          <a:xfrm>
            <a:off x="5880375" y="3260750"/>
            <a:ext cx="31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9" name="Google Shape;259;p26"/>
          <p:cNvSpPr txBox="1"/>
          <p:nvPr/>
        </p:nvSpPr>
        <p:spPr>
          <a:xfrm>
            <a:off x="6384425" y="1125075"/>
            <a:ext cx="578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</a:rPr>
              <a:t>C</a:t>
            </a:r>
            <a:r>
              <a:rPr lang="en" sz="1200">
                <a:solidFill>
                  <a:srgbClr val="0000FF"/>
                </a:solidFill>
              </a:rPr>
              <a:t>CW</a:t>
            </a:r>
            <a:endParaRPr sz="1200">
              <a:solidFill>
                <a:srgbClr val="0000FF"/>
              </a:solidFill>
            </a:endParaRPr>
          </a:p>
        </p:txBody>
      </p:sp>
      <p:sp>
        <p:nvSpPr>
          <p:cNvPr id="260" name="Google Shape;260;p26"/>
          <p:cNvSpPr txBox="1"/>
          <p:nvPr/>
        </p:nvSpPr>
        <p:spPr>
          <a:xfrm>
            <a:off x="3222300" y="1189550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FF"/>
                </a:solidFill>
              </a:rPr>
              <a:t>CW</a:t>
            </a:r>
            <a:endParaRPr sz="12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Forward </a:t>
            </a:r>
            <a:r>
              <a:rPr lang="en" sz="4000"/>
              <a:t>Kinematics</a:t>
            </a:r>
            <a:endParaRPr sz="4000"/>
          </a:p>
        </p:txBody>
      </p:sp>
      <p:sp>
        <p:nvSpPr>
          <p:cNvPr id="266" name="Google Shape;266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Trigonometry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0000"/>
              </a:lnSpc>
              <a:spcBef>
                <a:spcPts val="4200"/>
              </a:spcBef>
              <a:spcAft>
                <a:spcPts val="0"/>
              </a:spcAft>
              <a:buNone/>
            </a:pPr>
            <a:r>
              <a:rPr lang="en" sz="265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Forward Kinematics using Trigonometry</a:t>
            </a:r>
            <a:endParaRPr sz="265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8"/>
          <p:cNvSpPr txBox="1"/>
          <p:nvPr/>
        </p:nvSpPr>
        <p:spPr>
          <a:xfrm>
            <a:off x="5960760" y="3829275"/>
            <a:ext cx="198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3R </a:t>
            </a:r>
            <a:r>
              <a:rPr lang="en" sz="1800">
                <a:solidFill>
                  <a:schemeClr val="dk2"/>
                </a:solidFill>
              </a:rPr>
              <a:t>Planar</a:t>
            </a:r>
            <a:r>
              <a:rPr lang="en" sz="1800">
                <a:solidFill>
                  <a:schemeClr val="dk2"/>
                </a:solidFill>
              </a:rPr>
              <a:t> Robot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73" name="Google Shape;273;p28"/>
          <p:cNvSpPr txBox="1"/>
          <p:nvPr/>
        </p:nvSpPr>
        <p:spPr>
          <a:xfrm>
            <a:off x="311700" y="1244139"/>
            <a:ext cx="4614600" cy="36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a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3R Robot Manipulator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consisting,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lengths  -  L</a:t>
            </a:r>
            <a:r>
              <a:rPr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L</a:t>
            </a:r>
            <a:r>
              <a:rPr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L</a:t>
            </a:r>
            <a:r>
              <a:rPr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Revolute Joints - θ</a:t>
            </a:r>
            <a:r>
              <a:rPr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θ</a:t>
            </a:r>
            <a:r>
              <a:rPr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θ</a:t>
            </a:r>
            <a:r>
              <a:rPr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motion of the manipulator is restricted to the two-dimensional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XY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-plane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joint angle is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defined relative to the immediately preceding link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rather than with respect to the global reference frame. 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Specifically: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r>
              <a:rPr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 is measured with respect to the global X-axis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r>
              <a:rPr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 is measured relative to Link 1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r>
              <a:rPr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 is measured relative to Link 2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to find the location of the end-effector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P(x,y)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4" name="Google Shape;274;p28"/>
          <p:cNvGrpSpPr/>
          <p:nvPr/>
        </p:nvGrpSpPr>
        <p:grpSpPr>
          <a:xfrm>
            <a:off x="4926458" y="1139050"/>
            <a:ext cx="4379192" cy="2919645"/>
            <a:chOff x="4926458" y="1139050"/>
            <a:chExt cx="4379192" cy="2919645"/>
          </a:xfrm>
        </p:grpSpPr>
        <p:grpSp>
          <p:nvGrpSpPr>
            <p:cNvPr id="275" name="Google Shape;275;p28"/>
            <p:cNvGrpSpPr/>
            <p:nvPr/>
          </p:nvGrpSpPr>
          <p:grpSpPr>
            <a:xfrm>
              <a:off x="4926458" y="1424574"/>
              <a:ext cx="4052525" cy="2634121"/>
              <a:chOff x="4072400" y="1301525"/>
              <a:chExt cx="3051600" cy="1983525"/>
            </a:xfrm>
          </p:grpSpPr>
          <p:sp>
            <p:nvSpPr>
              <p:cNvPr id="276" name="Google Shape;276;p28"/>
              <p:cNvSpPr/>
              <p:nvPr/>
            </p:nvSpPr>
            <p:spPr>
              <a:xfrm rot="7625992">
                <a:off x="5121748" y="1873864"/>
                <a:ext cx="523204" cy="610384"/>
              </a:xfrm>
              <a:prstGeom prst="arc">
                <a:avLst>
                  <a:gd fmla="val 13632365" name="adj1"/>
                  <a:gd fmla="val 0" name="adj2"/>
                </a:avLst>
              </a:prstGeom>
              <a:noFill/>
              <a:ln cap="flat" cmpd="sng" w="12650">
                <a:solidFill>
                  <a:srgbClr val="FF0000"/>
                </a:solidFill>
                <a:prstDash val="solid"/>
                <a:round/>
                <a:headEnd len="sm" w="sm" type="stealth"/>
                <a:tailEnd len="sm" w="sm" type="none"/>
              </a:ln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sp>
            <p:nvSpPr>
              <p:cNvPr id="277" name="Google Shape;277;p28"/>
              <p:cNvSpPr/>
              <p:nvPr/>
            </p:nvSpPr>
            <p:spPr>
              <a:xfrm rot="1516218">
                <a:off x="4548045" y="2721182"/>
                <a:ext cx="290942" cy="321136"/>
              </a:xfrm>
              <a:prstGeom prst="arc">
                <a:avLst>
                  <a:gd fmla="val 16200000" name="adj1"/>
                  <a:gd fmla="val 0" name="adj2"/>
                </a:avLst>
              </a:prstGeom>
              <a:noFill/>
              <a:ln cap="flat" cmpd="sng" w="12650">
                <a:solidFill>
                  <a:srgbClr val="FF0000"/>
                </a:solidFill>
                <a:prstDash val="solid"/>
                <a:round/>
                <a:headEnd len="sm" w="sm" type="stealth"/>
                <a:tailEnd len="sm" w="sm" type="none"/>
              </a:ln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grpSp>
            <p:nvGrpSpPr>
              <p:cNvPr id="278" name="Google Shape;278;p28"/>
              <p:cNvGrpSpPr/>
              <p:nvPr/>
            </p:nvGrpSpPr>
            <p:grpSpPr>
              <a:xfrm>
                <a:off x="4072400" y="1375220"/>
                <a:ext cx="2965128" cy="1909830"/>
                <a:chOff x="1962575" y="2035820"/>
                <a:chExt cx="2965128" cy="1909830"/>
              </a:xfrm>
            </p:grpSpPr>
            <p:sp>
              <p:nvSpPr>
                <p:cNvPr id="279" name="Google Shape;279;p28"/>
                <p:cNvSpPr/>
                <p:nvPr/>
              </p:nvSpPr>
              <p:spPr>
                <a:xfrm rot="-2192774">
                  <a:off x="4316357" y="2219720"/>
                  <a:ext cx="647890" cy="90900"/>
                </a:xfrm>
                <a:prstGeom prst="rect">
                  <a:avLst/>
                </a:prstGeom>
                <a:solidFill>
                  <a:schemeClr val="lt2"/>
                </a:solidFill>
                <a:ln cap="flat" cmpd="sng" w="126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121425" lIns="121425" spcFirstLastPara="1" rIns="121425" wrap="square" tIns="121425">
                  <a:noAutofit/>
                </a:bodyPr>
                <a:lstStyle/>
                <a:p>
                  <a:pPr indent="0" lvl="0" marL="1604664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59"/>
                </a:p>
              </p:txBody>
            </p:sp>
            <p:sp>
              <p:nvSpPr>
                <p:cNvPr id="280" name="Google Shape;280;p28"/>
                <p:cNvSpPr/>
                <p:nvPr/>
              </p:nvSpPr>
              <p:spPr>
                <a:xfrm rot="-1183704">
                  <a:off x="3268002" y="2624944"/>
                  <a:ext cx="1147345" cy="90912"/>
                </a:xfrm>
                <a:prstGeom prst="rect">
                  <a:avLst/>
                </a:prstGeom>
                <a:solidFill>
                  <a:schemeClr val="lt2"/>
                </a:solidFill>
                <a:ln cap="flat" cmpd="sng" w="126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121425" lIns="121425" spcFirstLastPara="1" rIns="121425" wrap="square" tIns="121425">
                  <a:noAutofit/>
                </a:bodyPr>
                <a:lstStyle/>
                <a:p>
                  <a:pPr indent="0" lvl="0" marL="1604664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59"/>
                </a:p>
              </p:txBody>
            </p:sp>
            <p:cxnSp>
              <p:nvCxnSpPr>
                <p:cNvPr id="281" name="Google Shape;281;p28"/>
                <p:cNvCxnSpPr/>
                <p:nvPr/>
              </p:nvCxnSpPr>
              <p:spPr>
                <a:xfrm>
                  <a:off x="2319775" y="2223650"/>
                  <a:ext cx="0" cy="1623600"/>
                </a:xfrm>
                <a:prstGeom prst="straightConnector1">
                  <a:avLst/>
                </a:prstGeom>
                <a:noFill/>
                <a:ln cap="flat" cmpd="sng" w="12650">
                  <a:solidFill>
                    <a:schemeClr val="dk1"/>
                  </a:solidFill>
                  <a:prstDash val="solid"/>
                  <a:round/>
                  <a:headEnd len="med" w="med" type="stealth"/>
                  <a:tailEnd len="med" w="med" type="none"/>
                </a:ln>
              </p:spPr>
            </p:cxnSp>
            <p:cxnSp>
              <p:nvCxnSpPr>
                <p:cNvPr id="282" name="Google Shape;282;p28"/>
                <p:cNvCxnSpPr/>
                <p:nvPr/>
              </p:nvCxnSpPr>
              <p:spPr>
                <a:xfrm>
                  <a:off x="1962575" y="3606950"/>
                  <a:ext cx="2597700" cy="0"/>
                </a:xfrm>
                <a:prstGeom prst="straightConnector1">
                  <a:avLst/>
                </a:prstGeom>
                <a:noFill/>
                <a:ln cap="flat" cmpd="sng" w="126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stealth"/>
                </a:ln>
              </p:spPr>
            </p:cxnSp>
            <p:sp>
              <p:nvSpPr>
                <p:cNvPr id="283" name="Google Shape;283;p28"/>
                <p:cNvSpPr/>
                <p:nvPr/>
              </p:nvSpPr>
              <p:spPr>
                <a:xfrm rot="-2194086">
                  <a:off x="2231448" y="3175547"/>
                  <a:ext cx="1173256" cy="90900"/>
                </a:xfrm>
                <a:prstGeom prst="rect">
                  <a:avLst/>
                </a:prstGeom>
                <a:solidFill>
                  <a:schemeClr val="lt2"/>
                </a:solidFill>
                <a:ln cap="flat" cmpd="sng" w="126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121425" lIns="121425" spcFirstLastPara="1" rIns="121425" wrap="square" tIns="12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59"/>
                </a:p>
              </p:txBody>
            </p:sp>
            <p:sp>
              <p:nvSpPr>
                <p:cNvPr id="284" name="Google Shape;284;p28"/>
                <p:cNvSpPr/>
                <p:nvPr/>
              </p:nvSpPr>
              <p:spPr>
                <a:xfrm>
                  <a:off x="3204450" y="2759900"/>
                  <a:ext cx="207900" cy="207900"/>
                </a:xfrm>
                <a:prstGeom prst="ellipse">
                  <a:avLst/>
                </a:prstGeom>
                <a:solidFill>
                  <a:srgbClr val="999999"/>
                </a:solidFill>
                <a:ln cap="flat" cmpd="sng" w="126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75899" rotWithShape="0" algn="bl" dir="5400000" dist="25300">
                    <a:srgbClr val="000000">
                      <a:alpha val="50000"/>
                    </a:srgbClr>
                  </a:outerShdw>
                </a:effectLst>
              </p:spPr>
              <p:txBody>
                <a:bodyPr anchorCtr="0" anchor="ctr" bIns="121425" lIns="121425" spcFirstLastPara="1" rIns="121425" wrap="square" tIns="12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59"/>
                </a:p>
              </p:txBody>
            </p:sp>
            <p:sp>
              <p:nvSpPr>
                <p:cNvPr id="285" name="Google Shape;285;p28"/>
                <p:cNvSpPr/>
                <p:nvPr/>
              </p:nvSpPr>
              <p:spPr>
                <a:xfrm>
                  <a:off x="2215825" y="3503000"/>
                  <a:ext cx="207900" cy="207900"/>
                </a:xfrm>
                <a:prstGeom prst="ellipse">
                  <a:avLst/>
                </a:prstGeom>
                <a:solidFill>
                  <a:srgbClr val="999999"/>
                </a:solidFill>
                <a:ln cap="flat" cmpd="sng" w="126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75899" rotWithShape="0" algn="bl" dir="5400000" dist="25300">
                    <a:srgbClr val="000000">
                      <a:alpha val="50000"/>
                    </a:srgbClr>
                  </a:outerShdw>
                </a:effectLst>
              </p:spPr>
              <p:txBody>
                <a:bodyPr anchorCtr="0" anchor="ctr" bIns="121425" lIns="121425" spcFirstLastPara="1" rIns="121425" wrap="square" tIns="12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59"/>
                </a:p>
              </p:txBody>
            </p:sp>
            <p:sp>
              <p:nvSpPr>
                <p:cNvPr id="286" name="Google Shape;286;p28"/>
                <p:cNvSpPr/>
                <p:nvPr/>
              </p:nvSpPr>
              <p:spPr>
                <a:xfrm>
                  <a:off x="4271650" y="2363850"/>
                  <a:ext cx="207900" cy="207900"/>
                </a:xfrm>
                <a:prstGeom prst="ellipse">
                  <a:avLst/>
                </a:prstGeom>
                <a:solidFill>
                  <a:srgbClr val="999999"/>
                </a:solidFill>
                <a:ln cap="flat" cmpd="sng" w="126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75899" rotWithShape="0" algn="bl" dir="5400000" dist="25300">
                    <a:srgbClr val="000000">
                      <a:alpha val="50000"/>
                    </a:srgbClr>
                  </a:outerShdw>
                </a:effectLst>
              </p:spPr>
              <p:txBody>
                <a:bodyPr anchorCtr="0" anchor="ctr" bIns="121425" lIns="121425" spcFirstLastPara="1" rIns="121425" wrap="square" tIns="12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59"/>
                </a:p>
              </p:txBody>
            </p:sp>
            <p:sp>
              <p:nvSpPr>
                <p:cNvPr id="287" name="Google Shape;287;p28"/>
                <p:cNvSpPr txBox="1"/>
                <p:nvPr/>
              </p:nvSpPr>
              <p:spPr>
                <a:xfrm>
                  <a:off x="4352900" y="3606950"/>
                  <a:ext cx="3132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21425" lIns="121425" spcFirstLastPara="1" rIns="121425" wrap="square" tIns="121425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328">
                      <a:solidFill>
                        <a:schemeClr val="dk2"/>
                      </a:solidFill>
                    </a:rPr>
                    <a:t>X</a:t>
                  </a:r>
                  <a:endParaRPr sz="1328">
                    <a:solidFill>
                      <a:schemeClr val="dk2"/>
                    </a:solidFill>
                  </a:endParaRPr>
                </a:p>
              </p:txBody>
            </p:sp>
            <p:sp>
              <p:nvSpPr>
                <p:cNvPr id="288" name="Google Shape;288;p28"/>
                <p:cNvSpPr txBox="1"/>
                <p:nvPr/>
              </p:nvSpPr>
              <p:spPr>
                <a:xfrm>
                  <a:off x="2006575" y="2142988"/>
                  <a:ext cx="3132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21425" lIns="121425" spcFirstLastPara="1" rIns="121425" wrap="square" tIns="121425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328">
                      <a:solidFill>
                        <a:schemeClr val="dk2"/>
                      </a:solidFill>
                    </a:rPr>
                    <a:t>Y</a:t>
                  </a:r>
                  <a:endParaRPr sz="1328">
                    <a:solidFill>
                      <a:schemeClr val="dk2"/>
                    </a:solidFill>
                  </a:endParaRPr>
                </a:p>
              </p:txBody>
            </p:sp>
          </p:grpSp>
          <p:sp>
            <p:nvSpPr>
              <p:cNvPr id="289" name="Google Shape;289;p28"/>
              <p:cNvSpPr/>
              <p:nvPr/>
            </p:nvSpPr>
            <p:spPr>
              <a:xfrm rot="9089130">
                <a:off x="6227184" y="1541804"/>
                <a:ext cx="571870" cy="559109"/>
              </a:xfrm>
              <a:prstGeom prst="arc">
                <a:avLst>
                  <a:gd fmla="val 10471906" name="adj1"/>
                  <a:gd fmla="val 0" name="adj2"/>
                </a:avLst>
              </a:prstGeom>
              <a:noFill/>
              <a:ln cap="flat" cmpd="sng" w="12650">
                <a:solidFill>
                  <a:srgbClr val="FF0000"/>
                </a:solidFill>
                <a:prstDash val="solid"/>
                <a:round/>
                <a:headEnd len="sm" w="sm" type="stealth"/>
                <a:tailEnd len="sm" w="sm" type="none"/>
              </a:ln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sp>
            <p:nvSpPr>
              <p:cNvPr id="290" name="Google Shape;290;p28"/>
              <p:cNvSpPr txBox="1"/>
              <p:nvPr/>
            </p:nvSpPr>
            <p:spPr>
              <a:xfrm>
                <a:off x="4797200" y="2601600"/>
                <a:ext cx="383400" cy="38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21425" lIns="121425" spcFirstLastPara="1" rIns="121425" wrap="square" tIns="12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26">
                    <a:solidFill>
                      <a:srgbClr val="4472C4"/>
                    </a:solidFill>
                  </a:rPr>
                  <a:t>θ</a:t>
                </a:r>
                <a:r>
                  <a:rPr baseline="-25000" lang="en" sz="1726">
                    <a:solidFill>
                      <a:srgbClr val="4472C4"/>
                    </a:solidFill>
                  </a:rPr>
                  <a:t>1</a:t>
                </a:r>
                <a:endParaRPr baseline="-25000" sz="1726">
                  <a:solidFill>
                    <a:srgbClr val="4472C4"/>
                  </a:solidFill>
                </a:endParaRPr>
              </a:p>
            </p:txBody>
          </p:sp>
          <p:sp>
            <p:nvSpPr>
              <p:cNvPr id="291" name="Google Shape;291;p28"/>
              <p:cNvSpPr txBox="1"/>
              <p:nvPr/>
            </p:nvSpPr>
            <p:spPr>
              <a:xfrm>
                <a:off x="5615600" y="2137688"/>
                <a:ext cx="383400" cy="38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21425" lIns="121425" spcFirstLastPara="1" rIns="121425" wrap="square" tIns="12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26">
                    <a:solidFill>
                      <a:srgbClr val="4472C4"/>
                    </a:solidFill>
                  </a:rPr>
                  <a:t>θ</a:t>
                </a:r>
                <a:r>
                  <a:rPr baseline="-25000" lang="en" sz="1726">
                    <a:solidFill>
                      <a:srgbClr val="4472C4"/>
                    </a:solidFill>
                  </a:rPr>
                  <a:t>2</a:t>
                </a:r>
                <a:endParaRPr baseline="-25000" sz="1726">
                  <a:solidFill>
                    <a:srgbClr val="4472C4"/>
                  </a:solidFill>
                </a:endParaRPr>
              </a:p>
            </p:txBody>
          </p:sp>
          <p:sp>
            <p:nvSpPr>
              <p:cNvPr id="292" name="Google Shape;292;p28"/>
              <p:cNvSpPr txBox="1"/>
              <p:nvPr/>
            </p:nvSpPr>
            <p:spPr>
              <a:xfrm>
                <a:off x="6740600" y="1646500"/>
                <a:ext cx="383400" cy="38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21425" lIns="121425" spcFirstLastPara="1" rIns="121425" wrap="square" tIns="12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26">
                    <a:solidFill>
                      <a:srgbClr val="4472C4"/>
                    </a:solidFill>
                  </a:rPr>
                  <a:t>θ</a:t>
                </a:r>
                <a:r>
                  <a:rPr baseline="-25000" lang="en" sz="1726">
                    <a:solidFill>
                      <a:srgbClr val="4472C4"/>
                    </a:solidFill>
                  </a:rPr>
                  <a:t>3</a:t>
                </a:r>
                <a:endParaRPr baseline="-25000" sz="1726">
                  <a:solidFill>
                    <a:srgbClr val="4472C4"/>
                  </a:solidFill>
                </a:endParaRPr>
              </a:p>
            </p:txBody>
          </p:sp>
          <p:sp>
            <p:nvSpPr>
              <p:cNvPr id="293" name="Google Shape;293;p28"/>
              <p:cNvSpPr txBox="1"/>
              <p:nvPr/>
            </p:nvSpPr>
            <p:spPr>
              <a:xfrm>
                <a:off x="4572000" y="2232300"/>
                <a:ext cx="3834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21425" lIns="121425" spcFirstLastPara="1" rIns="121425" wrap="square" tIns="12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94">
                    <a:solidFill>
                      <a:srgbClr val="4472C4"/>
                    </a:solidFill>
                  </a:rPr>
                  <a:t>L</a:t>
                </a:r>
                <a:r>
                  <a:rPr baseline="-25000" lang="en" sz="1594">
                    <a:solidFill>
                      <a:srgbClr val="4472C4"/>
                    </a:solidFill>
                  </a:rPr>
                  <a:t>1</a:t>
                </a:r>
                <a:endParaRPr baseline="-25000" sz="1594">
                  <a:solidFill>
                    <a:srgbClr val="4472C4"/>
                  </a:solidFill>
                </a:endParaRPr>
              </a:p>
            </p:txBody>
          </p:sp>
          <p:sp>
            <p:nvSpPr>
              <p:cNvPr id="294" name="Google Shape;294;p28"/>
              <p:cNvSpPr txBox="1"/>
              <p:nvPr/>
            </p:nvSpPr>
            <p:spPr>
              <a:xfrm>
                <a:off x="6435125" y="1301525"/>
                <a:ext cx="3834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21425" lIns="121425" spcFirstLastPara="1" rIns="121425" wrap="square" tIns="12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94">
                    <a:solidFill>
                      <a:srgbClr val="4472C4"/>
                    </a:solidFill>
                  </a:rPr>
                  <a:t>L</a:t>
                </a:r>
                <a:r>
                  <a:rPr baseline="-25000" lang="en" sz="1594">
                    <a:solidFill>
                      <a:srgbClr val="4472C4"/>
                    </a:solidFill>
                  </a:rPr>
                  <a:t>3</a:t>
                </a:r>
                <a:endParaRPr baseline="-25000" sz="1594">
                  <a:solidFill>
                    <a:srgbClr val="4472C4"/>
                  </a:solidFill>
                </a:endParaRPr>
              </a:p>
            </p:txBody>
          </p:sp>
          <p:sp>
            <p:nvSpPr>
              <p:cNvPr id="295" name="Google Shape;295;p28"/>
              <p:cNvSpPr txBox="1"/>
              <p:nvPr/>
            </p:nvSpPr>
            <p:spPr>
              <a:xfrm>
                <a:off x="5660900" y="1670825"/>
                <a:ext cx="3834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21425" lIns="121425" spcFirstLastPara="1" rIns="121425" wrap="square" tIns="12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94">
                    <a:solidFill>
                      <a:srgbClr val="4472C4"/>
                    </a:solidFill>
                  </a:rPr>
                  <a:t>L</a:t>
                </a:r>
                <a:r>
                  <a:rPr baseline="-25000" lang="en" sz="1594">
                    <a:solidFill>
                      <a:srgbClr val="4472C4"/>
                    </a:solidFill>
                  </a:rPr>
                  <a:t>2</a:t>
                </a:r>
                <a:endParaRPr baseline="-25000" sz="1594">
                  <a:solidFill>
                    <a:srgbClr val="4472C4"/>
                  </a:solidFill>
                </a:endParaRPr>
              </a:p>
            </p:txBody>
          </p:sp>
        </p:grpSp>
        <p:sp>
          <p:nvSpPr>
            <p:cNvPr id="296" name="Google Shape;296;p28"/>
            <p:cNvSpPr txBox="1"/>
            <p:nvPr/>
          </p:nvSpPr>
          <p:spPr>
            <a:xfrm>
              <a:off x="8363050" y="1139050"/>
              <a:ext cx="942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</a:rPr>
                <a:t>P (x,y)</a:t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97" name="Google Shape;297;p28"/>
          <p:cNvSpPr txBox="1"/>
          <p:nvPr/>
        </p:nvSpPr>
        <p:spPr>
          <a:xfrm>
            <a:off x="6629475" y="4789500"/>
            <a:ext cx="2514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u="sng">
                <a:solidFill>
                  <a:schemeClr val="hlink"/>
                </a:solidFill>
                <a:hlinkClick r:id="rId3"/>
              </a:rPr>
              <a:t>https://robotics101-viscircuit.web.app/robotics/dh-model</a:t>
            </a:r>
            <a:endParaRPr sz="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0000"/>
              </a:lnSpc>
              <a:spcBef>
                <a:spcPts val="4200"/>
              </a:spcBef>
              <a:spcAft>
                <a:spcPts val="0"/>
              </a:spcAft>
              <a:buNone/>
            </a:pPr>
            <a:r>
              <a:rPr lang="en" sz="265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Single-Link Planar Robot</a:t>
            </a:r>
            <a:endParaRPr sz="265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9"/>
          <p:cNvSpPr txBox="1"/>
          <p:nvPr/>
        </p:nvSpPr>
        <p:spPr>
          <a:xfrm>
            <a:off x="311700" y="1370575"/>
            <a:ext cx="4361700" cy="27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a single rigid link of length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 connected to the base by a revolute joint with given angle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​, measured from the global X-axis.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trigonometric formulas, the coordinates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the link endpoint are given by: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L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cos⁡θ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​y = L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sin⁡θ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4" name="Google Shape;304;p29"/>
          <p:cNvGrpSpPr/>
          <p:nvPr/>
        </p:nvGrpSpPr>
        <p:grpSpPr>
          <a:xfrm>
            <a:off x="4926458" y="1664759"/>
            <a:ext cx="3590281" cy="2557374"/>
            <a:chOff x="4926458" y="1664759"/>
            <a:chExt cx="3590281" cy="2557374"/>
          </a:xfrm>
        </p:grpSpPr>
        <p:sp>
          <p:nvSpPr>
            <p:cNvPr id="305" name="Google Shape;305;p29"/>
            <p:cNvSpPr/>
            <p:nvPr/>
          </p:nvSpPr>
          <p:spPr>
            <a:xfrm rot="1516328">
              <a:off x="5558092" y="3309910"/>
              <a:ext cx="386491" cy="426617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12650">
              <a:solidFill>
                <a:srgbClr val="FF0000"/>
              </a:solidFill>
              <a:prstDash val="solid"/>
              <a:round/>
              <a:headEnd len="sm" w="sm" type="stealth"/>
              <a:tailEnd len="sm" w="sm" type="none"/>
            </a:ln>
          </p:spPr>
          <p:txBody>
            <a:bodyPr anchorCtr="0" anchor="ctr" bIns="121425" lIns="121425" spcFirstLastPara="1" rIns="121425" wrap="square" tIns="12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59"/>
            </a:p>
          </p:txBody>
        </p:sp>
        <p:sp>
          <p:nvSpPr>
            <p:cNvPr id="306" name="Google Shape;306;p29"/>
            <p:cNvSpPr txBox="1"/>
            <p:nvPr/>
          </p:nvSpPr>
          <p:spPr>
            <a:xfrm>
              <a:off x="5888993" y="3151074"/>
              <a:ext cx="509100" cy="51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26">
                  <a:solidFill>
                    <a:srgbClr val="4472C4"/>
                  </a:solidFill>
                </a:rPr>
                <a:t>θ</a:t>
              </a:r>
              <a:r>
                <a:rPr baseline="-25000" lang="en" sz="1726">
                  <a:solidFill>
                    <a:srgbClr val="4472C4"/>
                  </a:solidFill>
                </a:rPr>
                <a:t>1</a:t>
              </a:r>
              <a:endParaRPr baseline="-25000" sz="1726">
                <a:solidFill>
                  <a:srgbClr val="4472C4"/>
                </a:solidFill>
              </a:endParaRPr>
            </a:p>
          </p:txBody>
        </p:sp>
        <p:sp>
          <p:nvSpPr>
            <p:cNvPr id="307" name="Google Shape;307;p29"/>
            <p:cNvSpPr txBox="1"/>
            <p:nvPr/>
          </p:nvSpPr>
          <p:spPr>
            <a:xfrm>
              <a:off x="5589927" y="2660643"/>
              <a:ext cx="509100" cy="4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94">
                  <a:solidFill>
                    <a:srgbClr val="4472C4"/>
                  </a:solidFill>
                </a:rPr>
                <a:t>L</a:t>
              </a:r>
              <a:r>
                <a:rPr baseline="-25000" lang="en" sz="1594">
                  <a:solidFill>
                    <a:srgbClr val="4472C4"/>
                  </a:solidFill>
                </a:rPr>
                <a:t>1</a:t>
              </a:r>
              <a:endParaRPr baseline="-25000" sz="1594">
                <a:solidFill>
                  <a:srgbClr val="4472C4"/>
                </a:solidFill>
              </a:endParaRPr>
            </a:p>
          </p:txBody>
        </p:sp>
        <p:cxnSp>
          <p:nvCxnSpPr>
            <p:cNvPr id="308" name="Google Shape;308;p29"/>
            <p:cNvCxnSpPr/>
            <p:nvPr/>
          </p:nvCxnSpPr>
          <p:spPr>
            <a:xfrm>
              <a:off x="5400820" y="1771879"/>
              <a:ext cx="0" cy="2156141"/>
            </a:xfrm>
            <a:prstGeom prst="straightConnector1">
              <a:avLst/>
            </a:prstGeom>
            <a:noFill/>
            <a:ln cap="flat" cmpd="sng" w="12650">
              <a:solidFill>
                <a:schemeClr val="dk1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cxnSp>
          <p:nvCxnSpPr>
            <p:cNvPr id="309" name="Google Shape;309;p29"/>
            <p:cNvCxnSpPr/>
            <p:nvPr/>
          </p:nvCxnSpPr>
          <p:spPr>
            <a:xfrm>
              <a:off x="4926458" y="3608902"/>
              <a:ext cx="3449746" cy="0"/>
            </a:xfrm>
            <a:prstGeom prst="straightConnector1">
              <a:avLst/>
            </a:prstGeom>
            <a:noFill/>
            <a:ln cap="flat" cmpd="sng" w="12650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310" name="Google Shape;310;p29"/>
            <p:cNvSpPr/>
            <p:nvPr/>
          </p:nvSpPr>
          <p:spPr>
            <a:xfrm rot="-2194056">
              <a:off x="5283481" y="3046050"/>
              <a:ext cx="1557982" cy="120721"/>
            </a:xfrm>
            <a:prstGeom prst="rect">
              <a:avLst/>
            </a:prstGeom>
            <a:solidFill>
              <a:schemeClr val="lt2"/>
            </a:solidFill>
            <a:ln cap="flat" cmpd="sng" w="126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425" lIns="121425" spcFirstLastPara="1" rIns="121425" wrap="square" tIns="12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59"/>
            </a:p>
          </p:txBody>
        </p:sp>
        <p:sp>
          <p:nvSpPr>
            <p:cNvPr id="311" name="Google Shape;311;p29"/>
            <p:cNvSpPr/>
            <p:nvPr/>
          </p:nvSpPr>
          <p:spPr>
            <a:xfrm>
              <a:off x="5262774" y="3470856"/>
              <a:ext cx="276091" cy="276091"/>
            </a:xfrm>
            <a:prstGeom prst="ellipse">
              <a:avLst/>
            </a:prstGeom>
            <a:solidFill>
              <a:srgbClr val="999999"/>
            </a:solidFill>
            <a:ln cap="flat" cmpd="sng" w="126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5899" rotWithShape="0" algn="bl" dir="5400000" dist="25300">
                <a:srgbClr val="000000">
                  <a:alpha val="50000"/>
                </a:srgbClr>
              </a:outerShdw>
            </a:effectLst>
          </p:spPr>
          <p:txBody>
            <a:bodyPr anchorCtr="0" anchor="ctr" bIns="121425" lIns="121425" spcFirstLastPara="1" rIns="121425" wrap="square" tIns="12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59"/>
            </a:p>
          </p:txBody>
        </p:sp>
        <p:sp>
          <p:nvSpPr>
            <p:cNvPr id="312" name="Google Shape;312;p29"/>
            <p:cNvSpPr txBox="1"/>
            <p:nvPr/>
          </p:nvSpPr>
          <p:spPr>
            <a:xfrm>
              <a:off x="8100810" y="3608902"/>
              <a:ext cx="415930" cy="4497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28">
                  <a:solidFill>
                    <a:schemeClr val="dk2"/>
                  </a:solidFill>
                </a:rPr>
                <a:t>X</a:t>
              </a:r>
              <a:endParaRPr sz="1328">
                <a:solidFill>
                  <a:schemeClr val="dk2"/>
                </a:solidFill>
              </a:endParaRPr>
            </a:p>
          </p:txBody>
        </p:sp>
        <p:sp>
          <p:nvSpPr>
            <p:cNvPr id="313" name="Google Shape;313;p29"/>
            <p:cNvSpPr txBox="1"/>
            <p:nvPr/>
          </p:nvSpPr>
          <p:spPr>
            <a:xfrm>
              <a:off x="4984890" y="1664759"/>
              <a:ext cx="415930" cy="4497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28">
                  <a:solidFill>
                    <a:schemeClr val="dk2"/>
                  </a:solidFill>
                </a:rPr>
                <a:t>Y</a:t>
              </a:r>
              <a:endParaRPr sz="1328">
                <a:solidFill>
                  <a:schemeClr val="dk2"/>
                </a:solidFill>
              </a:endParaRPr>
            </a:p>
          </p:txBody>
        </p:sp>
        <p:sp>
          <p:nvSpPr>
            <p:cNvPr id="314" name="Google Shape;314;p29"/>
            <p:cNvSpPr/>
            <p:nvPr/>
          </p:nvSpPr>
          <p:spPr>
            <a:xfrm rot="-5400000">
              <a:off x="6026775" y="3227075"/>
              <a:ext cx="75000" cy="13269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315" name="Google Shape;315;p29"/>
            <p:cNvSpPr/>
            <p:nvPr/>
          </p:nvSpPr>
          <p:spPr>
            <a:xfrm rot="10800000">
              <a:off x="6764150" y="2600763"/>
              <a:ext cx="75000" cy="9912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316" name="Google Shape;316;p29"/>
            <p:cNvSpPr txBox="1"/>
            <p:nvPr/>
          </p:nvSpPr>
          <p:spPr>
            <a:xfrm>
              <a:off x="5933978" y="3852833"/>
              <a:ext cx="357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2"/>
                  </a:solidFill>
                </a:rPr>
                <a:t>x</a:t>
              </a:r>
              <a:endParaRPr baseline="-25000" sz="1200">
                <a:solidFill>
                  <a:schemeClr val="dk2"/>
                </a:solidFill>
              </a:endParaRPr>
            </a:p>
          </p:txBody>
        </p:sp>
        <p:sp>
          <p:nvSpPr>
            <p:cNvPr id="317" name="Google Shape;317;p29"/>
            <p:cNvSpPr txBox="1"/>
            <p:nvPr/>
          </p:nvSpPr>
          <p:spPr>
            <a:xfrm>
              <a:off x="6810475" y="2846425"/>
              <a:ext cx="39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2"/>
                  </a:solidFill>
                </a:rPr>
                <a:t>y</a:t>
              </a:r>
              <a:endParaRPr baseline="-25000" sz="1200">
                <a:solidFill>
                  <a:schemeClr val="dk2"/>
                </a:solidFill>
              </a:endParaRPr>
            </a:p>
          </p:txBody>
        </p:sp>
      </p:grpSp>
      <p:sp>
        <p:nvSpPr>
          <p:cNvPr id="318" name="Google Shape;318;p29"/>
          <p:cNvSpPr/>
          <p:nvPr/>
        </p:nvSpPr>
        <p:spPr>
          <a:xfrm>
            <a:off x="6575668" y="2484019"/>
            <a:ext cx="276000" cy="276000"/>
          </a:xfrm>
          <a:prstGeom prst="ellipse">
            <a:avLst/>
          </a:prstGeom>
          <a:solidFill>
            <a:srgbClr val="999999"/>
          </a:solidFill>
          <a:ln cap="flat" cmpd="sng" w="12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75899" rotWithShape="0" algn="bl" dir="5400000" dist="25300">
              <a:srgbClr val="000000">
                <a:alpha val="50000"/>
              </a:srgbClr>
            </a:outerShdw>
          </a:effectLst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sp>
        <p:nvSpPr>
          <p:cNvPr id="319" name="Google Shape;319;p29"/>
          <p:cNvSpPr txBox="1"/>
          <p:nvPr/>
        </p:nvSpPr>
        <p:spPr>
          <a:xfrm>
            <a:off x="6762275" y="2171550"/>
            <a:ext cx="94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 (x,y)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0"/>
          <p:cNvSpPr/>
          <p:nvPr/>
        </p:nvSpPr>
        <p:spPr>
          <a:xfrm rot="10219805">
            <a:off x="6415578" y="2614252"/>
            <a:ext cx="503656" cy="511597"/>
          </a:xfrm>
          <a:prstGeom prst="arc">
            <a:avLst>
              <a:gd fmla="val 16200000" name="adj1"/>
              <a:gd fmla="val 18234" name="adj2"/>
            </a:avLst>
          </a:prstGeom>
          <a:noFill/>
          <a:ln cap="flat" cmpd="sng" w="126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sp>
        <p:nvSpPr>
          <p:cNvPr id="325" name="Google Shape;32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5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Two-Link(2R) Planar Robot</a:t>
            </a:r>
            <a:endParaRPr/>
          </a:p>
        </p:txBody>
      </p:sp>
      <p:sp>
        <p:nvSpPr>
          <p:cNvPr id="326" name="Google Shape;326;p30"/>
          <p:cNvSpPr/>
          <p:nvPr/>
        </p:nvSpPr>
        <p:spPr>
          <a:xfrm rot="7626148">
            <a:off x="6330061" y="2194728"/>
            <a:ext cx="694746" cy="810426"/>
          </a:xfrm>
          <a:prstGeom prst="arc">
            <a:avLst>
              <a:gd fmla="val 13632365" name="adj1"/>
              <a:gd fmla="val 0" name="adj2"/>
            </a:avLst>
          </a:prstGeom>
          <a:noFill/>
          <a:ln cap="flat" cmpd="sng" w="12650">
            <a:solidFill>
              <a:srgbClr val="FF0000"/>
            </a:solidFill>
            <a:prstDash val="solid"/>
            <a:round/>
            <a:headEnd len="sm" w="sm" type="stealth"/>
            <a:tailEnd len="sm" w="sm" type="none"/>
          </a:ln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sp>
        <p:nvSpPr>
          <p:cNvPr id="327" name="Google Shape;327;p30"/>
          <p:cNvSpPr/>
          <p:nvPr/>
        </p:nvSpPr>
        <p:spPr>
          <a:xfrm rot="1516328">
            <a:off x="5563079" y="3309910"/>
            <a:ext cx="386491" cy="426617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650">
            <a:solidFill>
              <a:srgbClr val="FF0000"/>
            </a:solidFill>
            <a:prstDash val="solid"/>
            <a:round/>
            <a:headEnd len="sm" w="sm" type="stealth"/>
            <a:tailEnd len="sm" w="sm" type="none"/>
          </a:ln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sp>
        <p:nvSpPr>
          <p:cNvPr id="328" name="Google Shape;328;p30"/>
          <p:cNvSpPr/>
          <p:nvPr/>
        </p:nvSpPr>
        <p:spPr>
          <a:xfrm rot="-1183704">
            <a:off x="6660066" y="2304798"/>
            <a:ext cx="1523675" cy="120732"/>
          </a:xfrm>
          <a:prstGeom prst="rect">
            <a:avLst/>
          </a:prstGeom>
          <a:solidFill>
            <a:schemeClr val="lt2"/>
          </a:solidFill>
          <a:ln cap="flat" cmpd="sng" w="12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1604664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cxnSp>
        <p:nvCxnSpPr>
          <p:cNvPr id="329" name="Google Shape;329;p30"/>
          <p:cNvCxnSpPr/>
          <p:nvPr/>
        </p:nvCxnSpPr>
        <p:spPr>
          <a:xfrm>
            <a:off x="5400820" y="1771879"/>
            <a:ext cx="0" cy="2156141"/>
          </a:xfrm>
          <a:prstGeom prst="straightConnector1">
            <a:avLst/>
          </a:prstGeom>
          <a:noFill/>
          <a:ln cap="flat" cmpd="sng" w="12650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30" name="Google Shape;330;p30"/>
          <p:cNvCxnSpPr/>
          <p:nvPr/>
        </p:nvCxnSpPr>
        <p:spPr>
          <a:xfrm>
            <a:off x="4926458" y="3608902"/>
            <a:ext cx="3449746" cy="0"/>
          </a:xfrm>
          <a:prstGeom prst="straightConnector1">
            <a:avLst/>
          </a:prstGeom>
          <a:noFill/>
          <a:ln cap="flat" cmpd="sng" w="126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31" name="Google Shape;331;p30"/>
          <p:cNvSpPr/>
          <p:nvPr/>
        </p:nvSpPr>
        <p:spPr>
          <a:xfrm rot="-2194056">
            <a:off x="5322271" y="3017878"/>
            <a:ext cx="1557982" cy="120721"/>
          </a:xfrm>
          <a:prstGeom prst="rect">
            <a:avLst/>
          </a:prstGeom>
          <a:solidFill>
            <a:schemeClr val="lt2"/>
          </a:solidFill>
          <a:ln cap="flat" cmpd="sng" w="12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sp>
        <p:nvSpPr>
          <p:cNvPr id="332" name="Google Shape;332;p30"/>
          <p:cNvSpPr/>
          <p:nvPr/>
        </p:nvSpPr>
        <p:spPr>
          <a:xfrm>
            <a:off x="6575668" y="2484019"/>
            <a:ext cx="276091" cy="276091"/>
          </a:xfrm>
          <a:prstGeom prst="ellipse">
            <a:avLst/>
          </a:prstGeom>
          <a:solidFill>
            <a:srgbClr val="999999"/>
          </a:solidFill>
          <a:ln cap="flat" cmpd="sng" w="12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75899" rotWithShape="0" algn="bl" dir="5400000" dist="25300">
              <a:srgbClr val="000000">
                <a:alpha val="50000"/>
              </a:srgbClr>
            </a:outerShdw>
          </a:effectLst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sp>
        <p:nvSpPr>
          <p:cNvPr id="333" name="Google Shape;333;p30"/>
          <p:cNvSpPr/>
          <p:nvPr/>
        </p:nvSpPr>
        <p:spPr>
          <a:xfrm>
            <a:off x="5262774" y="3470856"/>
            <a:ext cx="276091" cy="276091"/>
          </a:xfrm>
          <a:prstGeom prst="ellipse">
            <a:avLst/>
          </a:prstGeom>
          <a:solidFill>
            <a:srgbClr val="999999"/>
          </a:solidFill>
          <a:ln cap="flat" cmpd="sng" w="12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75899" rotWithShape="0" algn="bl" dir="5400000" dist="25300">
              <a:srgbClr val="000000">
                <a:alpha val="50000"/>
              </a:srgbClr>
            </a:outerShdw>
          </a:effectLst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sp>
        <p:nvSpPr>
          <p:cNvPr id="334" name="Google Shape;334;p30"/>
          <p:cNvSpPr txBox="1"/>
          <p:nvPr/>
        </p:nvSpPr>
        <p:spPr>
          <a:xfrm>
            <a:off x="8100810" y="3608902"/>
            <a:ext cx="415930" cy="449794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8">
                <a:solidFill>
                  <a:schemeClr val="dk2"/>
                </a:solidFill>
              </a:rPr>
              <a:t>X</a:t>
            </a:r>
            <a:endParaRPr sz="1328">
              <a:solidFill>
                <a:schemeClr val="dk2"/>
              </a:solidFill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4984890" y="1664759"/>
            <a:ext cx="415930" cy="449794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8">
                <a:solidFill>
                  <a:schemeClr val="dk2"/>
                </a:solidFill>
              </a:rPr>
              <a:t>Y</a:t>
            </a:r>
            <a:endParaRPr sz="1328">
              <a:solidFill>
                <a:schemeClr val="dk2"/>
              </a:solidFill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5888993" y="3151074"/>
            <a:ext cx="5091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26">
                <a:solidFill>
                  <a:srgbClr val="4472C4"/>
                </a:solidFill>
              </a:rPr>
              <a:t>θ</a:t>
            </a:r>
            <a:r>
              <a:rPr baseline="-25000" lang="en" sz="1726">
                <a:solidFill>
                  <a:srgbClr val="4472C4"/>
                </a:solidFill>
              </a:rPr>
              <a:t>1</a:t>
            </a:r>
            <a:endParaRPr baseline="-25000" sz="1726">
              <a:solidFill>
                <a:srgbClr val="4472C4"/>
              </a:solidFill>
            </a:endParaRPr>
          </a:p>
        </p:txBody>
      </p:sp>
      <p:sp>
        <p:nvSpPr>
          <p:cNvPr id="337" name="Google Shape;337;p30"/>
          <p:cNvSpPr txBox="1"/>
          <p:nvPr/>
        </p:nvSpPr>
        <p:spPr>
          <a:xfrm>
            <a:off x="6833928" y="2715398"/>
            <a:ext cx="5091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26">
                <a:solidFill>
                  <a:srgbClr val="4472C4"/>
                </a:solidFill>
              </a:rPr>
              <a:t>θ</a:t>
            </a:r>
            <a:r>
              <a:rPr baseline="-25000" lang="en" sz="1726">
                <a:solidFill>
                  <a:srgbClr val="4472C4"/>
                </a:solidFill>
              </a:rPr>
              <a:t>2</a:t>
            </a:r>
            <a:endParaRPr baseline="-25000" sz="1726">
              <a:solidFill>
                <a:srgbClr val="4472C4"/>
              </a:solidFill>
            </a:endParaRPr>
          </a:p>
        </p:txBody>
      </p:sp>
      <p:sp>
        <p:nvSpPr>
          <p:cNvPr id="338" name="Google Shape;338;p30"/>
          <p:cNvSpPr txBox="1"/>
          <p:nvPr/>
        </p:nvSpPr>
        <p:spPr>
          <a:xfrm>
            <a:off x="5589927" y="2660643"/>
            <a:ext cx="509155" cy="49043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94">
                <a:solidFill>
                  <a:srgbClr val="4472C4"/>
                </a:solidFill>
              </a:rPr>
              <a:t>L</a:t>
            </a:r>
            <a:r>
              <a:rPr baseline="-25000" lang="en" sz="1594">
                <a:solidFill>
                  <a:srgbClr val="4472C4"/>
                </a:solidFill>
              </a:rPr>
              <a:t>1</a:t>
            </a:r>
            <a:endParaRPr baseline="-25000" sz="1594">
              <a:solidFill>
                <a:srgbClr val="4472C4"/>
              </a:solidFill>
            </a:endParaRPr>
          </a:p>
        </p:txBody>
      </p:sp>
      <p:sp>
        <p:nvSpPr>
          <p:cNvPr id="339" name="Google Shape;339;p30"/>
          <p:cNvSpPr txBox="1"/>
          <p:nvPr/>
        </p:nvSpPr>
        <p:spPr>
          <a:xfrm>
            <a:off x="7035986" y="1915004"/>
            <a:ext cx="509155" cy="49043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94">
                <a:solidFill>
                  <a:srgbClr val="4472C4"/>
                </a:solidFill>
              </a:rPr>
              <a:t>L</a:t>
            </a:r>
            <a:r>
              <a:rPr baseline="-25000" lang="en" sz="1594">
                <a:solidFill>
                  <a:srgbClr val="4472C4"/>
                </a:solidFill>
              </a:rPr>
              <a:t>2</a:t>
            </a:r>
            <a:endParaRPr baseline="-25000" sz="1594">
              <a:solidFill>
                <a:srgbClr val="4472C4"/>
              </a:solidFill>
            </a:endParaRPr>
          </a:p>
        </p:txBody>
      </p:sp>
      <p:sp>
        <p:nvSpPr>
          <p:cNvPr id="340" name="Google Shape;340;p30"/>
          <p:cNvSpPr txBox="1"/>
          <p:nvPr/>
        </p:nvSpPr>
        <p:spPr>
          <a:xfrm>
            <a:off x="311700" y="1045625"/>
            <a:ext cx="4614900" cy="18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consider the addition of a second link of length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​, connected to the first link by a revolute joint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the figure,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 = L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1​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 + L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​cosθ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​’ 	</a:t>
            </a:r>
            <a:r>
              <a:rPr b="1"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[ x</a:t>
            </a:r>
            <a:r>
              <a:rPr b="1" baseline="-25000"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b="1"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+ x</a:t>
            </a:r>
            <a:r>
              <a:rPr b="1" baseline="-25000"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]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L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sin⁡θ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L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sin⁡θ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’ 	</a:t>
            </a:r>
            <a:r>
              <a:rPr b="1"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[ y</a:t>
            </a:r>
            <a:r>
              <a:rPr b="1" baseline="-25000"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b="1"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+ y</a:t>
            </a:r>
            <a:r>
              <a:rPr b="1" baseline="-25000"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]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" name="Google Shape;341;p30"/>
          <p:cNvCxnSpPr>
            <a:stCxn id="332" idx="4"/>
          </p:cNvCxnSpPr>
          <p:nvPr/>
        </p:nvCxnSpPr>
        <p:spPr>
          <a:xfrm>
            <a:off x="6713714" y="2760110"/>
            <a:ext cx="0" cy="8538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" name="Google Shape;342;p30"/>
          <p:cNvCxnSpPr/>
          <p:nvPr/>
        </p:nvCxnSpPr>
        <p:spPr>
          <a:xfrm>
            <a:off x="6851739" y="2635360"/>
            <a:ext cx="12981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" name="Google Shape;343;p30"/>
          <p:cNvCxnSpPr/>
          <p:nvPr/>
        </p:nvCxnSpPr>
        <p:spPr>
          <a:xfrm>
            <a:off x="8141148" y="2107646"/>
            <a:ext cx="0" cy="5376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" name="Google Shape;344;p30"/>
          <p:cNvSpPr/>
          <p:nvPr/>
        </p:nvSpPr>
        <p:spPr>
          <a:xfrm>
            <a:off x="7992910" y="1958065"/>
            <a:ext cx="276000" cy="276000"/>
          </a:xfrm>
          <a:prstGeom prst="ellipse">
            <a:avLst/>
          </a:prstGeom>
          <a:solidFill>
            <a:srgbClr val="999999"/>
          </a:solidFill>
          <a:ln cap="flat" cmpd="sng" w="12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75899" rotWithShape="0" algn="bl" dir="5400000" dist="25300">
              <a:srgbClr val="000000">
                <a:alpha val="50000"/>
              </a:srgbClr>
            </a:outerShdw>
          </a:effectLst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sp>
        <p:nvSpPr>
          <p:cNvPr id="345" name="Google Shape;345;p30"/>
          <p:cNvSpPr txBox="1"/>
          <p:nvPr/>
        </p:nvSpPr>
        <p:spPr>
          <a:xfrm>
            <a:off x="6134550" y="2967450"/>
            <a:ext cx="6639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26">
                <a:solidFill>
                  <a:schemeClr val="accent5"/>
                </a:solidFill>
              </a:rPr>
              <a:t>90-θ</a:t>
            </a:r>
            <a:r>
              <a:rPr baseline="-25000" lang="en" sz="1226">
                <a:solidFill>
                  <a:schemeClr val="accent5"/>
                </a:solidFill>
              </a:rPr>
              <a:t>1</a:t>
            </a:r>
            <a:endParaRPr baseline="-25000" sz="1226">
              <a:solidFill>
                <a:schemeClr val="accent5"/>
              </a:solidFill>
            </a:endParaRPr>
          </a:p>
        </p:txBody>
      </p:sp>
      <p:sp>
        <p:nvSpPr>
          <p:cNvPr id="346" name="Google Shape;346;p30"/>
          <p:cNvSpPr txBox="1"/>
          <p:nvPr/>
        </p:nvSpPr>
        <p:spPr>
          <a:xfrm>
            <a:off x="7378903" y="2281298"/>
            <a:ext cx="5091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26">
                <a:solidFill>
                  <a:schemeClr val="accent5"/>
                </a:solidFill>
              </a:rPr>
              <a:t>θ</a:t>
            </a:r>
            <a:r>
              <a:rPr baseline="-25000" lang="en" sz="1226">
                <a:solidFill>
                  <a:schemeClr val="accent5"/>
                </a:solidFill>
              </a:rPr>
              <a:t>2</a:t>
            </a:r>
            <a:r>
              <a:rPr lang="en" sz="1226">
                <a:solidFill>
                  <a:schemeClr val="accent5"/>
                </a:solidFill>
              </a:rPr>
              <a:t>’</a:t>
            </a:r>
            <a:endParaRPr sz="1226">
              <a:solidFill>
                <a:schemeClr val="accent5"/>
              </a:solidFill>
            </a:endParaRPr>
          </a:p>
        </p:txBody>
      </p:sp>
      <p:sp>
        <p:nvSpPr>
          <p:cNvPr id="347" name="Google Shape;347;p30"/>
          <p:cNvSpPr/>
          <p:nvPr/>
        </p:nvSpPr>
        <p:spPr>
          <a:xfrm rot="1516328">
            <a:off x="7031254" y="2381685"/>
            <a:ext cx="386491" cy="426617"/>
          </a:xfrm>
          <a:prstGeom prst="arc">
            <a:avLst>
              <a:gd fmla="val 17397360" name="adj1"/>
              <a:gd fmla="val 20784485" name="adj2"/>
            </a:avLst>
          </a:prstGeom>
          <a:noFill/>
          <a:ln cap="flat" cmpd="sng" w="126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sp>
        <p:nvSpPr>
          <p:cNvPr id="348" name="Google Shape;348;p30"/>
          <p:cNvSpPr/>
          <p:nvPr/>
        </p:nvSpPr>
        <p:spPr>
          <a:xfrm>
            <a:off x="6590126" y="3469348"/>
            <a:ext cx="123900" cy="136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9" name="Google Shape;349;p30"/>
          <p:cNvGrpSpPr/>
          <p:nvPr/>
        </p:nvGrpSpPr>
        <p:grpSpPr>
          <a:xfrm>
            <a:off x="7371128" y="2191800"/>
            <a:ext cx="1163622" cy="753158"/>
            <a:chOff x="5976753" y="3446475"/>
            <a:chExt cx="1163622" cy="753158"/>
          </a:xfrm>
        </p:grpSpPr>
        <p:sp>
          <p:nvSpPr>
            <p:cNvPr id="350" name="Google Shape;350;p30"/>
            <p:cNvSpPr txBox="1"/>
            <p:nvPr/>
          </p:nvSpPr>
          <p:spPr>
            <a:xfrm>
              <a:off x="5976753" y="3830333"/>
              <a:ext cx="357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2"/>
                  </a:solidFill>
                </a:rPr>
                <a:t>x</a:t>
              </a:r>
              <a:r>
                <a:rPr baseline="-25000" lang="en" sz="1200">
                  <a:solidFill>
                    <a:schemeClr val="dk2"/>
                  </a:solidFill>
                </a:rPr>
                <a:t>2</a:t>
              </a:r>
              <a:endParaRPr baseline="-25000" sz="1200">
                <a:solidFill>
                  <a:schemeClr val="dk2"/>
                </a:solidFill>
              </a:endParaRPr>
            </a:p>
          </p:txBody>
        </p:sp>
        <p:sp>
          <p:nvSpPr>
            <p:cNvPr id="351" name="Google Shape;351;p30"/>
            <p:cNvSpPr txBox="1"/>
            <p:nvPr/>
          </p:nvSpPr>
          <p:spPr>
            <a:xfrm>
              <a:off x="6746775" y="3446475"/>
              <a:ext cx="39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2"/>
                  </a:solidFill>
                </a:rPr>
                <a:t>y</a:t>
              </a:r>
              <a:r>
                <a:rPr baseline="-25000" lang="en" sz="1200">
                  <a:solidFill>
                    <a:schemeClr val="dk2"/>
                  </a:solidFill>
                </a:rPr>
                <a:t>2</a:t>
              </a:r>
              <a:endParaRPr baseline="-25000" sz="1200">
                <a:solidFill>
                  <a:schemeClr val="dk2"/>
                </a:solidFill>
              </a:endParaRPr>
            </a:p>
          </p:txBody>
        </p:sp>
      </p:grpSp>
      <p:sp>
        <p:nvSpPr>
          <p:cNvPr id="352" name="Google Shape;352;p30"/>
          <p:cNvSpPr txBox="1"/>
          <p:nvPr/>
        </p:nvSpPr>
        <p:spPr>
          <a:xfrm>
            <a:off x="8053850" y="1557875"/>
            <a:ext cx="94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 (x,y)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5682040" y="3953859"/>
            <a:ext cx="2371800" cy="1139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r>
              <a:rPr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’ 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θ</a:t>
            </a:r>
            <a:r>
              <a:rPr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​- 90°- (90 - θ</a:t>
            </a:r>
            <a:r>
              <a:rPr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=</a:t>
            </a:r>
            <a:r>
              <a:rPr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θ</a:t>
            </a:r>
            <a:r>
              <a:rPr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​- 90°- 90 + θ</a:t>
            </a:r>
            <a:r>
              <a:rPr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=</a:t>
            </a:r>
            <a:r>
              <a:rPr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-180 + θ</a:t>
            </a:r>
            <a:r>
              <a:rPr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+ θ</a:t>
            </a:r>
            <a:r>
              <a:rPr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aseline="-250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0"/>
          <p:cNvSpPr txBox="1"/>
          <p:nvPr/>
        </p:nvSpPr>
        <p:spPr>
          <a:xfrm>
            <a:off x="311700" y="3283900"/>
            <a:ext cx="4146900" cy="12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Considering the value of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​’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we get: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x​ = L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​cosθ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​+ L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​cos(-180 + 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= L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sin⁡θ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L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sin⁡(-180 + 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0"/>
          <p:cNvSpPr txBox="1"/>
          <p:nvPr/>
        </p:nvSpPr>
        <p:spPr>
          <a:xfrm>
            <a:off x="6127325" y="3493053"/>
            <a:ext cx="35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x</a:t>
            </a:r>
            <a:r>
              <a:rPr baseline="-25000" lang="en" sz="1200">
                <a:solidFill>
                  <a:schemeClr val="dk2"/>
                </a:solidFill>
              </a:rPr>
              <a:t>1</a:t>
            </a:r>
            <a:endParaRPr baseline="-25000" sz="1200">
              <a:solidFill>
                <a:schemeClr val="dk2"/>
              </a:solidFill>
            </a:endParaRPr>
          </a:p>
        </p:txBody>
      </p:sp>
      <p:sp>
        <p:nvSpPr>
          <p:cNvPr id="356" name="Google Shape;356;p30"/>
          <p:cNvSpPr txBox="1"/>
          <p:nvPr/>
        </p:nvSpPr>
        <p:spPr>
          <a:xfrm>
            <a:off x="6713725" y="3055000"/>
            <a:ext cx="39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y</a:t>
            </a:r>
            <a:r>
              <a:rPr baseline="-25000" lang="en" sz="1200">
                <a:solidFill>
                  <a:schemeClr val="dk2"/>
                </a:solidFill>
              </a:rPr>
              <a:t>1</a:t>
            </a:r>
            <a:endParaRPr baseline="-25000"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1509"/>
              <a:buFont typeface="Arial"/>
              <a:buNone/>
            </a:pPr>
            <a:r>
              <a:rPr lang="en" sz="265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Three-Link Planar Robot (3R-2D)</a:t>
            </a:r>
            <a:endParaRPr/>
          </a:p>
        </p:txBody>
      </p:sp>
      <p:grpSp>
        <p:nvGrpSpPr>
          <p:cNvPr id="362" name="Google Shape;362;p31"/>
          <p:cNvGrpSpPr/>
          <p:nvPr/>
        </p:nvGrpSpPr>
        <p:grpSpPr>
          <a:xfrm>
            <a:off x="4926458" y="1424574"/>
            <a:ext cx="4052525" cy="2634121"/>
            <a:chOff x="4072400" y="1301525"/>
            <a:chExt cx="3051600" cy="1983525"/>
          </a:xfrm>
        </p:grpSpPr>
        <p:sp>
          <p:nvSpPr>
            <p:cNvPr id="363" name="Google Shape;363;p31"/>
            <p:cNvSpPr/>
            <p:nvPr/>
          </p:nvSpPr>
          <p:spPr>
            <a:xfrm rot="7625992">
              <a:off x="5121748" y="1873864"/>
              <a:ext cx="523204" cy="610384"/>
            </a:xfrm>
            <a:prstGeom prst="arc">
              <a:avLst>
                <a:gd fmla="val 13632365" name="adj1"/>
                <a:gd fmla="val 0" name="adj2"/>
              </a:avLst>
            </a:prstGeom>
            <a:noFill/>
            <a:ln cap="flat" cmpd="sng" w="12650">
              <a:solidFill>
                <a:srgbClr val="FF0000"/>
              </a:solidFill>
              <a:prstDash val="solid"/>
              <a:round/>
              <a:headEnd len="sm" w="sm" type="stealth"/>
              <a:tailEnd len="sm" w="sm" type="none"/>
            </a:ln>
          </p:spPr>
          <p:txBody>
            <a:bodyPr anchorCtr="0" anchor="ctr" bIns="121425" lIns="121425" spcFirstLastPara="1" rIns="121425" wrap="square" tIns="12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59"/>
            </a:p>
          </p:txBody>
        </p:sp>
        <p:sp>
          <p:nvSpPr>
            <p:cNvPr id="364" name="Google Shape;364;p31"/>
            <p:cNvSpPr/>
            <p:nvPr/>
          </p:nvSpPr>
          <p:spPr>
            <a:xfrm rot="1516218">
              <a:off x="4548045" y="2721182"/>
              <a:ext cx="290942" cy="321136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12650">
              <a:solidFill>
                <a:srgbClr val="FF0000"/>
              </a:solidFill>
              <a:prstDash val="solid"/>
              <a:round/>
              <a:headEnd len="sm" w="sm" type="stealth"/>
              <a:tailEnd len="sm" w="sm" type="none"/>
            </a:ln>
          </p:spPr>
          <p:txBody>
            <a:bodyPr anchorCtr="0" anchor="ctr" bIns="121425" lIns="121425" spcFirstLastPara="1" rIns="121425" wrap="square" tIns="12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59"/>
            </a:p>
          </p:txBody>
        </p:sp>
        <p:grpSp>
          <p:nvGrpSpPr>
            <p:cNvPr id="365" name="Google Shape;365;p31"/>
            <p:cNvGrpSpPr/>
            <p:nvPr/>
          </p:nvGrpSpPr>
          <p:grpSpPr>
            <a:xfrm>
              <a:off x="4072400" y="1375220"/>
              <a:ext cx="2965128" cy="1909830"/>
              <a:chOff x="1962575" y="2035820"/>
              <a:chExt cx="2965128" cy="1909830"/>
            </a:xfrm>
          </p:grpSpPr>
          <p:sp>
            <p:nvSpPr>
              <p:cNvPr id="366" name="Google Shape;366;p31"/>
              <p:cNvSpPr/>
              <p:nvPr/>
            </p:nvSpPr>
            <p:spPr>
              <a:xfrm rot="-2192774">
                <a:off x="4316357" y="2219720"/>
                <a:ext cx="647890" cy="90900"/>
              </a:xfrm>
              <a:prstGeom prst="rect">
                <a:avLst/>
              </a:prstGeom>
              <a:solidFill>
                <a:schemeClr val="lt2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1604664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sp>
            <p:nvSpPr>
              <p:cNvPr id="367" name="Google Shape;367;p31"/>
              <p:cNvSpPr/>
              <p:nvPr/>
            </p:nvSpPr>
            <p:spPr>
              <a:xfrm rot="-1183704">
                <a:off x="3268002" y="2624944"/>
                <a:ext cx="1147345" cy="90912"/>
              </a:xfrm>
              <a:prstGeom prst="rect">
                <a:avLst/>
              </a:prstGeom>
              <a:solidFill>
                <a:schemeClr val="lt2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1604664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cxnSp>
            <p:nvCxnSpPr>
              <p:cNvPr id="368" name="Google Shape;368;p31"/>
              <p:cNvCxnSpPr/>
              <p:nvPr/>
            </p:nvCxnSpPr>
            <p:spPr>
              <a:xfrm>
                <a:off x="2319775" y="2223650"/>
                <a:ext cx="0" cy="1623600"/>
              </a:xfrm>
              <a:prstGeom prst="straightConnector1">
                <a:avLst/>
              </a:prstGeom>
              <a:noFill/>
              <a:ln cap="flat" cmpd="sng" w="12650">
                <a:solidFill>
                  <a:schemeClr val="dk1"/>
                </a:solidFill>
                <a:prstDash val="solid"/>
                <a:round/>
                <a:headEnd len="med" w="med" type="stealth"/>
                <a:tailEnd len="med" w="med" type="none"/>
              </a:ln>
            </p:spPr>
          </p:cxnSp>
          <p:cxnSp>
            <p:nvCxnSpPr>
              <p:cNvPr id="369" name="Google Shape;369;p31"/>
              <p:cNvCxnSpPr/>
              <p:nvPr/>
            </p:nvCxnSpPr>
            <p:spPr>
              <a:xfrm>
                <a:off x="1962575" y="3606950"/>
                <a:ext cx="2597700" cy="0"/>
              </a:xfrm>
              <a:prstGeom prst="straightConnector1">
                <a:avLst/>
              </a:prstGeom>
              <a:noFill/>
              <a:ln cap="flat" cmpd="sng" w="126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370" name="Google Shape;370;p31"/>
              <p:cNvSpPr/>
              <p:nvPr/>
            </p:nvSpPr>
            <p:spPr>
              <a:xfrm rot="-2194086">
                <a:off x="2231448" y="3175547"/>
                <a:ext cx="1173256" cy="90900"/>
              </a:xfrm>
              <a:prstGeom prst="rect">
                <a:avLst/>
              </a:prstGeom>
              <a:solidFill>
                <a:schemeClr val="lt2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sp>
            <p:nvSpPr>
              <p:cNvPr id="371" name="Google Shape;371;p31"/>
              <p:cNvSpPr/>
              <p:nvPr/>
            </p:nvSpPr>
            <p:spPr>
              <a:xfrm>
                <a:off x="3204450" y="2759900"/>
                <a:ext cx="207900" cy="207900"/>
              </a:xfrm>
              <a:prstGeom prst="ellipse">
                <a:avLst/>
              </a:prstGeom>
              <a:solidFill>
                <a:srgbClr val="999999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75899" rotWithShape="0" algn="bl" dir="5400000" dist="2530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sp>
            <p:nvSpPr>
              <p:cNvPr id="372" name="Google Shape;372;p31"/>
              <p:cNvSpPr/>
              <p:nvPr/>
            </p:nvSpPr>
            <p:spPr>
              <a:xfrm>
                <a:off x="2215825" y="3503000"/>
                <a:ext cx="207900" cy="207900"/>
              </a:xfrm>
              <a:prstGeom prst="ellipse">
                <a:avLst/>
              </a:prstGeom>
              <a:solidFill>
                <a:srgbClr val="999999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75899" rotWithShape="0" algn="bl" dir="5400000" dist="2530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sp>
            <p:nvSpPr>
              <p:cNvPr id="373" name="Google Shape;373;p31"/>
              <p:cNvSpPr/>
              <p:nvPr/>
            </p:nvSpPr>
            <p:spPr>
              <a:xfrm>
                <a:off x="4271650" y="2363850"/>
                <a:ext cx="207900" cy="207900"/>
              </a:xfrm>
              <a:prstGeom prst="ellipse">
                <a:avLst/>
              </a:prstGeom>
              <a:solidFill>
                <a:srgbClr val="999999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75899" rotWithShape="0" algn="bl" dir="5400000" dist="2530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sp>
            <p:nvSpPr>
              <p:cNvPr id="374" name="Google Shape;374;p31"/>
              <p:cNvSpPr txBox="1"/>
              <p:nvPr/>
            </p:nvSpPr>
            <p:spPr>
              <a:xfrm>
                <a:off x="4352900" y="3606950"/>
                <a:ext cx="3132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21425" lIns="121425" spcFirstLastPara="1" rIns="121425" wrap="square" tIns="12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28">
                    <a:solidFill>
                      <a:schemeClr val="dk2"/>
                    </a:solidFill>
                  </a:rPr>
                  <a:t>X</a:t>
                </a:r>
                <a:endParaRPr sz="1328">
                  <a:solidFill>
                    <a:schemeClr val="dk2"/>
                  </a:solidFill>
                </a:endParaRPr>
              </a:p>
            </p:txBody>
          </p:sp>
          <p:sp>
            <p:nvSpPr>
              <p:cNvPr id="375" name="Google Shape;375;p31"/>
              <p:cNvSpPr txBox="1"/>
              <p:nvPr/>
            </p:nvSpPr>
            <p:spPr>
              <a:xfrm>
                <a:off x="2006575" y="2142988"/>
                <a:ext cx="3132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21425" lIns="121425" spcFirstLastPara="1" rIns="121425" wrap="square" tIns="12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28">
                    <a:solidFill>
                      <a:schemeClr val="dk2"/>
                    </a:solidFill>
                  </a:rPr>
                  <a:t>Y</a:t>
                </a:r>
                <a:endParaRPr sz="1328">
                  <a:solidFill>
                    <a:schemeClr val="dk2"/>
                  </a:solidFill>
                </a:endParaRPr>
              </a:p>
            </p:txBody>
          </p:sp>
        </p:grpSp>
        <p:sp>
          <p:nvSpPr>
            <p:cNvPr id="376" name="Google Shape;376;p31"/>
            <p:cNvSpPr/>
            <p:nvPr/>
          </p:nvSpPr>
          <p:spPr>
            <a:xfrm rot="9089130">
              <a:off x="6227184" y="1541804"/>
              <a:ext cx="571870" cy="559109"/>
            </a:xfrm>
            <a:prstGeom prst="arc">
              <a:avLst>
                <a:gd fmla="val 10471906" name="adj1"/>
                <a:gd fmla="val 0" name="adj2"/>
              </a:avLst>
            </a:prstGeom>
            <a:noFill/>
            <a:ln cap="flat" cmpd="sng" w="12650">
              <a:solidFill>
                <a:srgbClr val="FF0000"/>
              </a:solidFill>
              <a:prstDash val="solid"/>
              <a:round/>
              <a:headEnd len="sm" w="sm" type="stealth"/>
              <a:tailEnd len="sm" w="sm" type="none"/>
            </a:ln>
          </p:spPr>
          <p:txBody>
            <a:bodyPr anchorCtr="0" anchor="ctr" bIns="121425" lIns="121425" spcFirstLastPara="1" rIns="121425" wrap="square" tIns="12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59"/>
            </a:p>
          </p:txBody>
        </p:sp>
        <p:sp>
          <p:nvSpPr>
            <p:cNvPr id="377" name="Google Shape;377;p31"/>
            <p:cNvSpPr txBox="1"/>
            <p:nvPr/>
          </p:nvSpPr>
          <p:spPr>
            <a:xfrm>
              <a:off x="4797200" y="2601600"/>
              <a:ext cx="3834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26">
                  <a:solidFill>
                    <a:srgbClr val="4472C4"/>
                  </a:solidFill>
                </a:rPr>
                <a:t>θ</a:t>
              </a:r>
              <a:r>
                <a:rPr baseline="-25000" lang="en" sz="1726">
                  <a:solidFill>
                    <a:srgbClr val="4472C4"/>
                  </a:solidFill>
                </a:rPr>
                <a:t>1</a:t>
              </a:r>
              <a:endParaRPr baseline="-25000" sz="1726">
                <a:solidFill>
                  <a:srgbClr val="4472C4"/>
                </a:solidFill>
              </a:endParaRPr>
            </a:p>
          </p:txBody>
        </p:sp>
        <p:sp>
          <p:nvSpPr>
            <p:cNvPr id="378" name="Google Shape;378;p31"/>
            <p:cNvSpPr txBox="1"/>
            <p:nvPr/>
          </p:nvSpPr>
          <p:spPr>
            <a:xfrm>
              <a:off x="5615600" y="2137688"/>
              <a:ext cx="3834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26">
                  <a:solidFill>
                    <a:srgbClr val="4472C4"/>
                  </a:solidFill>
                </a:rPr>
                <a:t>θ</a:t>
              </a:r>
              <a:r>
                <a:rPr baseline="-25000" lang="en" sz="1726">
                  <a:solidFill>
                    <a:srgbClr val="4472C4"/>
                  </a:solidFill>
                </a:rPr>
                <a:t>2</a:t>
              </a:r>
              <a:endParaRPr baseline="-25000" sz="1726">
                <a:solidFill>
                  <a:srgbClr val="4472C4"/>
                </a:solidFill>
              </a:endParaRPr>
            </a:p>
          </p:txBody>
        </p:sp>
        <p:sp>
          <p:nvSpPr>
            <p:cNvPr id="379" name="Google Shape;379;p31"/>
            <p:cNvSpPr txBox="1"/>
            <p:nvPr/>
          </p:nvSpPr>
          <p:spPr>
            <a:xfrm>
              <a:off x="6740600" y="1646500"/>
              <a:ext cx="3834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26">
                  <a:solidFill>
                    <a:srgbClr val="4472C4"/>
                  </a:solidFill>
                </a:rPr>
                <a:t>θ</a:t>
              </a:r>
              <a:r>
                <a:rPr baseline="-25000" lang="en" sz="1726">
                  <a:solidFill>
                    <a:srgbClr val="4472C4"/>
                  </a:solidFill>
                </a:rPr>
                <a:t>3</a:t>
              </a:r>
              <a:endParaRPr baseline="-25000" sz="1726">
                <a:solidFill>
                  <a:srgbClr val="4472C4"/>
                </a:solidFill>
              </a:endParaRPr>
            </a:p>
          </p:txBody>
        </p:sp>
        <p:sp>
          <p:nvSpPr>
            <p:cNvPr id="380" name="Google Shape;380;p31"/>
            <p:cNvSpPr txBox="1"/>
            <p:nvPr/>
          </p:nvSpPr>
          <p:spPr>
            <a:xfrm>
              <a:off x="4572000" y="2232300"/>
              <a:ext cx="383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94">
                  <a:solidFill>
                    <a:srgbClr val="4472C4"/>
                  </a:solidFill>
                </a:rPr>
                <a:t>L</a:t>
              </a:r>
              <a:r>
                <a:rPr baseline="-25000" lang="en" sz="1594">
                  <a:solidFill>
                    <a:srgbClr val="4472C4"/>
                  </a:solidFill>
                </a:rPr>
                <a:t>1</a:t>
              </a:r>
              <a:endParaRPr baseline="-25000" sz="1594">
                <a:solidFill>
                  <a:srgbClr val="4472C4"/>
                </a:solidFill>
              </a:endParaRPr>
            </a:p>
          </p:txBody>
        </p:sp>
        <p:sp>
          <p:nvSpPr>
            <p:cNvPr id="381" name="Google Shape;381;p31"/>
            <p:cNvSpPr txBox="1"/>
            <p:nvPr/>
          </p:nvSpPr>
          <p:spPr>
            <a:xfrm>
              <a:off x="6435125" y="1301525"/>
              <a:ext cx="383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94">
                  <a:solidFill>
                    <a:srgbClr val="4472C4"/>
                  </a:solidFill>
                </a:rPr>
                <a:t>L</a:t>
              </a:r>
              <a:r>
                <a:rPr baseline="-25000" lang="en" sz="1594">
                  <a:solidFill>
                    <a:srgbClr val="4472C4"/>
                  </a:solidFill>
                </a:rPr>
                <a:t>3</a:t>
              </a:r>
              <a:endParaRPr baseline="-25000" sz="1594">
                <a:solidFill>
                  <a:srgbClr val="4472C4"/>
                </a:solidFill>
              </a:endParaRPr>
            </a:p>
          </p:txBody>
        </p:sp>
        <p:sp>
          <p:nvSpPr>
            <p:cNvPr id="382" name="Google Shape;382;p31"/>
            <p:cNvSpPr txBox="1"/>
            <p:nvPr/>
          </p:nvSpPr>
          <p:spPr>
            <a:xfrm>
              <a:off x="5660900" y="1670825"/>
              <a:ext cx="383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94">
                  <a:solidFill>
                    <a:srgbClr val="4472C4"/>
                  </a:solidFill>
                </a:rPr>
                <a:t>L</a:t>
              </a:r>
              <a:r>
                <a:rPr baseline="-25000" lang="en" sz="1594">
                  <a:solidFill>
                    <a:srgbClr val="4472C4"/>
                  </a:solidFill>
                </a:rPr>
                <a:t>2</a:t>
              </a:r>
              <a:endParaRPr baseline="-25000" sz="1594">
                <a:solidFill>
                  <a:srgbClr val="4472C4"/>
                </a:solidFill>
              </a:endParaRPr>
            </a:p>
          </p:txBody>
        </p:sp>
      </p:grpSp>
      <p:sp>
        <p:nvSpPr>
          <p:cNvPr id="383" name="Google Shape;383;p31"/>
          <p:cNvSpPr txBox="1"/>
          <p:nvPr/>
        </p:nvSpPr>
        <p:spPr>
          <a:xfrm>
            <a:off x="5960772" y="3794507"/>
            <a:ext cx="198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3R Planar Robot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84" name="Google Shape;384;p31"/>
          <p:cNvSpPr txBox="1"/>
          <p:nvPr/>
        </p:nvSpPr>
        <p:spPr>
          <a:xfrm>
            <a:off x="311700" y="1251350"/>
            <a:ext cx="4788600" cy="12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Now, if 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r>
              <a:rPr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joint is also added, we get: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x​ = L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​cosθ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​+ L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​cos(-180 + 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+ L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cos(-360 + 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= L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sin⁡θ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L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sin⁡(-180 + 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+ L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sin(-360 + 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1"/>
          <p:cNvSpPr txBox="1"/>
          <p:nvPr/>
        </p:nvSpPr>
        <p:spPr>
          <a:xfrm>
            <a:off x="8363050" y="1139050"/>
            <a:ext cx="94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 (x,y)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86" name="Google Shape;386;p31"/>
          <p:cNvSpPr txBox="1"/>
          <p:nvPr/>
        </p:nvSpPr>
        <p:spPr>
          <a:xfrm>
            <a:off x="311700" y="2782425"/>
            <a:ext cx="45939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These equations give the 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end-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effector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position directly from the given angles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.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1"/>
          <p:cNvSpPr txBox="1"/>
          <p:nvPr/>
        </p:nvSpPr>
        <p:spPr>
          <a:xfrm>
            <a:off x="311700" y="4366200"/>
            <a:ext cx="8520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2500"/>
              </a:spcBef>
              <a:spcAft>
                <a:spcPts val="250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This method works, but it becomes messy as the number of joints increases. Each new joint introduces more angle 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bookkeeping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and geometric reasoning.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0000"/>
              </a:lnSpc>
              <a:spcBef>
                <a:spcPts val="4200"/>
              </a:spcBef>
              <a:spcAft>
                <a:spcPts val="0"/>
              </a:spcAft>
              <a:buNone/>
            </a:pPr>
            <a:r>
              <a:rPr lang="en" sz="265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Forward Kinematics using Trigonometry [Extension]</a:t>
            </a:r>
            <a:endParaRPr sz="265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3" name="Google Shape;393;p32"/>
          <p:cNvGrpSpPr/>
          <p:nvPr/>
        </p:nvGrpSpPr>
        <p:grpSpPr>
          <a:xfrm>
            <a:off x="4926458" y="1392274"/>
            <a:ext cx="4217595" cy="2666421"/>
            <a:chOff x="4072400" y="1277203"/>
            <a:chExt cx="3175900" cy="2007847"/>
          </a:xfrm>
        </p:grpSpPr>
        <p:sp>
          <p:nvSpPr>
            <p:cNvPr id="394" name="Google Shape;394;p32"/>
            <p:cNvSpPr/>
            <p:nvPr/>
          </p:nvSpPr>
          <p:spPr>
            <a:xfrm rot="1516218">
              <a:off x="4548045" y="2721182"/>
              <a:ext cx="290942" cy="321136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12650">
              <a:solidFill>
                <a:srgbClr val="FF0000"/>
              </a:solidFill>
              <a:prstDash val="solid"/>
              <a:round/>
              <a:headEnd len="sm" w="sm" type="stealth"/>
              <a:tailEnd len="sm" w="sm" type="none"/>
            </a:ln>
          </p:spPr>
          <p:txBody>
            <a:bodyPr anchorCtr="0" anchor="ctr" bIns="121425" lIns="121425" spcFirstLastPara="1" rIns="121425" wrap="square" tIns="12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59"/>
            </a:p>
          </p:txBody>
        </p:sp>
        <p:grpSp>
          <p:nvGrpSpPr>
            <p:cNvPr id="395" name="Google Shape;395;p32"/>
            <p:cNvGrpSpPr/>
            <p:nvPr/>
          </p:nvGrpSpPr>
          <p:grpSpPr>
            <a:xfrm>
              <a:off x="4072400" y="1375220"/>
              <a:ext cx="2965128" cy="1909830"/>
              <a:chOff x="1962575" y="2035820"/>
              <a:chExt cx="2965128" cy="1909830"/>
            </a:xfrm>
          </p:grpSpPr>
          <p:sp>
            <p:nvSpPr>
              <p:cNvPr id="396" name="Google Shape;396;p32"/>
              <p:cNvSpPr/>
              <p:nvPr/>
            </p:nvSpPr>
            <p:spPr>
              <a:xfrm rot="-2192774">
                <a:off x="4316357" y="2219720"/>
                <a:ext cx="647890" cy="90900"/>
              </a:xfrm>
              <a:prstGeom prst="rect">
                <a:avLst/>
              </a:prstGeom>
              <a:solidFill>
                <a:schemeClr val="lt2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1604664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sp>
            <p:nvSpPr>
              <p:cNvPr id="397" name="Google Shape;397;p32"/>
              <p:cNvSpPr/>
              <p:nvPr/>
            </p:nvSpPr>
            <p:spPr>
              <a:xfrm rot="-1183704">
                <a:off x="3268002" y="2624944"/>
                <a:ext cx="1147345" cy="90912"/>
              </a:xfrm>
              <a:prstGeom prst="rect">
                <a:avLst/>
              </a:prstGeom>
              <a:solidFill>
                <a:schemeClr val="lt2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1604664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cxnSp>
            <p:nvCxnSpPr>
              <p:cNvPr id="398" name="Google Shape;398;p32"/>
              <p:cNvCxnSpPr/>
              <p:nvPr/>
            </p:nvCxnSpPr>
            <p:spPr>
              <a:xfrm>
                <a:off x="2319775" y="2223650"/>
                <a:ext cx="0" cy="1623600"/>
              </a:xfrm>
              <a:prstGeom prst="straightConnector1">
                <a:avLst/>
              </a:prstGeom>
              <a:noFill/>
              <a:ln cap="flat" cmpd="sng" w="12650">
                <a:solidFill>
                  <a:schemeClr val="dk1"/>
                </a:solidFill>
                <a:prstDash val="solid"/>
                <a:round/>
                <a:headEnd len="med" w="med" type="stealth"/>
                <a:tailEnd len="med" w="med" type="none"/>
              </a:ln>
            </p:spPr>
          </p:cxnSp>
          <p:cxnSp>
            <p:nvCxnSpPr>
              <p:cNvPr id="399" name="Google Shape;399;p32"/>
              <p:cNvCxnSpPr/>
              <p:nvPr/>
            </p:nvCxnSpPr>
            <p:spPr>
              <a:xfrm>
                <a:off x="1962575" y="3606950"/>
                <a:ext cx="2597700" cy="0"/>
              </a:xfrm>
              <a:prstGeom prst="straightConnector1">
                <a:avLst/>
              </a:prstGeom>
              <a:noFill/>
              <a:ln cap="flat" cmpd="sng" w="126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400" name="Google Shape;400;p32"/>
              <p:cNvSpPr/>
              <p:nvPr/>
            </p:nvSpPr>
            <p:spPr>
              <a:xfrm rot="-2194086">
                <a:off x="2231448" y="3175547"/>
                <a:ext cx="1173256" cy="90900"/>
              </a:xfrm>
              <a:prstGeom prst="rect">
                <a:avLst/>
              </a:prstGeom>
              <a:solidFill>
                <a:schemeClr val="lt2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sp>
            <p:nvSpPr>
              <p:cNvPr id="401" name="Google Shape;401;p32"/>
              <p:cNvSpPr/>
              <p:nvPr/>
            </p:nvSpPr>
            <p:spPr>
              <a:xfrm>
                <a:off x="3204450" y="2759900"/>
                <a:ext cx="207900" cy="207900"/>
              </a:xfrm>
              <a:prstGeom prst="ellipse">
                <a:avLst/>
              </a:prstGeom>
              <a:solidFill>
                <a:srgbClr val="999999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75899" rotWithShape="0" algn="bl" dir="5400000" dist="2530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sp>
            <p:nvSpPr>
              <p:cNvPr id="402" name="Google Shape;402;p32"/>
              <p:cNvSpPr/>
              <p:nvPr/>
            </p:nvSpPr>
            <p:spPr>
              <a:xfrm>
                <a:off x="2215825" y="3503000"/>
                <a:ext cx="207900" cy="207900"/>
              </a:xfrm>
              <a:prstGeom prst="ellipse">
                <a:avLst/>
              </a:prstGeom>
              <a:solidFill>
                <a:srgbClr val="999999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75899" rotWithShape="0" algn="bl" dir="5400000" dist="2530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sp>
            <p:nvSpPr>
              <p:cNvPr id="403" name="Google Shape;403;p32"/>
              <p:cNvSpPr/>
              <p:nvPr/>
            </p:nvSpPr>
            <p:spPr>
              <a:xfrm>
                <a:off x="4271650" y="2363850"/>
                <a:ext cx="207900" cy="207900"/>
              </a:xfrm>
              <a:prstGeom prst="ellipse">
                <a:avLst/>
              </a:prstGeom>
              <a:solidFill>
                <a:srgbClr val="999999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75899" rotWithShape="0" algn="bl" dir="5400000" dist="2530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sp>
            <p:nvSpPr>
              <p:cNvPr id="404" name="Google Shape;404;p32"/>
              <p:cNvSpPr txBox="1"/>
              <p:nvPr/>
            </p:nvSpPr>
            <p:spPr>
              <a:xfrm>
                <a:off x="4352900" y="3606950"/>
                <a:ext cx="3132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21425" lIns="121425" spcFirstLastPara="1" rIns="121425" wrap="square" tIns="12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28">
                    <a:solidFill>
                      <a:schemeClr val="dk2"/>
                    </a:solidFill>
                  </a:rPr>
                  <a:t>X</a:t>
                </a:r>
                <a:endParaRPr sz="1328">
                  <a:solidFill>
                    <a:schemeClr val="dk2"/>
                  </a:solidFill>
                </a:endParaRPr>
              </a:p>
            </p:txBody>
          </p:sp>
          <p:sp>
            <p:nvSpPr>
              <p:cNvPr id="405" name="Google Shape;405;p32"/>
              <p:cNvSpPr txBox="1"/>
              <p:nvPr/>
            </p:nvSpPr>
            <p:spPr>
              <a:xfrm>
                <a:off x="2006575" y="2142988"/>
                <a:ext cx="3132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21425" lIns="121425" spcFirstLastPara="1" rIns="121425" wrap="square" tIns="12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28">
                    <a:solidFill>
                      <a:schemeClr val="dk2"/>
                    </a:solidFill>
                  </a:rPr>
                  <a:t>Y</a:t>
                </a:r>
                <a:endParaRPr sz="1328">
                  <a:solidFill>
                    <a:schemeClr val="dk2"/>
                  </a:solidFill>
                </a:endParaRPr>
              </a:p>
            </p:txBody>
          </p:sp>
        </p:grpSp>
        <p:sp>
          <p:nvSpPr>
            <p:cNvPr id="406" name="Google Shape;406;p32"/>
            <p:cNvSpPr txBox="1"/>
            <p:nvPr/>
          </p:nvSpPr>
          <p:spPr>
            <a:xfrm>
              <a:off x="4772034" y="2645641"/>
              <a:ext cx="383400" cy="3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26">
                  <a:solidFill>
                    <a:srgbClr val="4472C4"/>
                  </a:solidFill>
                </a:rPr>
                <a:t>θ</a:t>
              </a:r>
              <a:r>
                <a:rPr baseline="-25000" lang="en" sz="1226">
                  <a:solidFill>
                    <a:srgbClr val="4472C4"/>
                  </a:solidFill>
                </a:rPr>
                <a:t>1</a:t>
              </a:r>
              <a:endParaRPr baseline="-25000" sz="1226">
                <a:solidFill>
                  <a:srgbClr val="4472C4"/>
                </a:solidFill>
              </a:endParaRPr>
            </a:p>
          </p:txBody>
        </p:sp>
        <p:sp>
          <p:nvSpPr>
            <p:cNvPr id="407" name="Google Shape;407;p32"/>
            <p:cNvSpPr txBox="1"/>
            <p:nvPr/>
          </p:nvSpPr>
          <p:spPr>
            <a:xfrm>
              <a:off x="6018188" y="1600797"/>
              <a:ext cx="350700" cy="3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26">
                  <a:solidFill>
                    <a:srgbClr val="4472C4"/>
                  </a:solidFill>
                </a:rPr>
                <a:t>θ</a:t>
              </a:r>
              <a:r>
                <a:rPr baseline="-25000" lang="en" sz="1226">
                  <a:solidFill>
                    <a:srgbClr val="4472C4"/>
                  </a:solidFill>
                </a:rPr>
                <a:t>2</a:t>
              </a:r>
              <a:endParaRPr baseline="-25000" sz="1226">
                <a:solidFill>
                  <a:srgbClr val="4472C4"/>
                </a:solidFill>
              </a:endParaRPr>
            </a:p>
          </p:txBody>
        </p:sp>
        <p:sp>
          <p:nvSpPr>
            <p:cNvPr id="408" name="Google Shape;408;p32"/>
            <p:cNvSpPr txBox="1"/>
            <p:nvPr/>
          </p:nvSpPr>
          <p:spPr>
            <a:xfrm>
              <a:off x="6958200" y="1319504"/>
              <a:ext cx="290100" cy="3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26">
                  <a:solidFill>
                    <a:srgbClr val="4472C4"/>
                  </a:solidFill>
                </a:rPr>
                <a:t>θ</a:t>
              </a:r>
              <a:r>
                <a:rPr baseline="-25000" lang="en" sz="1226">
                  <a:solidFill>
                    <a:srgbClr val="4472C4"/>
                  </a:solidFill>
                </a:rPr>
                <a:t>3</a:t>
              </a:r>
              <a:endParaRPr baseline="-25000" sz="1226">
                <a:solidFill>
                  <a:srgbClr val="4472C4"/>
                </a:solidFill>
              </a:endParaRPr>
            </a:p>
          </p:txBody>
        </p:sp>
        <p:sp>
          <p:nvSpPr>
            <p:cNvPr id="409" name="Google Shape;409;p32"/>
            <p:cNvSpPr txBox="1"/>
            <p:nvPr/>
          </p:nvSpPr>
          <p:spPr>
            <a:xfrm>
              <a:off x="4572000" y="2232300"/>
              <a:ext cx="383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94">
                  <a:solidFill>
                    <a:srgbClr val="4472C4"/>
                  </a:solidFill>
                </a:rPr>
                <a:t>L</a:t>
              </a:r>
              <a:r>
                <a:rPr baseline="-25000" lang="en" sz="1594">
                  <a:solidFill>
                    <a:srgbClr val="4472C4"/>
                  </a:solidFill>
                </a:rPr>
                <a:t>1</a:t>
              </a:r>
              <a:endParaRPr baseline="-25000" sz="1594">
                <a:solidFill>
                  <a:srgbClr val="4472C4"/>
                </a:solidFill>
              </a:endParaRPr>
            </a:p>
          </p:txBody>
        </p:sp>
        <p:sp>
          <p:nvSpPr>
            <p:cNvPr id="410" name="Google Shape;410;p32"/>
            <p:cNvSpPr txBox="1"/>
            <p:nvPr/>
          </p:nvSpPr>
          <p:spPr>
            <a:xfrm>
              <a:off x="6491450" y="1277203"/>
              <a:ext cx="383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94">
                  <a:solidFill>
                    <a:srgbClr val="4472C4"/>
                  </a:solidFill>
                </a:rPr>
                <a:t>L</a:t>
              </a:r>
              <a:r>
                <a:rPr baseline="-25000" lang="en" sz="1594">
                  <a:solidFill>
                    <a:srgbClr val="4472C4"/>
                  </a:solidFill>
                </a:rPr>
                <a:t>3</a:t>
              </a:r>
              <a:endParaRPr baseline="-25000" sz="1594">
                <a:solidFill>
                  <a:srgbClr val="4472C4"/>
                </a:solidFill>
              </a:endParaRPr>
            </a:p>
          </p:txBody>
        </p:sp>
        <p:sp>
          <p:nvSpPr>
            <p:cNvPr id="411" name="Google Shape;411;p32"/>
            <p:cNvSpPr txBox="1"/>
            <p:nvPr/>
          </p:nvSpPr>
          <p:spPr>
            <a:xfrm>
              <a:off x="5865362" y="1937900"/>
              <a:ext cx="383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94">
                  <a:solidFill>
                    <a:srgbClr val="4472C4"/>
                  </a:solidFill>
                </a:rPr>
                <a:t>L</a:t>
              </a:r>
              <a:r>
                <a:rPr baseline="-25000" lang="en" sz="1594">
                  <a:solidFill>
                    <a:srgbClr val="4472C4"/>
                  </a:solidFill>
                </a:rPr>
                <a:t>2</a:t>
              </a:r>
              <a:endParaRPr baseline="-25000" sz="1594">
                <a:solidFill>
                  <a:srgbClr val="4472C4"/>
                </a:solidFill>
              </a:endParaRPr>
            </a:p>
          </p:txBody>
        </p:sp>
      </p:grpSp>
      <p:sp>
        <p:nvSpPr>
          <p:cNvPr id="412" name="Google Shape;412;p32"/>
          <p:cNvSpPr txBox="1"/>
          <p:nvPr/>
        </p:nvSpPr>
        <p:spPr>
          <a:xfrm>
            <a:off x="5960760" y="4058700"/>
            <a:ext cx="198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3R Planar Robot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13" name="Google Shape;413;p32"/>
          <p:cNvSpPr txBox="1"/>
          <p:nvPr/>
        </p:nvSpPr>
        <p:spPr>
          <a:xfrm>
            <a:off x="311700" y="1562200"/>
            <a:ext cx="44967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Let’s say, angles are given with respect to previous link’s length across [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joint angle: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DH parameter (more details are coming in DH part)]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we compare this with the previous figures, these angles are different.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modify the previous equations if we want to convert this to the earlier format.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2"/>
          <p:cNvSpPr txBox="1"/>
          <p:nvPr/>
        </p:nvSpPr>
        <p:spPr>
          <a:xfrm>
            <a:off x="8384050" y="1132025"/>
            <a:ext cx="94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 (x,y)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415" name="Google Shape;415;p32"/>
          <p:cNvCxnSpPr/>
          <p:nvPr/>
        </p:nvCxnSpPr>
        <p:spPr>
          <a:xfrm flipH="1" rot="10800000">
            <a:off x="5506483" y="1728089"/>
            <a:ext cx="2397600" cy="17811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16" name="Google Shape;416;p32"/>
          <p:cNvCxnSpPr/>
          <p:nvPr/>
        </p:nvCxnSpPr>
        <p:spPr>
          <a:xfrm flipH="1" rot="10800000">
            <a:off x="6856475" y="1807950"/>
            <a:ext cx="2122500" cy="7638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17" name="Google Shape;417;p32"/>
          <p:cNvSpPr/>
          <p:nvPr/>
        </p:nvSpPr>
        <p:spPr>
          <a:xfrm rot="6725779">
            <a:off x="7245978" y="2001636"/>
            <a:ext cx="378824" cy="376426"/>
          </a:xfrm>
          <a:prstGeom prst="arc">
            <a:avLst>
              <a:gd fmla="val 10796059" name="adj1"/>
              <a:gd fmla="val 15521597" name="adj2"/>
            </a:avLst>
          </a:prstGeom>
          <a:noFill/>
          <a:ln cap="flat" cmpd="sng" w="12650">
            <a:solidFill>
              <a:srgbClr val="FF0000"/>
            </a:solidFill>
            <a:prstDash val="solid"/>
            <a:round/>
            <a:headEnd len="sm" w="sm" type="none"/>
            <a:tailEnd len="sm" w="sm" type="stealth"/>
          </a:ln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sp>
        <p:nvSpPr>
          <p:cNvPr id="418" name="Google Shape;418;p32"/>
          <p:cNvSpPr/>
          <p:nvPr/>
        </p:nvSpPr>
        <p:spPr>
          <a:xfrm rot="6725779">
            <a:off x="8502728" y="1659836"/>
            <a:ext cx="378824" cy="376426"/>
          </a:xfrm>
          <a:prstGeom prst="arc">
            <a:avLst>
              <a:gd fmla="val 11460563" name="adj1"/>
              <a:gd fmla="val 14622369" name="adj2"/>
            </a:avLst>
          </a:prstGeom>
          <a:noFill/>
          <a:ln cap="flat" cmpd="sng" w="12650">
            <a:solidFill>
              <a:srgbClr val="FF0000"/>
            </a:solidFill>
            <a:prstDash val="solid"/>
            <a:round/>
            <a:headEnd len="sm" w="sm" type="stealth"/>
            <a:tailEnd len="sm" w="sm" type="none"/>
          </a:ln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0000"/>
              </a:lnSpc>
              <a:spcBef>
                <a:spcPts val="4200"/>
              </a:spcBef>
              <a:spcAft>
                <a:spcPts val="0"/>
              </a:spcAft>
              <a:buNone/>
            </a:pPr>
            <a:r>
              <a:rPr lang="en" sz="265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Forward Kinematics using Trigonometry [Extension]</a:t>
            </a:r>
            <a:endParaRPr sz="265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4" name="Google Shape;424;p33"/>
          <p:cNvGrpSpPr/>
          <p:nvPr/>
        </p:nvGrpSpPr>
        <p:grpSpPr>
          <a:xfrm>
            <a:off x="4926458" y="1392274"/>
            <a:ext cx="4217595" cy="2666421"/>
            <a:chOff x="4072400" y="1277203"/>
            <a:chExt cx="3175900" cy="2007847"/>
          </a:xfrm>
        </p:grpSpPr>
        <p:sp>
          <p:nvSpPr>
            <p:cNvPr id="425" name="Google Shape;425;p33"/>
            <p:cNvSpPr/>
            <p:nvPr/>
          </p:nvSpPr>
          <p:spPr>
            <a:xfrm rot="7625992">
              <a:off x="5121748" y="1873864"/>
              <a:ext cx="523204" cy="610384"/>
            </a:xfrm>
            <a:prstGeom prst="arc">
              <a:avLst>
                <a:gd fmla="val 13632365" name="adj1"/>
                <a:gd fmla="val 0" name="adj2"/>
              </a:avLst>
            </a:prstGeom>
            <a:noFill/>
            <a:ln cap="flat" cmpd="sng" w="12650">
              <a:solidFill>
                <a:schemeClr val="accent5"/>
              </a:solidFill>
              <a:prstDash val="solid"/>
              <a:round/>
              <a:headEnd len="sm" w="sm" type="stealth"/>
              <a:tailEnd len="sm" w="sm" type="none"/>
            </a:ln>
          </p:spPr>
          <p:txBody>
            <a:bodyPr anchorCtr="0" anchor="ctr" bIns="121425" lIns="121425" spcFirstLastPara="1" rIns="121425" wrap="square" tIns="12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59"/>
            </a:p>
          </p:txBody>
        </p:sp>
        <p:sp>
          <p:nvSpPr>
            <p:cNvPr id="426" name="Google Shape;426;p33"/>
            <p:cNvSpPr/>
            <p:nvPr/>
          </p:nvSpPr>
          <p:spPr>
            <a:xfrm rot="1516218">
              <a:off x="4548045" y="2721182"/>
              <a:ext cx="290942" cy="321136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12650">
              <a:solidFill>
                <a:srgbClr val="FF0000"/>
              </a:solidFill>
              <a:prstDash val="solid"/>
              <a:round/>
              <a:headEnd len="sm" w="sm" type="stealth"/>
              <a:tailEnd len="sm" w="sm" type="none"/>
            </a:ln>
          </p:spPr>
          <p:txBody>
            <a:bodyPr anchorCtr="0" anchor="ctr" bIns="121425" lIns="121425" spcFirstLastPara="1" rIns="121425" wrap="square" tIns="12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59"/>
            </a:p>
          </p:txBody>
        </p:sp>
        <p:grpSp>
          <p:nvGrpSpPr>
            <p:cNvPr id="427" name="Google Shape;427;p33"/>
            <p:cNvGrpSpPr/>
            <p:nvPr/>
          </p:nvGrpSpPr>
          <p:grpSpPr>
            <a:xfrm>
              <a:off x="4072400" y="1375220"/>
              <a:ext cx="2965128" cy="1909830"/>
              <a:chOff x="1962575" y="2035820"/>
              <a:chExt cx="2965128" cy="1909830"/>
            </a:xfrm>
          </p:grpSpPr>
          <p:sp>
            <p:nvSpPr>
              <p:cNvPr id="428" name="Google Shape;428;p33"/>
              <p:cNvSpPr/>
              <p:nvPr/>
            </p:nvSpPr>
            <p:spPr>
              <a:xfrm rot="-2192774">
                <a:off x="4316357" y="2219720"/>
                <a:ext cx="647890" cy="90900"/>
              </a:xfrm>
              <a:prstGeom prst="rect">
                <a:avLst/>
              </a:prstGeom>
              <a:solidFill>
                <a:schemeClr val="lt2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1604664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sp>
            <p:nvSpPr>
              <p:cNvPr id="429" name="Google Shape;429;p33"/>
              <p:cNvSpPr/>
              <p:nvPr/>
            </p:nvSpPr>
            <p:spPr>
              <a:xfrm rot="-1183704">
                <a:off x="3268002" y="2624944"/>
                <a:ext cx="1147345" cy="90912"/>
              </a:xfrm>
              <a:prstGeom prst="rect">
                <a:avLst/>
              </a:prstGeom>
              <a:solidFill>
                <a:schemeClr val="lt2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1604664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cxnSp>
            <p:nvCxnSpPr>
              <p:cNvPr id="430" name="Google Shape;430;p33"/>
              <p:cNvCxnSpPr/>
              <p:nvPr/>
            </p:nvCxnSpPr>
            <p:spPr>
              <a:xfrm>
                <a:off x="2319775" y="2223650"/>
                <a:ext cx="0" cy="1623600"/>
              </a:xfrm>
              <a:prstGeom prst="straightConnector1">
                <a:avLst/>
              </a:prstGeom>
              <a:noFill/>
              <a:ln cap="flat" cmpd="sng" w="12650">
                <a:solidFill>
                  <a:schemeClr val="dk1"/>
                </a:solidFill>
                <a:prstDash val="solid"/>
                <a:round/>
                <a:headEnd len="med" w="med" type="stealth"/>
                <a:tailEnd len="med" w="med" type="none"/>
              </a:ln>
            </p:spPr>
          </p:cxnSp>
          <p:cxnSp>
            <p:nvCxnSpPr>
              <p:cNvPr id="431" name="Google Shape;431;p33"/>
              <p:cNvCxnSpPr/>
              <p:nvPr/>
            </p:nvCxnSpPr>
            <p:spPr>
              <a:xfrm>
                <a:off x="1962575" y="3606950"/>
                <a:ext cx="2597700" cy="0"/>
              </a:xfrm>
              <a:prstGeom prst="straightConnector1">
                <a:avLst/>
              </a:prstGeom>
              <a:noFill/>
              <a:ln cap="flat" cmpd="sng" w="126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432" name="Google Shape;432;p33"/>
              <p:cNvSpPr/>
              <p:nvPr/>
            </p:nvSpPr>
            <p:spPr>
              <a:xfrm rot="-2194086">
                <a:off x="2231448" y="3175547"/>
                <a:ext cx="1173256" cy="90900"/>
              </a:xfrm>
              <a:prstGeom prst="rect">
                <a:avLst/>
              </a:prstGeom>
              <a:solidFill>
                <a:schemeClr val="lt2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sp>
            <p:nvSpPr>
              <p:cNvPr id="433" name="Google Shape;433;p33"/>
              <p:cNvSpPr/>
              <p:nvPr/>
            </p:nvSpPr>
            <p:spPr>
              <a:xfrm>
                <a:off x="3204450" y="2759900"/>
                <a:ext cx="207900" cy="207900"/>
              </a:xfrm>
              <a:prstGeom prst="ellipse">
                <a:avLst/>
              </a:prstGeom>
              <a:solidFill>
                <a:srgbClr val="999999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75899" rotWithShape="0" algn="bl" dir="5400000" dist="2530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sp>
            <p:nvSpPr>
              <p:cNvPr id="434" name="Google Shape;434;p33"/>
              <p:cNvSpPr/>
              <p:nvPr/>
            </p:nvSpPr>
            <p:spPr>
              <a:xfrm>
                <a:off x="2215825" y="3503000"/>
                <a:ext cx="207900" cy="207900"/>
              </a:xfrm>
              <a:prstGeom prst="ellipse">
                <a:avLst/>
              </a:prstGeom>
              <a:solidFill>
                <a:srgbClr val="999999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75899" rotWithShape="0" algn="bl" dir="5400000" dist="2530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sp>
            <p:nvSpPr>
              <p:cNvPr id="435" name="Google Shape;435;p33"/>
              <p:cNvSpPr/>
              <p:nvPr/>
            </p:nvSpPr>
            <p:spPr>
              <a:xfrm>
                <a:off x="4271650" y="2363850"/>
                <a:ext cx="207900" cy="207900"/>
              </a:xfrm>
              <a:prstGeom prst="ellipse">
                <a:avLst/>
              </a:prstGeom>
              <a:solidFill>
                <a:srgbClr val="999999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75899" rotWithShape="0" algn="bl" dir="5400000" dist="2530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sp>
            <p:nvSpPr>
              <p:cNvPr id="436" name="Google Shape;436;p33"/>
              <p:cNvSpPr txBox="1"/>
              <p:nvPr/>
            </p:nvSpPr>
            <p:spPr>
              <a:xfrm>
                <a:off x="4352900" y="3606950"/>
                <a:ext cx="3132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21425" lIns="121425" spcFirstLastPara="1" rIns="121425" wrap="square" tIns="12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28">
                    <a:solidFill>
                      <a:schemeClr val="dk2"/>
                    </a:solidFill>
                  </a:rPr>
                  <a:t>X</a:t>
                </a:r>
                <a:endParaRPr sz="1328">
                  <a:solidFill>
                    <a:schemeClr val="dk2"/>
                  </a:solidFill>
                </a:endParaRPr>
              </a:p>
            </p:txBody>
          </p:sp>
          <p:sp>
            <p:nvSpPr>
              <p:cNvPr id="437" name="Google Shape;437;p33"/>
              <p:cNvSpPr txBox="1"/>
              <p:nvPr/>
            </p:nvSpPr>
            <p:spPr>
              <a:xfrm>
                <a:off x="2006575" y="2142988"/>
                <a:ext cx="3132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21425" lIns="121425" spcFirstLastPara="1" rIns="121425" wrap="square" tIns="12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28">
                    <a:solidFill>
                      <a:schemeClr val="dk2"/>
                    </a:solidFill>
                  </a:rPr>
                  <a:t>Y</a:t>
                </a:r>
                <a:endParaRPr sz="1328">
                  <a:solidFill>
                    <a:schemeClr val="dk2"/>
                  </a:solidFill>
                </a:endParaRPr>
              </a:p>
            </p:txBody>
          </p:sp>
        </p:grpSp>
        <p:sp>
          <p:nvSpPr>
            <p:cNvPr id="438" name="Google Shape;438;p33"/>
            <p:cNvSpPr/>
            <p:nvPr/>
          </p:nvSpPr>
          <p:spPr>
            <a:xfrm rot="9089130">
              <a:off x="6227184" y="1541804"/>
              <a:ext cx="571870" cy="559109"/>
            </a:xfrm>
            <a:prstGeom prst="arc">
              <a:avLst>
                <a:gd fmla="val 10468460" name="adj1"/>
                <a:gd fmla="val 0" name="adj2"/>
              </a:avLst>
            </a:prstGeom>
            <a:noFill/>
            <a:ln cap="flat" cmpd="sng" w="12650">
              <a:solidFill>
                <a:schemeClr val="accent5"/>
              </a:solidFill>
              <a:prstDash val="solid"/>
              <a:round/>
              <a:headEnd len="sm" w="sm" type="stealth"/>
              <a:tailEnd len="sm" w="sm" type="none"/>
            </a:ln>
          </p:spPr>
          <p:txBody>
            <a:bodyPr anchorCtr="0" anchor="ctr" bIns="121425" lIns="121425" spcFirstLastPara="1" rIns="121425" wrap="square" tIns="12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59"/>
            </a:p>
          </p:txBody>
        </p:sp>
        <p:sp>
          <p:nvSpPr>
            <p:cNvPr id="439" name="Google Shape;439;p33"/>
            <p:cNvSpPr txBox="1"/>
            <p:nvPr/>
          </p:nvSpPr>
          <p:spPr>
            <a:xfrm>
              <a:off x="4778329" y="2660901"/>
              <a:ext cx="383400" cy="3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26">
                  <a:solidFill>
                    <a:srgbClr val="4472C4"/>
                  </a:solidFill>
                </a:rPr>
                <a:t>θ</a:t>
              </a:r>
              <a:r>
                <a:rPr baseline="-25000" lang="en" sz="1226">
                  <a:solidFill>
                    <a:srgbClr val="4472C4"/>
                  </a:solidFill>
                </a:rPr>
                <a:t>1</a:t>
              </a:r>
              <a:endParaRPr baseline="-25000" sz="1226">
                <a:solidFill>
                  <a:srgbClr val="4472C4"/>
                </a:solidFill>
              </a:endParaRPr>
            </a:p>
          </p:txBody>
        </p:sp>
        <p:sp>
          <p:nvSpPr>
            <p:cNvPr id="440" name="Google Shape;440;p33"/>
            <p:cNvSpPr txBox="1"/>
            <p:nvPr/>
          </p:nvSpPr>
          <p:spPr>
            <a:xfrm>
              <a:off x="6024479" y="1600797"/>
              <a:ext cx="350700" cy="3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26">
                  <a:solidFill>
                    <a:srgbClr val="4472C4"/>
                  </a:solidFill>
                </a:rPr>
                <a:t>θ</a:t>
              </a:r>
              <a:r>
                <a:rPr baseline="-25000" lang="en" sz="1226">
                  <a:solidFill>
                    <a:srgbClr val="4472C4"/>
                  </a:solidFill>
                </a:rPr>
                <a:t>2</a:t>
              </a:r>
              <a:endParaRPr baseline="-25000" sz="1226">
                <a:solidFill>
                  <a:srgbClr val="4472C4"/>
                </a:solidFill>
              </a:endParaRPr>
            </a:p>
          </p:txBody>
        </p:sp>
        <p:sp>
          <p:nvSpPr>
            <p:cNvPr id="441" name="Google Shape;441;p33"/>
            <p:cNvSpPr txBox="1"/>
            <p:nvPr/>
          </p:nvSpPr>
          <p:spPr>
            <a:xfrm>
              <a:off x="6958200" y="1319504"/>
              <a:ext cx="290100" cy="3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26">
                  <a:solidFill>
                    <a:srgbClr val="4472C4"/>
                  </a:solidFill>
                </a:rPr>
                <a:t>θ</a:t>
              </a:r>
              <a:r>
                <a:rPr baseline="-25000" lang="en" sz="1226">
                  <a:solidFill>
                    <a:srgbClr val="4472C4"/>
                  </a:solidFill>
                </a:rPr>
                <a:t>3</a:t>
              </a:r>
              <a:endParaRPr baseline="-25000" sz="1226">
                <a:solidFill>
                  <a:srgbClr val="4472C4"/>
                </a:solidFill>
              </a:endParaRPr>
            </a:p>
          </p:txBody>
        </p:sp>
        <p:sp>
          <p:nvSpPr>
            <p:cNvPr id="442" name="Google Shape;442;p33"/>
            <p:cNvSpPr txBox="1"/>
            <p:nvPr/>
          </p:nvSpPr>
          <p:spPr>
            <a:xfrm>
              <a:off x="4572000" y="2232300"/>
              <a:ext cx="383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94">
                  <a:solidFill>
                    <a:srgbClr val="4472C4"/>
                  </a:solidFill>
                </a:rPr>
                <a:t>L</a:t>
              </a:r>
              <a:r>
                <a:rPr baseline="-25000" lang="en" sz="1594">
                  <a:solidFill>
                    <a:srgbClr val="4472C4"/>
                  </a:solidFill>
                </a:rPr>
                <a:t>1</a:t>
              </a:r>
              <a:endParaRPr baseline="-25000" sz="1594">
                <a:solidFill>
                  <a:srgbClr val="4472C4"/>
                </a:solidFill>
              </a:endParaRPr>
            </a:p>
          </p:txBody>
        </p:sp>
        <p:sp>
          <p:nvSpPr>
            <p:cNvPr id="443" name="Google Shape;443;p33"/>
            <p:cNvSpPr txBox="1"/>
            <p:nvPr/>
          </p:nvSpPr>
          <p:spPr>
            <a:xfrm>
              <a:off x="6491450" y="1277203"/>
              <a:ext cx="383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94">
                  <a:solidFill>
                    <a:srgbClr val="4472C4"/>
                  </a:solidFill>
                </a:rPr>
                <a:t>L</a:t>
              </a:r>
              <a:r>
                <a:rPr baseline="-25000" lang="en" sz="1594">
                  <a:solidFill>
                    <a:srgbClr val="4472C4"/>
                  </a:solidFill>
                </a:rPr>
                <a:t>3</a:t>
              </a:r>
              <a:endParaRPr baseline="-25000" sz="1594">
                <a:solidFill>
                  <a:srgbClr val="4472C4"/>
                </a:solidFill>
              </a:endParaRPr>
            </a:p>
          </p:txBody>
        </p:sp>
        <p:sp>
          <p:nvSpPr>
            <p:cNvPr id="444" name="Google Shape;444;p33"/>
            <p:cNvSpPr txBox="1"/>
            <p:nvPr/>
          </p:nvSpPr>
          <p:spPr>
            <a:xfrm>
              <a:off x="5865362" y="1937900"/>
              <a:ext cx="383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94">
                  <a:solidFill>
                    <a:srgbClr val="4472C4"/>
                  </a:solidFill>
                </a:rPr>
                <a:t>L</a:t>
              </a:r>
              <a:r>
                <a:rPr baseline="-25000" lang="en" sz="1594">
                  <a:solidFill>
                    <a:srgbClr val="4472C4"/>
                  </a:solidFill>
                </a:rPr>
                <a:t>2</a:t>
              </a:r>
              <a:endParaRPr baseline="-25000" sz="1594">
                <a:solidFill>
                  <a:srgbClr val="4472C4"/>
                </a:solidFill>
              </a:endParaRPr>
            </a:p>
          </p:txBody>
        </p:sp>
      </p:grpSp>
      <p:sp>
        <p:nvSpPr>
          <p:cNvPr id="445" name="Google Shape;445;p33"/>
          <p:cNvSpPr txBox="1"/>
          <p:nvPr/>
        </p:nvSpPr>
        <p:spPr>
          <a:xfrm>
            <a:off x="5960760" y="4058700"/>
            <a:ext cx="198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3R Planar Robot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46" name="Google Shape;446;p33"/>
          <p:cNvSpPr txBox="1"/>
          <p:nvPr/>
        </p:nvSpPr>
        <p:spPr>
          <a:xfrm>
            <a:off x="487275" y="1000800"/>
            <a:ext cx="414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47" name="Google Shape;447;p33"/>
          <p:cNvSpPr txBox="1"/>
          <p:nvPr/>
        </p:nvSpPr>
        <p:spPr>
          <a:xfrm>
            <a:off x="8384050" y="1132025"/>
            <a:ext cx="94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 (x,y)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448" name="Google Shape;448;p33"/>
          <p:cNvCxnSpPr/>
          <p:nvPr/>
        </p:nvCxnSpPr>
        <p:spPr>
          <a:xfrm flipH="1" rot="10800000">
            <a:off x="5506483" y="1728089"/>
            <a:ext cx="2397600" cy="17811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49" name="Google Shape;449;p33"/>
          <p:cNvCxnSpPr/>
          <p:nvPr/>
        </p:nvCxnSpPr>
        <p:spPr>
          <a:xfrm flipH="1" rot="10800000">
            <a:off x="6856475" y="1807950"/>
            <a:ext cx="2122500" cy="7638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50" name="Google Shape;450;p33"/>
          <p:cNvSpPr/>
          <p:nvPr/>
        </p:nvSpPr>
        <p:spPr>
          <a:xfrm rot="6725779">
            <a:off x="7245978" y="2001636"/>
            <a:ext cx="378824" cy="376426"/>
          </a:xfrm>
          <a:prstGeom prst="arc">
            <a:avLst>
              <a:gd fmla="val 10796059" name="adj1"/>
              <a:gd fmla="val 15521597" name="adj2"/>
            </a:avLst>
          </a:prstGeom>
          <a:noFill/>
          <a:ln cap="flat" cmpd="sng" w="12650">
            <a:solidFill>
              <a:srgbClr val="FF0000"/>
            </a:solidFill>
            <a:prstDash val="solid"/>
            <a:round/>
            <a:headEnd len="sm" w="sm" type="none"/>
            <a:tailEnd len="sm" w="sm" type="stealth"/>
          </a:ln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sp>
        <p:nvSpPr>
          <p:cNvPr id="451" name="Google Shape;451;p33"/>
          <p:cNvSpPr/>
          <p:nvPr/>
        </p:nvSpPr>
        <p:spPr>
          <a:xfrm rot="6725779">
            <a:off x="8502728" y="1659836"/>
            <a:ext cx="378824" cy="376426"/>
          </a:xfrm>
          <a:prstGeom prst="arc">
            <a:avLst>
              <a:gd fmla="val 11460563" name="adj1"/>
              <a:gd fmla="val 14622369" name="adj2"/>
            </a:avLst>
          </a:prstGeom>
          <a:noFill/>
          <a:ln cap="flat" cmpd="sng" w="12650">
            <a:solidFill>
              <a:srgbClr val="FF0000"/>
            </a:solidFill>
            <a:prstDash val="solid"/>
            <a:round/>
            <a:headEnd len="sm" w="sm" type="stealth"/>
            <a:tailEnd len="sm" w="sm" type="none"/>
          </a:ln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sp>
        <p:nvSpPr>
          <p:cNvPr id="452" name="Google Shape;452;p33"/>
          <p:cNvSpPr txBox="1"/>
          <p:nvPr/>
        </p:nvSpPr>
        <p:spPr>
          <a:xfrm>
            <a:off x="6698143" y="2795724"/>
            <a:ext cx="5091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26">
                <a:solidFill>
                  <a:srgbClr val="C00000"/>
                </a:solidFill>
              </a:rPr>
              <a:t>θ</a:t>
            </a:r>
            <a:r>
              <a:rPr baseline="-25000" lang="en" sz="1226">
                <a:solidFill>
                  <a:srgbClr val="C00000"/>
                </a:solidFill>
              </a:rPr>
              <a:t>2</a:t>
            </a:r>
            <a:r>
              <a:rPr lang="en" sz="1226">
                <a:solidFill>
                  <a:srgbClr val="C00000"/>
                </a:solidFill>
              </a:rPr>
              <a:t>’</a:t>
            </a:r>
            <a:endParaRPr sz="1226">
              <a:solidFill>
                <a:srgbClr val="C00000"/>
              </a:solidFill>
            </a:endParaRPr>
          </a:p>
        </p:txBody>
      </p:sp>
      <p:sp>
        <p:nvSpPr>
          <p:cNvPr id="453" name="Google Shape;453;p33"/>
          <p:cNvSpPr txBox="1"/>
          <p:nvPr/>
        </p:nvSpPr>
        <p:spPr>
          <a:xfrm>
            <a:off x="8282793" y="2275799"/>
            <a:ext cx="5091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26">
                <a:solidFill>
                  <a:srgbClr val="C00000"/>
                </a:solidFill>
              </a:rPr>
              <a:t>θ</a:t>
            </a:r>
            <a:r>
              <a:rPr baseline="-25000" lang="en" sz="1226">
                <a:solidFill>
                  <a:srgbClr val="C00000"/>
                </a:solidFill>
              </a:rPr>
              <a:t>3</a:t>
            </a:r>
            <a:r>
              <a:rPr lang="en" sz="1226">
                <a:solidFill>
                  <a:srgbClr val="C00000"/>
                </a:solidFill>
              </a:rPr>
              <a:t>’</a:t>
            </a:r>
            <a:endParaRPr sz="1226">
              <a:solidFill>
                <a:srgbClr val="C00000"/>
              </a:solidFill>
            </a:endParaRPr>
          </a:p>
        </p:txBody>
      </p:sp>
      <p:sp>
        <p:nvSpPr>
          <p:cNvPr id="454" name="Google Shape;454;p33"/>
          <p:cNvSpPr txBox="1"/>
          <p:nvPr/>
        </p:nvSpPr>
        <p:spPr>
          <a:xfrm>
            <a:off x="311700" y="1216725"/>
            <a:ext cx="3465600" cy="12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Here,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’ = 180 + (-θ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​) [as 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CW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’ = 180 + (+θ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​[as 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CCW]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3"/>
          <p:cNvSpPr txBox="1"/>
          <p:nvPr/>
        </p:nvSpPr>
        <p:spPr>
          <a:xfrm>
            <a:off x="311700" y="2619325"/>
            <a:ext cx="4439100" cy="12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we plug these into the previous equation, we get: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 = L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​cosθ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​+ L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​cos(θ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+ L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cos(θ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L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sin⁡θ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L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sin⁡(θ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+ L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sin(θ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3"/>
          <p:cNvSpPr txBox="1"/>
          <p:nvPr/>
        </p:nvSpPr>
        <p:spPr>
          <a:xfrm>
            <a:off x="0" y="459000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notice that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 is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(+)ve,  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(-)ve,  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(+)ve. In the DH parameter we will define these angles, </a:t>
            </a:r>
            <a:r>
              <a:rPr b="1" lang="en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JOINT ANGLE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0000"/>
              </a:lnSpc>
              <a:spcBef>
                <a:spcPts val="4200"/>
              </a:spcBef>
              <a:spcAft>
                <a:spcPts val="0"/>
              </a:spcAft>
              <a:buNone/>
            </a:pPr>
            <a:r>
              <a:rPr lang="en" sz="265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Forward Kinematics using Trigonometry</a:t>
            </a:r>
            <a:endParaRPr sz="265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4"/>
          <p:cNvSpPr txBox="1"/>
          <p:nvPr/>
        </p:nvSpPr>
        <p:spPr>
          <a:xfrm>
            <a:off x="1060950" y="4079558"/>
            <a:ext cx="70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manipulator operates only in a single plane, does not operate in the 3 axis altogether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3" name="Google Shape;463;p34"/>
          <p:cNvGrpSpPr/>
          <p:nvPr/>
        </p:nvGrpSpPr>
        <p:grpSpPr>
          <a:xfrm>
            <a:off x="2382408" y="1078388"/>
            <a:ext cx="4379192" cy="2919645"/>
            <a:chOff x="4926458" y="1139050"/>
            <a:chExt cx="4379192" cy="2919645"/>
          </a:xfrm>
        </p:grpSpPr>
        <p:grpSp>
          <p:nvGrpSpPr>
            <p:cNvPr id="464" name="Google Shape;464;p34"/>
            <p:cNvGrpSpPr/>
            <p:nvPr/>
          </p:nvGrpSpPr>
          <p:grpSpPr>
            <a:xfrm>
              <a:off x="4926458" y="1424574"/>
              <a:ext cx="4052525" cy="2634121"/>
              <a:chOff x="4072400" y="1301525"/>
              <a:chExt cx="3051600" cy="1983525"/>
            </a:xfrm>
          </p:grpSpPr>
          <p:sp>
            <p:nvSpPr>
              <p:cNvPr id="465" name="Google Shape;465;p34"/>
              <p:cNvSpPr/>
              <p:nvPr/>
            </p:nvSpPr>
            <p:spPr>
              <a:xfrm rot="7625992">
                <a:off x="5121748" y="1873864"/>
                <a:ext cx="523204" cy="610384"/>
              </a:xfrm>
              <a:prstGeom prst="arc">
                <a:avLst>
                  <a:gd fmla="val 13632365" name="adj1"/>
                  <a:gd fmla="val 0" name="adj2"/>
                </a:avLst>
              </a:prstGeom>
              <a:noFill/>
              <a:ln cap="flat" cmpd="sng" w="12650">
                <a:solidFill>
                  <a:srgbClr val="FF0000"/>
                </a:solidFill>
                <a:prstDash val="solid"/>
                <a:round/>
                <a:headEnd len="sm" w="sm" type="stealth"/>
                <a:tailEnd len="sm" w="sm" type="none"/>
              </a:ln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sp>
            <p:nvSpPr>
              <p:cNvPr id="466" name="Google Shape;466;p34"/>
              <p:cNvSpPr/>
              <p:nvPr/>
            </p:nvSpPr>
            <p:spPr>
              <a:xfrm rot="1516218">
                <a:off x="4548045" y="2721182"/>
                <a:ext cx="290942" cy="321136"/>
              </a:xfrm>
              <a:prstGeom prst="arc">
                <a:avLst>
                  <a:gd fmla="val 16200000" name="adj1"/>
                  <a:gd fmla="val 0" name="adj2"/>
                </a:avLst>
              </a:prstGeom>
              <a:noFill/>
              <a:ln cap="flat" cmpd="sng" w="12650">
                <a:solidFill>
                  <a:srgbClr val="FF0000"/>
                </a:solidFill>
                <a:prstDash val="solid"/>
                <a:round/>
                <a:headEnd len="sm" w="sm" type="stealth"/>
                <a:tailEnd len="sm" w="sm" type="none"/>
              </a:ln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grpSp>
            <p:nvGrpSpPr>
              <p:cNvPr id="467" name="Google Shape;467;p34"/>
              <p:cNvGrpSpPr/>
              <p:nvPr/>
            </p:nvGrpSpPr>
            <p:grpSpPr>
              <a:xfrm>
                <a:off x="4072400" y="1375220"/>
                <a:ext cx="2965128" cy="1909830"/>
                <a:chOff x="1962575" y="2035820"/>
                <a:chExt cx="2965128" cy="1909830"/>
              </a:xfrm>
            </p:grpSpPr>
            <p:sp>
              <p:nvSpPr>
                <p:cNvPr id="468" name="Google Shape;468;p34"/>
                <p:cNvSpPr/>
                <p:nvPr/>
              </p:nvSpPr>
              <p:spPr>
                <a:xfrm rot="-2192774">
                  <a:off x="4316357" y="2219720"/>
                  <a:ext cx="647890" cy="90900"/>
                </a:xfrm>
                <a:prstGeom prst="rect">
                  <a:avLst/>
                </a:prstGeom>
                <a:solidFill>
                  <a:schemeClr val="lt2"/>
                </a:solidFill>
                <a:ln cap="flat" cmpd="sng" w="126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121425" lIns="121425" spcFirstLastPara="1" rIns="121425" wrap="square" tIns="121425">
                  <a:noAutofit/>
                </a:bodyPr>
                <a:lstStyle/>
                <a:p>
                  <a:pPr indent="0" lvl="0" marL="1604664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59"/>
                </a:p>
              </p:txBody>
            </p:sp>
            <p:sp>
              <p:nvSpPr>
                <p:cNvPr id="469" name="Google Shape;469;p34"/>
                <p:cNvSpPr/>
                <p:nvPr/>
              </p:nvSpPr>
              <p:spPr>
                <a:xfrm rot="-1183704">
                  <a:off x="3268002" y="2624944"/>
                  <a:ext cx="1147345" cy="90912"/>
                </a:xfrm>
                <a:prstGeom prst="rect">
                  <a:avLst/>
                </a:prstGeom>
                <a:solidFill>
                  <a:schemeClr val="lt2"/>
                </a:solidFill>
                <a:ln cap="flat" cmpd="sng" w="126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121425" lIns="121425" spcFirstLastPara="1" rIns="121425" wrap="square" tIns="121425">
                  <a:noAutofit/>
                </a:bodyPr>
                <a:lstStyle/>
                <a:p>
                  <a:pPr indent="0" lvl="0" marL="1604664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59"/>
                </a:p>
              </p:txBody>
            </p:sp>
            <p:cxnSp>
              <p:nvCxnSpPr>
                <p:cNvPr id="470" name="Google Shape;470;p34"/>
                <p:cNvCxnSpPr/>
                <p:nvPr/>
              </p:nvCxnSpPr>
              <p:spPr>
                <a:xfrm>
                  <a:off x="2319775" y="2223650"/>
                  <a:ext cx="0" cy="1623600"/>
                </a:xfrm>
                <a:prstGeom prst="straightConnector1">
                  <a:avLst/>
                </a:prstGeom>
                <a:noFill/>
                <a:ln cap="flat" cmpd="sng" w="12650">
                  <a:solidFill>
                    <a:schemeClr val="dk1"/>
                  </a:solidFill>
                  <a:prstDash val="solid"/>
                  <a:round/>
                  <a:headEnd len="med" w="med" type="stealth"/>
                  <a:tailEnd len="med" w="med" type="none"/>
                </a:ln>
              </p:spPr>
            </p:cxnSp>
            <p:cxnSp>
              <p:nvCxnSpPr>
                <p:cNvPr id="471" name="Google Shape;471;p34"/>
                <p:cNvCxnSpPr/>
                <p:nvPr/>
              </p:nvCxnSpPr>
              <p:spPr>
                <a:xfrm>
                  <a:off x="1962575" y="3606950"/>
                  <a:ext cx="2597700" cy="0"/>
                </a:xfrm>
                <a:prstGeom prst="straightConnector1">
                  <a:avLst/>
                </a:prstGeom>
                <a:noFill/>
                <a:ln cap="flat" cmpd="sng" w="126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stealth"/>
                </a:ln>
              </p:spPr>
            </p:cxnSp>
            <p:sp>
              <p:nvSpPr>
                <p:cNvPr id="472" name="Google Shape;472;p34"/>
                <p:cNvSpPr/>
                <p:nvPr/>
              </p:nvSpPr>
              <p:spPr>
                <a:xfrm rot="-2194086">
                  <a:off x="2231448" y="3175547"/>
                  <a:ext cx="1173256" cy="90900"/>
                </a:xfrm>
                <a:prstGeom prst="rect">
                  <a:avLst/>
                </a:prstGeom>
                <a:solidFill>
                  <a:schemeClr val="lt2"/>
                </a:solidFill>
                <a:ln cap="flat" cmpd="sng" w="126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121425" lIns="121425" spcFirstLastPara="1" rIns="121425" wrap="square" tIns="12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59"/>
                </a:p>
              </p:txBody>
            </p:sp>
            <p:sp>
              <p:nvSpPr>
                <p:cNvPr id="473" name="Google Shape;473;p34"/>
                <p:cNvSpPr/>
                <p:nvPr/>
              </p:nvSpPr>
              <p:spPr>
                <a:xfrm>
                  <a:off x="3204450" y="2759900"/>
                  <a:ext cx="207900" cy="207900"/>
                </a:xfrm>
                <a:prstGeom prst="ellipse">
                  <a:avLst/>
                </a:prstGeom>
                <a:solidFill>
                  <a:srgbClr val="999999"/>
                </a:solidFill>
                <a:ln cap="flat" cmpd="sng" w="126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75899" rotWithShape="0" algn="bl" dir="5400000" dist="25300">
                    <a:srgbClr val="000000">
                      <a:alpha val="50000"/>
                    </a:srgbClr>
                  </a:outerShdw>
                </a:effectLst>
              </p:spPr>
              <p:txBody>
                <a:bodyPr anchorCtr="0" anchor="ctr" bIns="121425" lIns="121425" spcFirstLastPara="1" rIns="121425" wrap="square" tIns="12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59"/>
                </a:p>
              </p:txBody>
            </p:sp>
            <p:sp>
              <p:nvSpPr>
                <p:cNvPr id="474" name="Google Shape;474;p34"/>
                <p:cNvSpPr/>
                <p:nvPr/>
              </p:nvSpPr>
              <p:spPr>
                <a:xfrm>
                  <a:off x="2215825" y="3503000"/>
                  <a:ext cx="207900" cy="207900"/>
                </a:xfrm>
                <a:prstGeom prst="ellipse">
                  <a:avLst/>
                </a:prstGeom>
                <a:solidFill>
                  <a:srgbClr val="999999"/>
                </a:solidFill>
                <a:ln cap="flat" cmpd="sng" w="126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75899" rotWithShape="0" algn="bl" dir="5400000" dist="25300">
                    <a:srgbClr val="000000">
                      <a:alpha val="50000"/>
                    </a:srgbClr>
                  </a:outerShdw>
                </a:effectLst>
              </p:spPr>
              <p:txBody>
                <a:bodyPr anchorCtr="0" anchor="ctr" bIns="121425" lIns="121425" spcFirstLastPara="1" rIns="121425" wrap="square" tIns="12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59"/>
                </a:p>
              </p:txBody>
            </p:sp>
            <p:sp>
              <p:nvSpPr>
                <p:cNvPr id="475" name="Google Shape;475;p34"/>
                <p:cNvSpPr/>
                <p:nvPr/>
              </p:nvSpPr>
              <p:spPr>
                <a:xfrm>
                  <a:off x="4271650" y="2363850"/>
                  <a:ext cx="207900" cy="207900"/>
                </a:xfrm>
                <a:prstGeom prst="ellipse">
                  <a:avLst/>
                </a:prstGeom>
                <a:solidFill>
                  <a:srgbClr val="999999"/>
                </a:solidFill>
                <a:ln cap="flat" cmpd="sng" w="126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75899" rotWithShape="0" algn="bl" dir="5400000" dist="25300">
                    <a:srgbClr val="000000">
                      <a:alpha val="50000"/>
                    </a:srgbClr>
                  </a:outerShdw>
                </a:effectLst>
              </p:spPr>
              <p:txBody>
                <a:bodyPr anchorCtr="0" anchor="ctr" bIns="121425" lIns="121425" spcFirstLastPara="1" rIns="121425" wrap="square" tIns="12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59"/>
                </a:p>
              </p:txBody>
            </p:sp>
            <p:sp>
              <p:nvSpPr>
                <p:cNvPr id="476" name="Google Shape;476;p34"/>
                <p:cNvSpPr txBox="1"/>
                <p:nvPr/>
              </p:nvSpPr>
              <p:spPr>
                <a:xfrm>
                  <a:off x="4352900" y="3606950"/>
                  <a:ext cx="3132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21425" lIns="121425" spcFirstLastPara="1" rIns="121425" wrap="square" tIns="121425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328">
                      <a:solidFill>
                        <a:schemeClr val="dk2"/>
                      </a:solidFill>
                    </a:rPr>
                    <a:t>X</a:t>
                  </a:r>
                  <a:endParaRPr sz="1328">
                    <a:solidFill>
                      <a:schemeClr val="dk2"/>
                    </a:solidFill>
                  </a:endParaRPr>
                </a:p>
              </p:txBody>
            </p:sp>
            <p:sp>
              <p:nvSpPr>
                <p:cNvPr id="477" name="Google Shape;477;p34"/>
                <p:cNvSpPr txBox="1"/>
                <p:nvPr/>
              </p:nvSpPr>
              <p:spPr>
                <a:xfrm>
                  <a:off x="2006575" y="2142988"/>
                  <a:ext cx="3132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21425" lIns="121425" spcFirstLastPara="1" rIns="121425" wrap="square" tIns="121425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328">
                      <a:solidFill>
                        <a:schemeClr val="dk2"/>
                      </a:solidFill>
                    </a:rPr>
                    <a:t>Y</a:t>
                  </a:r>
                  <a:endParaRPr sz="1328">
                    <a:solidFill>
                      <a:schemeClr val="dk2"/>
                    </a:solidFill>
                  </a:endParaRPr>
                </a:p>
              </p:txBody>
            </p:sp>
          </p:grpSp>
          <p:sp>
            <p:nvSpPr>
              <p:cNvPr id="478" name="Google Shape;478;p34"/>
              <p:cNvSpPr/>
              <p:nvPr/>
            </p:nvSpPr>
            <p:spPr>
              <a:xfrm rot="9089130">
                <a:off x="6227184" y="1541804"/>
                <a:ext cx="571870" cy="559109"/>
              </a:xfrm>
              <a:prstGeom prst="arc">
                <a:avLst>
                  <a:gd fmla="val 10471906" name="adj1"/>
                  <a:gd fmla="val 0" name="adj2"/>
                </a:avLst>
              </a:prstGeom>
              <a:noFill/>
              <a:ln cap="flat" cmpd="sng" w="12650">
                <a:solidFill>
                  <a:srgbClr val="FF0000"/>
                </a:solidFill>
                <a:prstDash val="solid"/>
                <a:round/>
                <a:headEnd len="sm" w="sm" type="stealth"/>
                <a:tailEnd len="sm" w="sm" type="none"/>
              </a:ln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sp>
            <p:nvSpPr>
              <p:cNvPr id="479" name="Google Shape;479;p34"/>
              <p:cNvSpPr txBox="1"/>
              <p:nvPr/>
            </p:nvSpPr>
            <p:spPr>
              <a:xfrm>
                <a:off x="4797200" y="2601600"/>
                <a:ext cx="383400" cy="38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21425" lIns="121425" spcFirstLastPara="1" rIns="121425" wrap="square" tIns="12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26">
                    <a:solidFill>
                      <a:srgbClr val="4472C4"/>
                    </a:solidFill>
                  </a:rPr>
                  <a:t>θ</a:t>
                </a:r>
                <a:r>
                  <a:rPr baseline="-25000" lang="en" sz="1726">
                    <a:solidFill>
                      <a:srgbClr val="4472C4"/>
                    </a:solidFill>
                  </a:rPr>
                  <a:t>1</a:t>
                </a:r>
                <a:endParaRPr baseline="-25000" sz="1726">
                  <a:solidFill>
                    <a:srgbClr val="4472C4"/>
                  </a:solidFill>
                </a:endParaRPr>
              </a:p>
            </p:txBody>
          </p:sp>
          <p:sp>
            <p:nvSpPr>
              <p:cNvPr id="480" name="Google Shape;480;p34"/>
              <p:cNvSpPr txBox="1"/>
              <p:nvPr/>
            </p:nvSpPr>
            <p:spPr>
              <a:xfrm>
                <a:off x="5615600" y="2137688"/>
                <a:ext cx="383400" cy="38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21425" lIns="121425" spcFirstLastPara="1" rIns="121425" wrap="square" tIns="12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26">
                    <a:solidFill>
                      <a:srgbClr val="4472C4"/>
                    </a:solidFill>
                  </a:rPr>
                  <a:t>θ</a:t>
                </a:r>
                <a:r>
                  <a:rPr baseline="-25000" lang="en" sz="1726">
                    <a:solidFill>
                      <a:srgbClr val="4472C4"/>
                    </a:solidFill>
                  </a:rPr>
                  <a:t>2</a:t>
                </a:r>
                <a:endParaRPr baseline="-25000" sz="1726">
                  <a:solidFill>
                    <a:srgbClr val="4472C4"/>
                  </a:solidFill>
                </a:endParaRPr>
              </a:p>
            </p:txBody>
          </p:sp>
          <p:sp>
            <p:nvSpPr>
              <p:cNvPr id="481" name="Google Shape;481;p34"/>
              <p:cNvSpPr txBox="1"/>
              <p:nvPr/>
            </p:nvSpPr>
            <p:spPr>
              <a:xfrm>
                <a:off x="6740600" y="1646500"/>
                <a:ext cx="383400" cy="38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21425" lIns="121425" spcFirstLastPara="1" rIns="121425" wrap="square" tIns="12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26">
                    <a:solidFill>
                      <a:srgbClr val="4472C4"/>
                    </a:solidFill>
                  </a:rPr>
                  <a:t>θ</a:t>
                </a:r>
                <a:r>
                  <a:rPr baseline="-25000" lang="en" sz="1726">
                    <a:solidFill>
                      <a:srgbClr val="4472C4"/>
                    </a:solidFill>
                  </a:rPr>
                  <a:t>3</a:t>
                </a:r>
                <a:endParaRPr baseline="-25000" sz="1726">
                  <a:solidFill>
                    <a:srgbClr val="4472C4"/>
                  </a:solidFill>
                </a:endParaRPr>
              </a:p>
            </p:txBody>
          </p:sp>
          <p:sp>
            <p:nvSpPr>
              <p:cNvPr id="482" name="Google Shape;482;p34"/>
              <p:cNvSpPr txBox="1"/>
              <p:nvPr/>
            </p:nvSpPr>
            <p:spPr>
              <a:xfrm>
                <a:off x="4572000" y="2232300"/>
                <a:ext cx="3834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21425" lIns="121425" spcFirstLastPara="1" rIns="121425" wrap="square" tIns="12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94">
                    <a:solidFill>
                      <a:srgbClr val="4472C4"/>
                    </a:solidFill>
                  </a:rPr>
                  <a:t>L</a:t>
                </a:r>
                <a:r>
                  <a:rPr baseline="-25000" lang="en" sz="1594">
                    <a:solidFill>
                      <a:srgbClr val="4472C4"/>
                    </a:solidFill>
                  </a:rPr>
                  <a:t>1</a:t>
                </a:r>
                <a:endParaRPr baseline="-25000" sz="1594">
                  <a:solidFill>
                    <a:srgbClr val="4472C4"/>
                  </a:solidFill>
                </a:endParaRPr>
              </a:p>
            </p:txBody>
          </p:sp>
          <p:sp>
            <p:nvSpPr>
              <p:cNvPr id="483" name="Google Shape;483;p34"/>
              <p:cNvSpPr txBox="1"/>
              <p:nvPr/>
            </p:nvSpPr>
            <p:spPr>
              <a:xfrm>
                <a:off x="6435125" y="1301525"/>
                <a:ext cx="3834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21425" lIns="121425" spcFirstLastPara="1" rIns="121425" wrap="square" tIns="12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94">
                    <a:solidFill>
                      <a:srgbClr val="4472C4"/>
                    </a:solidFill>
                  </a:rPr>
                  <a:t>L</a:t>
                </a:r>
                <a:r>
                  <a:rPr baseline="-25000" lang="en" sz="1594">
                    <a:solidFill>
                      <a:srgbClr val="4472C4"/>
                    </a:solidFill>
                  </a:rPr>
                  <a:t>3</a:t>
                </a:r>
                <a:endParaRPr baseline="-25000" sz="1594">
                  <a:solidFill>
                    <a:srgbClr val="4472C4"/>
                  </a:solidFill>
                </a:endParaRPr>
              </a:p>
            </p:txBody>
          </p:sp>
          <p:sp>
            <p:nvSpPr>
              <p:cNvPr id="484" name="Google Shape;484;p34"/>
              <p:cNvSpPr txBox="1"/>
              <p:nvPr/>
            </p:nvSpPr>
            <p:spPr>
              <a:xfrm>
                <a:off x="5660900" y="1670825"/>
                <a:ext cx="3834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21425" lIns="121425" spcFirstLastPara="1" rIns="121425" wrap="square" tIns="12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94">
                    <a:solidFill>
                      <a:srgbClr val="4472C4"/>
                    </a:solidFill>
                  </a:rPr>
                  <a:t>L</a:t>
                </a:r>
                <a:r>
                  <a:rPr baseline="-25000" lang="en" sz="1594">
                    <a:solidFill>
                      <a:srgbClr val="4472C4"/>
                    </a:solidFill>
                  </a:rPr>
                  <a:t>2</a:t>
                </a:r>
                <a:endParaRPr baseline="-25000" sz="1594">
                  <a:solidFill>
                    <a:srgbClr val="4472C4"/>
                  </a:solidFill>
                </a:endParaRPr>
              </a:p>
            </p:txBody>
          </p:sp>
        </p:grpSp>
        <p:sp>
          <p:nvSpPr>
            <p:cNvPr id="485" name="Google Shape;485;p34"/>
            <p:cNvSpPr txBox="1"/>
            <p:nvPr/>
          </p:nvSpPr>
          <p:spPr>
            <a:xfrm>
              <a:off x="8363050" y="1139050"/>
              <a:ext cx="942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</a:rPr>
                <a:t>P (x,y)</a:t>
              </a:r>
              <a:endParaRPr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0000"/>
              </a:lnSpc>
              <a:spcBef>
                <a:spcPts val="4200"/>
              </a:spcBef>
              <a:spcAft>
                <a:spcPts val="1700"/>
              </a:spcAft>
              <a:buNone/>
            </a:pPr>
            <a:r>
              <a:rPr lang="en" sz="265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3R Planar Robot (3D)</a:t>
            </a:r>
            <a:endParaRPr/>
          </a:p>
        </p:txBody>
      </p:sp>
      <p:grpSp>
        <p:nvGrpSpPr>
          <p:cNvPr id="491" name="Google Shape;491;p35"/>
          <p:cNvGrpSpPr/>
          <p:nvPr/>
        </p:nvGrpSpPr>
        <p:grpSpPr>
          <a:xfrm>
            <a:off x="4422826" y="776625"/>
            <a:ext cx="4042719" cy="3590253"/>
            <a:chOff x="1949651" y="939575"/>
            <a:chExt cx="4042719" cy="3590253"/>
          </a:xfrm>
        </p:grpSpPr>
        <p:sp>
          <p:nvSpPr>
            <p:cNvPr id="492" name="Google Shape;492;p35"/>
            <p:cNvSpPr/>
            <p:nvPr/>
          </p:nvSpPr>
          <p:spPr>
            <a:xfrm rot="-2696320">
              <a:off x="4223002" y="1788936"/>
              <a:ext cx="990869" cy="137037"/>
            </a:xfrm>
            <a:prstGeom prst="rect">
              <a:avLst/>
            </a:prstGeom>
            <a:solidFill>
              <a:schemeClr val="lt2"/>
            </a:solidFill>
            <a:ln cap="flat" cmpd="sng" w="143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7700" lIns="137700" spcFirstLastPara="1" rIns="137700" wrap="square" tIns="137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8"/>
            </a:p>
          </p:txBody>
        </p:sp>
        <p:sp>
          <p:nvSpPr>
            <p:cNvPr id="493" name="Google Shape;493;p35"/>
            <p:cNvSpPr/>
            <p:nvPr/>
          </p:nvSpPr>
          <p:spPr>
            <a:xfrm>
              <a:off x="2575388" y="2778300"/>
              <a:ext cx="812100" cy="978300"/>
            </a:xfrm>
            <a:prstGeom prst="can">
              <a:avLst>
                <a:gd fmla="val 38881" name="adj"/>
              </a:avLst>
            </a:prstGeom>
            <a:solidFill>
              <a:srgbClr val="888888"/>
            </a:solidFill>
            <a:ln cap="flat" cmpd="sng" w="108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4810" rotWithShape="0" algn="bl" dir="5400000" dist="21603">
                <a:srgbClr val="000000">
                  <a:alpha val="50000"/>
                </a:srgbClr>
              </a:outerShdw>
            </a:effectLst>
          </p:spPr>
          <p:txBody>
            <a:bodyPr anchorCtr="0" anchor="ctr" bIns="103675" lIns="103675" spcFirstLastPara="1" rIns="103675" wrap="square" tIns="103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8"/>
            </a:p>
          </p:txBody>
        </p:sp>
        <p:sp>
          <p:nvSpPr>
            <p:cNvPr id="494" name="Google Shape;494;p35"/>
            <p:cNvSpPr/>
            <p:nvPr/>
          </p:nvSpPr>
          <p:spPr>
            <a:xfrm rot="1517077">
              <a:off x="3314993" y="2643068"/>
              <a:ext cx="438289" cy="483652"/>
            </a:xfrm>
            <a:prstGeom prst="arc">
              <a:avLst>
                <a:gd fmla="val 16200000" name="adj1"/>
                <a:gd fmla="val 20489641" name="adj2"/>
              </a:avLst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stealth"/>
              <a:tailEnd len="sm" w="sm" type="none"/>
            </a:ln>
          </p:spPr>
          <p:txBody>
            <a:bodyPr anchorCtr="0" anchor="ctr" bIns="137700" lIns="137700" spcFirstLastPara="1" rIns="137700" wrap="square" tIns="137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8"/>
            </a:p>
          </p:txBody>
        </p:sp>
        <p:cxnSp>
          <p:nvCxnSpPr>
            <p:cNvPr id="495" name="Google Shape;495;p35"/>
            <p:cNvCxnSpPr/>
            <p:nvPr/>
          </p:nvCxnSpPr>
          <p:spPr>
            <a:xfrm>
              <a:off x="2984487" y="1089678"/>
              <a:ext cx="0" cy="2328300"/>
            </a:xfrm>
            <a:prstGeom prst="straightConnector1">
              <a:avLst/>
            </a:prstGeom>
            <a:noFill/>
            <a:ln cap="flat" cmpd="sng" w="14350">
              <a:solidFill>
                <a:schemeClr val="dk1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cxnSp>
          <p:nvCxnSpPr>
            <p:cNvPr id="496" name="Google Shape;496;p35"/>
            <p:cNvCxnSpPr/>
            <p:nvPr/>
          </p:nvCxnSpPr>
          <p:spPr>
            <a:xfrm>
              <a:off x="2978647" y="3416700"/>
              <a:ext cx="2644500" cy="0"/>
            </a:xfrm>
            <a:prstGeom prst="straightConnector1">
              <a:avLst/>
            </a:prstGeom>
            <a:noFill/>
            <a:ln cap="flat" cmpd="sng" w="14350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497" name="Google Shape;497;p35"/>
            <p:cNvSpPr/>
            <p:nvPr/>
          </p:nvSpPr>
          <p:spPr>
            <a:xfrm rot="-1532021">
              <a:off x="2912342" y="2498199"/>
              <a:ext cx="1513079" cy="137003"/>
            </a:xfrm>
            <a:prstGeom prst="rect">
              <a:avLst/>
            </a:prstGeom>
            <a:solidFill>
              <a:schemeClr val="lt2"/>
            </a:solidFill>
            <a:ln cap="flat" cmpd="sng" w="143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7700" lIns="137700" spcFirstLastPara="1" rIns="137700" wrap="square" tIns="137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8"/>
            </a:p>
          </p:txBody>
        </p:sp>
        <p:sp>
          <p:nvSpPr>
            <p:cNvPr id="498" name="Google Shape;498;p35"/>
            <p:cNvSpPr/>
            <p:nvPr/>
          </p:nvSpPr>
          <p:spPr>
            <a:xfrm>
              <a:off x="2861502" y="2778298"/>
              <a:ext cx="239700" cy="239700"/>
            </a:xfrm>
            <a:prstGeom prst="ellipse">
              <a:avLst/>
            </a:prstGeom>
            <a:solidFill>
              <a:schemeClr val="lt2"/>
            </a:solidFill>
            <a:ln cap="flat" cmpd="sng" w="143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86071" rotWithShape="0" algn="bl" dir="5400000" dist="28690">
                <a:srgbClr val="000000">
                  <a:alpha val="50000"/>
                </a:srgbClr>
              </a:outerShdw>
            </a:effectLst>
          </p:spPr>
          <p:txBody>
            <a:bodyPr anchorCtr="0" anchor="ctr" bIns="137700" lIns="137700" spcFirstLastPara="1" rIns="137700" wrap="square" tIns="137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8"/>
            </a:p>
          </p:txBody>
        </p:sp>
        <p:sp>
          <p:nvSpPr>
            <p:cNvPr id="499" name="Google Shape;499;p35"/>
            <p:cNvSpPr txBox="1"/>
            <p:nvPr/>
          </p:nvSpPr>
          <p:spPr>
            <a:xfrm>
              <a:off x="5244751" y="3382540"/>
              <a:ext cx="471600" cy="5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7700" lIns="137700" spcFirstLastPara="1" rIns="137700" wrap="square" tIns="1377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6">
                  <a:solidFill>
                    <a:schemeClr val="dk2"/>
                  </a:solidFill>
                </a:rPr>
                <a:t>X</a:t>
              </a:r>
              <a:endParaRPr sz="1506">
                <a:solidFill>
                  <a:schemeClr val="dk2"/>
                </a:solidFill>
              </a:endParaRPr>
            </a:p>
          </p:txBody>
        </p:sp>
        <p:sp>
          <p:nvSpPr>
            <p:cNvPr id="500" name="Google Shape;500;p35"/>
            <p:cNvSpPr txBox="1"/>
            <p:nvPr/>
          </p:nvSpPr>
          <p:spPr>
            <a:xfrm>
              <a:off x="2529960" y="1049020"/>
              <a:ext cx="471600" cy="5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7700" lIns="137700" spcFirstLastPara="1" rIns="137700" wrap="square" tIns="1377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6">
                  <a:solidFill>
                    <a:schemeClr val="dk2"/>
                  </a:solidFill>
                </a:rPr>
                <a:t>Z</a:t>
              </a:r>
              <a:endParaRPr sz="1506">
                <a:solidFill>
                  <a:schemeClr val="dk2"/>
                </a:solidFill>
              </a:endParaRPr>
            </a:p>
          </p:txBody>
        </p:sp>
        <p:sp>
          <p:nvSpPr>
            <p:cNvPr id="501" name="Google Shape;501;p35"/>
            <p:cNvSpPr/>
            <p:nvPr/>
          </p:nvSpPr>
          <p:spPr>
            <a:xfrm rot="9089001">
              <a:off x="3966846" y="1882160"/>
              <a:ext cx="760346" cy="743563"/>
            </a:xfrm>
            <a:prstGeom prst="arc">
              <a:avLst>
                <a:gd fmla="val 10351248" name="adj1"/>
                <a:gd fmla="val 21123469" name="adj2"/>
              </a:avLst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stealth"/>
              <a:tailEnd len="sm" w="sm" type="none"/>
            </a:ln>
          </p:spPr>
          <p:txBody>
            <a:bodyPr anchorCtr="0" anchor="ctr" bIns="137700" lIns="137700" spcFirstLastPara="1" rIns="137700" wrap="square" tIns="137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8"/>
            </a:p>
          </p:txBody>
        </p:sp>
        <p:sp>
          <p:nvSpPr>
            <p:cNvPr id="502" name="Google Shape;502;p35"/>
            <p:cNvSpPr txBox="1"/>
            <p:nvPr/>
          </p:nvSpPr>
          <p:spPr>
            <a:xfrm>
              <a:off x="3526103" y="3636204"/>
              <a:ext cx="577200" cy="5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7700" lIns="137700" spcFirstLastPara="1" rIns="137700" wrap="square" tIns="1377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4">
                  <a:solidFill>
                    <a:srgbClr val="4472C4"/>
                  </a:solidFill>
                </a:rPr>
                <a:t>θ</a:t>
              </a:r>
              <a:r>
                <a:rPr baseline="-25000" lang="en" sz="1504">
                  <a:solidFill>
                    <a:srgbClr val="4472C4"/>
                  </a:solidFill>
                </a:rPr>
                <a:t>1</a:t>
              </a:r>
              <a:endParaRPr baseline="-25000" sz="1504">
                <a:solidFill>
                  <a:srgbClr val="4472C4"/>
                </a:solidFill>
              </a:endParaRPr>
            </a:p>
          </p:txBody>
        </p:sp>
        <p:sp>
          <p:nvSpPr>
            <p:cNvPr id="503" name="Google Shape;503;p35"/>
            <p:cNvSpPr txBox="1"/>
            <p:nvPr/>
          </p:nvSpPr>
          <p:spPr>
            <a:xfrm>
              <a:off x="4667411" y="1962780"/>
              <a:ext cx="577200" cy="5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7700" lIns="137700" spcFirstLastPara="1" rIns="137700" wrap="square" tIns="1377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4">
                  <a:solidFill>
                    <a:srgbClr val="4472C4"/>
                  </a:solidFill>
                </a:rPr>
                <a:t>θ</a:t>
              </a:r>
              <a:r>
                <a:rPr baseline="-25000" lang="en" sz="1504">
                  <a:solidFill>
                    <a:srgbClr val="4472C4"/>
                  </a:solidFill>
                </a:rPr>
                <a:t>3</a:t>
              </a:r>
              <a:endParaRPr baseline="-25000" sz="1504">
                <a:solidFill>
                  <a:srgbClr val="4472C4"/>
                </a:solidFill>
              </a:endParaRPr>
            </a:p>
          </p:txBody>
        </p:sp>
        <p:sp>
          <p:nvSpPr>
            <p:cNvPr id="504" name="Google Shape;504;p35"/>
            <p:cNvSpPr txBox="1"/>
            <p:nvPr/>
          </p:nvSpPr>
          <p:spPr>
            <a:xfrm>
              <a:off x="2064371" y="2989406"/>
              <a:ext cx="577200" cy="5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7700" lIns="137700" spcFirstLastPara="1" rIns="137700" wrap="square" tIns="1377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7">
                  <a:solidFill>
                    <a:srgbClr val="4472C4"/>
                  </a:solidFill>
                </a:rPr>
                <a:t>h</a:t>
              </a:r>
              <a:endParaRPr baseline="-25000" sz="1807">
                <a:solidFill>
                  <a:srgbClr val="4472C4"/>
                </a:solidFill>
              </a:endParaRPr>
            </a:p>
          </p:txBody>
        </p:sp>
        <p:sp>
          <p:nvSpPr>
            <p:cNvPr id="505" name="Google Shape;505;p35"/>
            <p:cNvSpPr txBox="1"/>
            <p:nvPr/>
          </p:nvSpPr>
          <p:spPr>
            <a:xfrm>
              <a:off x="4260386" y="1297246"/>
              <a:ext cx="577200" cy="5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7700" lIns="137700" spcFirstLastPara="1" rIns="137700" wrap="square" tIns="1377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7">
                  <a:solidFill>
                    <a:srgbClr val="4472C4"/>
                  </a:solidFill>
                </a:rPr>
                <a:t>L</a:t>
              </a:r>
              <a:r>
                <a:rPr baseline="-25000" lang="en" sz="1807">
                  <a:solidFill>
                    <a:srgbClr val="4472C4"/>
                  </a:solidFill>
                </a:rPr>
                <a:t>3</a:t>
              </a:r>
              <a:endParaRPr baseline="-25000" sz="1807">
                <a:solidFill>
                  <a:srgbClr val="4472C4"/>
                </a:solidFill>
              </a:endParaRPr>
            </a:p>
          </p:txBody>
        </p:sp>
        <p:sp>
          <p:nvSpPr>
            <p:cNvPr id="506" name="Google Shape;506;p35"/>
            <p:cNvSpPr txBox="1"/>
            <p:nvPr/>
          </p:nvSpPr>
          <p:spPr>
            <a:xfrm>
              <a:off x="3363236" y="1962784"/>
              <a:ext cx="577200" cy="5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7700" lIns="137700" spcFirstLastPara="1" rIns="137700" wrap="square" tIns="1377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7">
                  <a:solidFill>
                    <a:srgbClr val="4472C4"/>
                  </a:solidFill>
                </a:rPr>
                <a:t>L</a:t>
              </a:r>
              <a:r>
                <a:rPr baseline="-25000" lang="en" sz="1807">
                  <a:solidFill>
                    <a:srgbClr val="4472C4"/>
                  </a:solidFill>
                </a:rPr>
                <a:t>2</a:t>
              </a:r>
              <a:endParaRPr baseline="-25000" sz="1807">
                <a:solidFill>
                  <a:srgbClr val="4472C4"/>
                </a:solidFill>
              </a:endParaRPr>
            </a:p>
          </p:txBody>
        </p:sp>
        <p:sp>
          <p:nvSpPr>
            <p:cNvPr id="507" name="Google Shape;507;p35"/>
            <p:cNvSpPr txBox="1"/>
            <p:nvPr/>
          </p:nvSpPr>
          <p:spPr>
            <a:xfrm>
              <a:off x="4923470" y="939575"/>
              <a:ext cx="1068900" cy="4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3675" lIns="103675" spcFirstLastPara="1" rIns="103675" wrap="square" tIns="1036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88">
                  <a:solidFill>
                    <a:schemeClr val="dk2"/>
                  </a:solidFill>
                </a:rPr>
                <a:t>P(x,y,z)</a:t>
              </a:r>
              <a:endParaRPr sz="1588">
                <a:solidFill>
                  <a:schemeClr val="dk2"/>
                </a:solidFill>
              </a:endParaRPr>
            </a:p>
          </p:txBody>
        </p:sp>
        <p:cxnSp>
          <p:nvCxnSpPr>
            <p:cNvPr id="508" name="Google Shape;508;p35"/>
            <p:cNvCxnSpPr/>
            <p:nvPr/>
          </p:nvCxnSpPr>
          <p:spPr>
            <a:xfrm flipH="1">
              <a:off x="1974780" y="3411229"/>
              <a:ext cx="1014300" cy="797400"/>
            </a:xfrm>
            <a:prstGeom prst="straightConnector1">
              <a:avLst/>
            </a:prstGeom>
            <a:noFill/>
            <a:ln cap="flat" cmpd="sng" w="14350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509" name="Google Shape;509;p35"/>
            <p:cNvSpPr/>
            <p:nvPr/>
          </p:nvSpPr>
          <p:spPr>
            <a:xfrm>
              <a:off x="4227094" y="2121002"/>
              <a:ext cx="239700" cy="239700"/>
            </a:xfrm>
            <a:prstGeom prst="ellipse">
              <a:avLst/>
            </a:prstGeom>
            <a:solidFill>
              <a:schemeClr val="lt2"/>
            </a:solidFill>
            <a:ln cap="flat" cmpd="sng" w="143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86071" rotWithShape="0" algn="bl" dir="5400000" dist="28690">
                <a:srgbClr val="000000">
                  <a:alpha val="50000"/>
                </a:srgbClr>
              </a:outerShdw>
            </a:effectLst>
          </p:spPr>
          <p:txBody>
            <a:bodyPr anchorCtr="0" anchor="ctr" bIns="137700" lIns="137700" spcFirstLastPara="1" rIns="137700" wrap="square" tIns="137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8"/>
            </a:p>
          </p:txBody>
        </p:sp>
        <p:sp>
          <p:nvSpPr>
            <p:cNvPr id="510" name="Google Shape;510;p35"/>
            <p:cNvSpPr/>
            <p:nvPr/>
          </p:nvSpPr>
          <p:spPr>
            <a:xfrm>
              <a:off x="4965060" y="1378187"/>
              <a:ext cx="239700" cy="239700"/>
            </a:xfrm>
            <a:prstGeom prst="ellipse">
              <a:avLst/>
            </a:prstGeom>
            <a:solidFill>
              <a:schemeClr val="lt2"/>
            </a:solidFill>
            <a:ln cap="flat" cmpd="sng" w="143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86071" rotWithShape="0" algn="bl" dir="5400000" dist="28690">
                <a:srgbClr val="000000">
                  <a:alpha val="50000"/>
                </a:srgbClr>
              </a:outerShdw>
            </a:effectLst>
          </p:spPr>
          <p:txBody>
            <a:bodyPr anchorCtr="0" anchor="ctr" bIns="137700" lIns="137700" spcFirstLastPara="1" rIns="137700" wrap="square" tIns="137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8"/>
            </a:p>
          </p:txBody>
        </p:sp>
        <p:cxnSp>
          <p:nvCxnSpPr>
            <p:cNvPr id="511" name="Google Shape;511;p35"/>
            <p:cNvCxnSpPr/>
            <p:nvPr/>
          </p:nvCxnSpPr>
          <p:spPr>
            <a:xfrm>
              <a:off x="2984487" y="2916495"/>
              <a:ext cx="1243200" cy="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512" name="Google Shape;512;p35"/>
            <p:cNvSpPr txBox="1"/>
            <p:nvPr/>
          </p:nvSpPr>
          <p:spPr>
            <a:xfrm>
              <a:off x="3649766" y="2494497"/>
              <a:ext cx="577200" cy="5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7700" lIns="137700" spcFirstLastPara="1" rIns="137700" wrap="square" tIns="1377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4">
                  <a:solidFill>
                    <a:srgbClr val="4472C4"/>
                  </a:solidFill>
                </a:rPr>
                <a:t>θ</a:t>
              </a:r>
              <a:r>
                <a:rPr baseline="-25000" lang="en" sz="1504">
                  <a:solidFill>
                    <a:srgbClr val="4472C4"/>
                  </a:solidFill>
                </a:rPr>
                <a:t>2</a:t>
              </a:r>
              <a:endParaRPr baseline="-25000" sz="1504">
                <a:solidFill>
                  <a:srgbClr val="4472C4"/>
                </a:solidFill>
              </a:endParaRPr>
            </a:p>
          </p:txBody>
        </p:sp>
        <p:sp>
          <p:nvSpPr>
            <p:cNvPr id="513" name="Google Shape;513;p35"/>
            <p:cNvSpPr/>
            <p:nvPr/>
          </p:nvSpPr>
          <p:spPr>
            <a:xfrm>
              <a:off x="2506695" y="3510201"/>
              <a:ext cx="1222763" cy="509648"/>
            </a:xfrm>
            <a:custGeom>
              <a:rect b="b" l="l" r="r" t="t"/>
              <a:pathLst>
                <a:path extrusionOk="0" h="23129" w="44012">
                  <a:moveTo>
                    <a:pt x="0" y="14945"/>
                  </a:moveTo>
                  <a:cubicBezTo>
                    <a:pt x="3681" y="23523"/>
                    <a:pt x="18562" y="24734"/>
                    <a:pt x="27261" y="21350"/>
                  </a:cubicBezTo>
                  <a:cubicBezTo>
                    <a:pt x="35691" y="18070"/>
                    <a:pt x="44012" y="9046"/>
                    <a:pt x="44012" y="0"/>
                  </a:cubicBezTo>
                </a:path>
              </a:pathLst>
            </a:custGeom>
            <a:noFill/>
            <a:ln cap="flat" cmpd="sng" w="2160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sp>
        <p:sp>
          <p:nvSpPr>
            <p:cNvPr id="514" name="Google Shape;514;p35"/>
            <p:cNvSpPr/>
            <p:nvPr/>
          </p:nvSpPr>
          <p:spPr>
            <a:xfrm>
              <a:off x="2361908" y="2879682"/>
              <a:ext cx="168000" cy="775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08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675" lIns="103675" spcFirstLastPara="1" rIns="103675" wrap="square" tIns="103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8"/>
            </a:p>
          </p:txBody>
        </p:sp>
        <p:sp>
          <p:nvSpPr>
            <p:cNvPr id="515" name="Google Shape;515;p35"/>
            <p:cNvSpPr txBox="1"/>
            <p:nvPr/>
          </p:nvSpPr>
          <p:spPr>
            <a:xfrm>
              <a:off x="1949651" y="4019829"/>
              <a:ext cx="471600" cy="5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7700" lIns="137700" spcFirstLastPara="1" rIns="137700" wrap="square" tIns="1377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6">
                  <a:solidFill>
                    <a:schemeClr val="dk2"/>
                  </a:solidFill>
                </a:rPr>
                <a:t>Y</a:t>
              </a:r>
              <a:endParaRPr sz="1506">
                <a:solidFill>
                  <a:schemeClr val="dk2"/>
                </a:solidFill>
              </a:endParaRPr>
            </a:p>
          </p:txBody>
        </p:sp>
      </p:grpSp>
      <p:sp>
        <p:nvSpPr>
          <p:cNvPr id="516" name="Google Shape;516;p35"/>
          <p:cNvSpPr txBox="1"/>
          <p:nvPr/>
        </p:nvSpPr>
        <p:spPr>
          <a:xfrm>
            <a:off x="311700" y="1214201"/>
            <a:ext cx="41112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figure 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illustrates a where the motion of the end-effector is not restricted to XY plane.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 base joint of this robot is configured differently, enabling rotation about a Z-axis. This modification allows the robot to access points in the </a:t>
            </a:r>
            <a:r>
              <a:rPr i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XYZ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-workspace.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Find the location of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P(x,y,z)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5"/>
          <p:cNvSpPr txBox="1"/>
          <p:nvPr/>
        </p:nvSpPr>
        <p:spPr>
          <a:xfrm>
            <a:off x="311700" y="3418400"/>
            <a:ext cx="41559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robot can be conceptually decomposed into: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joint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that provides azimuthal motion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planar 2R arm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mounted on the rotating base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2" name="Google Shape;522;p36"/>
          <p:cNvGrpSpPr/>
          <p:nvPr/>
        </p:nvGrpSpPr>
        <p:grpSpPr>
          <a:xfrm>
            <a:off x="4422826" y="776625"/>
            <a:ext cx="4042719" cy="3590253"/>
            <a:chOff x="1949651" y="939575"/>
            <a:chExt cx="4042719" cy="3590253"/>
          </a:xfrm>
        </p:grpSpPr>
        <p:sp>
          <p:nvSpPr>
            <p:cNvPr id="523" name="Google Shape;523;p36"/>
            <p:cNvSpPr/>
            <p:nvPr/>
          </p:nvSpPr>
          <p:spPr>
            <a:xfrm rot="-2696320">
              <a:off x="4223002" y="1788936"/>
              <a:ext cx="990869" cy="137037"/>
            </a:xfrm>
            <a:prstGeom prst="rect">
              <a:avLst/>
            </a:prstGeom>
            <a:solidFill>
              <a:schemeClr val="lt2"/>
            </a:solidFill>
            <a:ln cap="flat" cmpd="sng" w="143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7700" lIns="137700" spcFirstLastPara="1" rIns="137700" wrap="square" tIns="137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8"/>
            </a:p>
          </p:txBody>
        </p:sp>
        <p:sp>
          <p:nvSpPr>
            <p:cNvPr id="524" name="Google Shape;524;p36"/>
            <p:cNvSpPr/>
            <p:nvPr/>
          </p:nvSpPr>
          <p:spPr>
            <a:xfrm>
              <a:off x="2575388" y="2778300"/>
              <a:ext cx="812100" cy="978300"/>
            </a:xfrm>
            <a:prstGeom prst="can">
              <a:avLst>
                <a:gd fmla="val 38881" name="adj"/>
              </a:avLst>
            </a:prstGeom>
            <a:solidFill>
              <a:srgbClr val="888888"/>
            </a:solidFill>
            <a:ln cap="flat" cmpd="sng" w="108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4810" rotWithShape="0" algn="bl" dir="5400000" dist="21603">
                <a:srgbClr val="000000">
                  <a:alpha val="50000"/>
                </a:srgbClr>
              </a:outerShdw>
            </a:effectLst>
          </p:spPr>
          <p:txBody>
            <a:bodyPr anchorCtr="0" anchor="ctr" bIns="103675" lIns="103675" spcFirstLastPara="1" rIns="103675" wrap="square" tIns="103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8"/>
            </a:p>
          </p:txBody>
        </p:sp>
        <p:sp>
          <p:nvSpPr>
            <p:cNvPr id="525" name="Google Shape;525;p36"/>
            <p:cNvSpPr/>
            <p:nvPr/>
          </p:nvSpPr>
          <p:spPr>
            <a:xfrm rot="1517077">
              <a:off x="3314993" y="2643068"/>
              <a:ext cx="438289" cy="483652"/>
            </a:xfrm>
            <a:prstGeom prst="arc">
              <a:avLst>
                <a:gd fmla="val 16200000" name="adj1"/>
                <a:gd fmla="val 20489641" name="adj2"/>
              </a:avLst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stealth"/>
              <a:tailEnd len="sm" w="sm" type="none"/>
            </a:ln>
          </p:spPr>
          <p:txBody>
            <a:bodyPr anchorCtr="0" anchor="ctr" bIns="137700" lIns="137700" spcFirstLastPara="1" rIns="137700" wrap="square" tIns="137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8"/>
            </a:p>
          </p:txBody>
        </p:sp>
        <p:cxnSp>
          <p:nvCxnSpPr>
            <p:cNvPr id="526" name="Google Shape;526;p36"/>
            <p:cNvCxnSpPr/>
            <p:nvPr/>
          </p:nvCxnSpPr>
          <p:spPr>
            <a:xfrm>
              <a:off x="2984487" y="1089678"/>
              <a:ext cx="0" cy="2328300"/>
            </a:xfrm>
            <a:prstGeom prst="straightConnector1">
              <a:avLst/>
            </a:prstGeom>
            <a:noFill/>
            <a:ln cap="flat" cmpd="sng" w="14350">
              <a:solidFill>
                <a:schemeClr val="dk1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cxnSp>
          <p:nvCxnSpPr>
            <p:cNvPr id="527" name="Google Shape;527;p36"/>
            <p:cNvCxnSpPr/>
            <p:nvPr/>
          </p:nvCxnSpPr>
          <p:spPr>
            <a:xfrm>
              <a:off x="2978647" y="3416700"/>
              <a:ext cx="2644500" cy="0"/>
            </a:xfrm>
            <a:prstGeom prst="straightConnector1">
              <a:avLst/>
            </a:prstGeom>
            <a:noFill/>
            <a:ln cap="flat" cmpd="sng" w="14350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528" name="Google Shape;528;p36"/>
            <p:cNvSpPr/>
            <p:nvPr/>
          </p:nvSpPr>
          <p:spPr>
            <a:xfrm rot="-1532021">
              <a:off x="2912342" y="2498199"/>
              <a:ext cx="1513079" cy="137003"/>
            </a:xfrm>
            <a:prstGeom prst="rect">
              <a:avLst/>
            </a:prstGeom>
            <a:solidFill>
              <a:schemeClr val="lt2"/>
            </a:solidFill>
            <a:ln cap="flat" cmpd="sng" w="143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7700" lIns="137700" spcFirstLastPara="1" rIns="137700" wrap="square" tIns="137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8"/>
            </a:p>
          </p:txBody>
        </p:sp>
        <p:sp>
          <p:nvSpPr>
            <p:cNvPr id="529" name="Google Shape;529;p36"/>
            <p:cNvSpPr/>
            <p:nvPr/>
          </p:nvSpPr>
          <p:spPr>
            <a:xfrm>
              <a:off x="2861502" y="2778298"/>
              <a:ext cx="239700" cy="239700"/>
            </a:xfrm>
            <a:prstGeom prst="ellipse">
              <a:avLst/>
            </a:prstGeom>
            <a:solidFill>
              <a:schemeClr val="lt2"/>
            </a:solidFill>
            <a:ln cap="flat" cmpd="sng" w="143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86071" rotWithShape="0" algn="bl" dir="5400000" dist="28690">
                <a:srgbClr val="000000">
                  <a:alpha val="50000"/>
                </a:srgbClr>
              </a:outerShdw>
            </a:effectLst>
          </p:spPr>
          <p:txBody>
            <a:bodyPr anchorCtr="0" anchor="ctr" bIns="137700" lIns="137700" spcFirstLastPara="1" rIns="137700" wrap="square" tIns="137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8"/>
            </a:p>
          </p:txBody>
        </p:sp>
        <p:sp>
          <p:nvSpPr>
            <p:cNvPr id="530" name="Google Shape;530;p36"/>
            <p:cNvSpPr txBox="1"/>
            <p:nvPr/>
          </p:nvSpPr>
          <p:spPr>
            <a:xfrm>
              <a:off x="5244751" y="3382540"/>
              <a:ext cx="471600" cy="5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7700" lIns="137700" spcFirstLastPara="1" rIns="137700" wrap="square" tIns="1377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6">
                  <a:solidFill>
                    <a:schemeClr val="dk2"/>
                  </a:solidFill>
                </a:rPr>
                <a:t>X</a:t>
              </a:r>
              <a:endParaRPr sz="1506">
                <a:solidFill>
                  <a:schemeClr val="dk2"/>
                </a:solidFill>
              </a:endParaRPr>
            </a:p>
          </p:txBody>
        </p:sp>
        <p:sp>
          <p:nvSpPr>
            <p:cNvPr id="531" name="Google Shape;531;p36"/>
            <p:cNvSpPr txBox="1"/>
            <p:nvPr/>
          </p:nvSpPr>
          <p:spPr>
            <a:xfrm>
              <a:off x="2529960" y="1049020"/>
              <a:ext cx="471600" cy="5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7700" lIns="137700" spcFirstLastPara="1" rIns="137700" wrap="square" tIns="1377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6">
                  <a:solidFill>
                    <a:schemeClr val="dk2"/>
                  </a:solidFill>
                </a:rPr>
                <a:t>Z</a:t>
              </a:r>
              <a:endParaRPr sz="1506">
                <a:solidFill>
                  <a:schemeClr val="dk2"/>
                </a:solidFill>
              </a:endParaRPr>
            </a:p>
          </p:txBody>
        </p:sp>
        <p:sp>
          <p:nvSpPr>
            <p:cNvPr id="532" name="Google Shape;532;p36"/>
            <p:cNvSpPr/>
            <p:nvPr/>
          </p:nvSpPr>
          <p:spPr>
            <a:xfrm rot="9089001">
              <a:off x="3966846" y="1882160"/>
              <a:ext cx="760346" cy="743563"/>
            </a:xfrm>
            <a:prstGeom prst="arc">
              <a:avLst>
                <a:gd fmla="val 10351248" name="adj1"/>
                <a:gd fmla="val 21123469" name="adj2"/>
              </a:avLst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stealth"/>
              <a:tailEnd len="sm" w="sm" type="none"/>
            </a:ln>
          </p:spPr>
          <p:txBody>
            <a:bodyPr anchorCtr="0" anchor="ctr" bIns="137700" lIns="137700" spcFirstLastPara="1" rIns="137700" wrap="square" tIns="137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8"/>
            </a:p>
          </p:txBody>
        </p:sp>
        <p:sp>
          <p:nvSpPr>
            <p:cNvPr id="533" name="Google Shape;533;p36"/>
            <p:cNvSpPr txBox="1"/>
            <p:nvPr/>
          </p:nvSpPr>
          <p:spPr>
            <a:xfrm>
              <a:off x="3526103" y="3636204"/>
              <a:ext cx="577200" cy="5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7700" lIns="137700" spcFirstLastPara="1" rIns="137700" wrap="square" tIns="1377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4">
                  <a:solidFill>
                    <a:srgbClr val="4472C4"/>
                  </a:solidFill>
                </a:rPr>
                <a:t>θ</a:t>
              </a:r>
              <a:r>
                <a:rPr baseline="-25000" lang="en" sz="1504">
                  <a:solidFill>
                    <a:srgbClr val="4472C4"/>
                  </a:solidFill>
                </a:rPr>
                <a:t>1</a:t>
              </a:r>
              <a:endParaRPr baseline="-25000" sz="1504">
                <a:solidFill>
                  <a:srgbClr val="4472C4"/>
                </a:solidFill>
              </a:endParaRPr>
            </a:p>
          </p:txBody>
        </p:sp>
        <p:sp>
          <p:nvSpPr>
            <p:cNvPr id="534" name="Google Shape;534;p36"/>
            <p:cNvSpPr txBox="1"/>
            <p:nvPr/>
          </p:nvSpPr>
          <p:spPr>
            <a:xfrm>
              <a:off x="4667411" y="1962780"/>
              <a:ext cx="577200" cy="5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7700" lIns="137700" spcFirstLastPara="1" rIns="137700" wrap="square" tIns="1377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4">
                  <a:solidFill>
                    <a:srgbClr val="4472C4"/>
                  </a:solidFill>
                </a:rPr>
                <a:t>θ</a:t>
              </a:r>
              <a:r>
                <a:rPr baseline="-25000" lang="en" sz="1504">
                  <a:solidFill>
                    <a:srgbClr val="4472C4"/>
                  </a:solidFill>
                </a:rPr>
                <a:t>3</a:t>
              </a:r>
              <a:endParaRPr baseline="-25000" sz="1504">
                <a:solidFill>
                  <a:srgbClr val="4472C4"/>
                </a:solidFill>
              </a:endParaRPr>
            </a:p>
          </p:txBody>
        </p:sp>
        <p:sp>
          <p:nvSpPr>
            <p:cNvPr id="535" name="Google Shape;535;p36"/>
            <p:cNvSpPr txBox="1"/>
            <p:nvPr/>
          </p:nvSpPr>
          <p:spPr>
            <a:xfrm>
              <a:off x="2064371" y="2989406"/>
              <a:ext cx="577200" cy="5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7700" lIns="137700" spcFirstLastPara="1" rIns="137700" wrap="square" tIns="1377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7">
                  <a:solidFill>
                    <a:srgbClr val="4472C4"/>
                  </a:solidFill>
                </a:rPr>
                <a:t>h</a:t>
              </a:r>
              <a:endParaRPr baseline="-25000" sz="1807">
                <a:solidFill>
                  <a:srgbClr val="4472C4"/>
                </a:solidFill>
              </a:endParaRPr>
            </a:p>
          </p:txBody>
        </p:sp>
        <p:sp>
          <p:nvSpPr>
            <p:cNvPr id="536" name="Google Shape;536;p36"/>
            <p:cNvSpPr txBox="1"/>
            <p:nvPr/>
          </p:nvSpPr>
          <p:spPr>
            <a:xfrm>
              <a:off x="4260386" y="1297246"/>
              <a:ext cx="577200" cy="5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7700" lIns="137700" spcFirstLastPara="1" rIns="137700" wrap="square" tIns="1377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7">
                  <a:solidFill>
                    <a:srgbClr val="4472C4"/>
                  </a:solidFill>
                </a:rPr>
                <a:t>L</a:t>
              </a:r>
              <a:r>
                <a:rPr baseline="-25000" lang="en" sz="1807">
                  <a:solidFill>
                    <a:srgbClr val="4472C4"/>
                  </a:solidFill>
                </a:rPr>
                <a:t>3</a:t>
              </a:r>
              <a:endParaRPr baseline="-25000" sz="1807">
                <a:solidFill>
                  <a:srgbClr val="4472C4"/>
                </a:solidFill>
              </a:endParaRPr>
            </a:p>
          </p:txBody>
        </p:sp>
        <p:sp>
          <p:nvSpPr>
            <p:cNvPr id="537" name="Google Shape;537;p36"/>
            <p:cNvSpPr txBox="1"/>
            <p:nvPr/>
          </p:nvSpPr>
          <p:spPr>
            <a:xfrm>
              <a:off x="3363236" y="1962784"/>
              <a:ext cx="577200" cy="5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7700" lIns="137700" spcFirstLastPara="1" rIns="137700" wrap="square" tIns="1377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7">
                  <a:solidFill>
                    <a:srgbClr val="4472C4"/>
                  </a:solidFill>
                </a:rPr>
                <a:t>L</a:t>
              </a:r>
              <a:r>
                <a:rPr baseline="-25000" lang="en" sz="1807">
                  <a:solidFill>
                    <a:srgbClr val="4472C4"/>
                  </a:solidFill>
                </a:rPr>
                <a:t>2</a:t>
              </a:r>
              <a:endParaRPr baseline="-25000" sz="1807">
                <a:solidFill>
                  <a:srgbClr val="4472C4"/>
                </a:solidFill>
              </a:endParaRPr>
            </a:p>
          </p:txBody>
        </p:sp>
        <p:sp>
          <p:nvSpPr>
            <p:cNvPr id="538" name="Google Shape;538;p36"/>
            <p:cNvSpPr txBox="1"/>
            <p:nvPr/>
          </p:nvSpPr>
          <p:spPr>
            <a:xfrm>
              <a:off x="4923470" y="939575"/>
              <a:ext cx="1068900" cy="4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3675" lIns="103675" spcFirstLastPara="1" rIns="103675" wrap="square" tIns="1036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88">
                  <a:solidFill>
                    <a:schemeClr val="dk2"/>
                  </a:solidFill>
                </a:rPr>
                <a:t>P(x,y,z)</a:t>
              </a:r>
              <a:endParaRPr sz="1588">
                <a:solidFill>
                  <a:schemeClr val="dk2"/>
                </a:solidFill>
              </a:endParaRPr>
            </a:p>
          </p:txBody>
        </p:sp>
        <p:cxnSp>
          <p:nvCxnSpPr>
            <p:cNvPr id="539" name="Google Shape;539;p36"/>
            <p:cNvCxnSpPr/>
            <p:nvPr/>
          </p:nvCxnSpPr>
          <p:spPr>
            <a:xfrm flipH="1">
              <a:off x="1974780" y="3411229"/>
              <a:ext cx="1014300" cy="797400"/>
            </a:xfrm>
            <a:prstGeom prst="straightConnector1">
              <a:avLst/>
            </a:prstGeom>
            <a:noFill/>
            <a:ln cap="flat" cmpd="sng" w="14350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540" name="Google Shape;540;p36"/>
            <p:cNvSpPr/>
            <p:nvPr/>
          </p:nvSpPr>
          <p:spPr>
            <a:xfrm>
              <a:off x="4227094" y="2121002"/>
              <a:ext cx="239700" cy="239700"/>
            </a:xfrm>
            <a:prstGeom prst="ellipse">
              <a:avLst/>
            </a:prstGeom>
            <a:solidFill>
              <a:schemeClr val="lt2"/>
            </a:solidFill>
            <a:ln cap="flat" cmpd="sng" w="143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86071" rotWithShape="0" algn="bl" dir="5400000" dist="28690">
                <a:srgbClr val="000000">
                  <a:alpha val="50000"/>
                </a:srgbClr>
              </a:outerShdw>
            </a:effectLst>
          </p:spPr>
          <p:txBody>
            <a:bodyPr anchorCtr="0" anchor="ctr" bIns="137700" lIns="137700" spcFirstLastPara="1" rIns="137700" wrap="square" tIns="137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8"/>
            </a:p>
          </p:txBody>
        </p:sp>
        <p:sp>
          <p:nvSpPr>
            <p:cNvPr id="541" name="Google Shape;541;p36"/>
            <p:cNvSpPr/>
            <p:nvPr/>
          </p:nvSpPr>
          <p:spPr>
            <a:xfrm>
              <a:off x="4965060" y="1378187"/>
              <a:ext cx="239700" cy="239700"/>
            </a:xfrm>
            <a:prstGeom prst="ellipse">
              <a:avLst/>
            </a:prstGeom>
            <a:solidFill>
              <a:schemeClr val="lt2"/>
            </a:solidFill>
            <a:ln cap="flat" cmpd="sng" w="143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86071" rotWithShape="0" algn="bl" dir="5400000" dist="28690">
                <a:srgbClr val="000000">
                  <a:alpha val="50000"/>
                </a:srgbClr>
              </a:outerShdw>
            </a:effectLst>
          </p:spPr>
          <p:txBody>
            <a:bodyPr anchorCtr="0" anchor="ctr" bIns="137700" lIns="137700" spcFirstLastPara="1" rIns="137700" wrap="square" tIns="137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8"/>
            </a:p>
          </p:txBody>
        </p:sp>
        <p:cxnSp>
          <p:nvCxnSpPr>
            <p:cNvPr id="542" name="Google Shape;542;p36"/>
            <p:cNvCxnSpPr/>
            <p:nvPr/>
          </p:nvCxnSpPr>
          <p:spPr>
            <a:xfrm>
              <a:off x="2984487" y="2916495"/>
              <a:ext cx="1243200" cy="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543" name="Google Shape;543;p36"/>
            <p:cNvSpPr txBox="1"/>
            <p:nvPr/>
          </p:nvSpPr>
          <p:spPr>
            <a:xfrm>
              <a:off x="3649766" y="2494497"/>
              <a:ext cx="577200" cy="5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7700" lIns="137700" spcFirstLastPara="1" rIns="137700" wrap="square" tIns="1377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4">
                  <a:solidFill>
                    <a:srgbClr val="4472C4"/>
                  </a:solidFill>
                </a:rPr>
                <a:t>θ</a:t>
              </a:r>
              <a:r>
                <a:rPr baseline="-25000" lang="en" sz="1504">
                  <a:solidFill>
                    <a:srgbClr val="4472C4"/>
                  </a:solidFill>
                </a:rPr>
                <a:t>2</a:t>
              </a:r>
              <a:endParaRPr baseline="-25000" sz="1504">
                <a:solidFill>
                  <a:srgbClr val="4472C4"/>
                </a:solidFill>
              </a:endParaRPr>
            </a:p>
          </p:txBody>
        </p:sp>
        <p:sp>
          <p:nvSpPr>
            <p:cNvPr id="544" name="Google Shape;544;p36"/>
            <p:cNvSpPr/>
            <p:nvPr/>
          </p:nvSpPr>
          <p:spPr>
            <a:xfrm>
              <a:off x="2506695" y="3510201"/>
              <a:ext cx="1222763" cy="509648"/>
            </a:xfrm>
            <a:custGeom>
              <a:rect b="b" l="l" r="r" t="t"/>
              <a:pathLst>
                <a:path extrusionOk="0" h="23129" w="44012">
                  <a:moveTo>
                    <a:pt x="0" y="14945"/>
                  </a:moveTo>
                  <a:cubicBezTo>
                    <a:pt x="3681" y="23523"/>
                    <a:pt x="18562" y="24734"/>
                    <a:pt x="27261" y="21350"/>
                  </a:cubicBezTo>
                  <a:cubicBezTo>
                    <a:pt x="35691" y="18070"/>
                    <a:pt x="44012" y="9046"/>
                    <a:pt x="44012" y="0"/>
                  </a:cubicBezTo>
                </a:path>
              </a:pathLst>
            </a:custGeom>
            <a:noFill/>
            <a:ln cap="flat" cmpd="sng" w="2160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sp>
        <p:sp>
          <p:nvSpPr>
            <p:cNvPr id="545" name="Google Shape;545;p36"/>
            <p:cNvSpPr/>
            <p:nvPr/>
          </p:nvSpPr>
          <p:spPr>
            <a:xfrm>
              <a:off x="2361908" y="2879682"/>
              <a:ext cx="168000" cy="775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08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675" lIns="103675" spcFirstLastPara="1" rIns="103675" wrap="square" tIns="103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8"/>
            </a:p>
          </p:txBody>
        </p:sp>
        <p:sp>
          <p:nvSpPr>
            <p:cNvPr id="546" name="Google Shape;546;p36"/>
            <p:cNvSpPr txBox="1"/>
            <p:nvPr/>
          </p:nvSpPr>
          <p:spPr>
            <a:xfrm>
              <a:off x="1949651" y="4019829"/>
              <a:ext cx="471600" cy="5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7700" lIns="137700" spcFirstLastPara="1" rIns="137700" wrap="square" tIns="1377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6">
                  <a:solidFill>
                    <a:schemeClr val="dk2"/>
                  </a:solidFill>
                </a:rPr>
                <a:t>Y</a:t>
              </a:r>
              <a:endParaRPr sz="1506">
                <a:solidFill>
                  <a:schemeClr val="dk2"/>
                </a:solidFill>
              </a:endParaRPr>
            </a:p>
          </p:txBody>
        </p:sp>
      </p:grpSp>
      <p:sp>
        <p:nvSpPr>
          <p:cNvPr id="547" name="Google Shape;547;p36"/>
          <p:cNvSpPr txBox="1"/>
          <p:nvPr/>
        </p:nvSpPr>
        <p:spPr>
          <a:xfrm>
            <a:off x="311700" y="1158575"/>
            <a:ext cx="4111200" cy="30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analyze and compute the kinematics effectively,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orthogonal viewpoints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required: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 View (XY-plane)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○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Captures the effect of the base rotation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○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to determine the projection of motion in the horizontal plane</a:t>
            </a:r>
            <a:b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Side View (XZ-plane)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○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Captures the motion of Link 2 and Link 3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○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to compute vertical displacement and radial reach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0000"/>
              </a:lnSpc>
              <a:spcBef>
                <a:spcPts val="4200"/>
              </a:spcBef>
              <a:spcAft>
                <a:spcPts val="1700"/>
              </a:spcAft>
              <a:buNone/>
            </a:pPr>
            <a:r>
              <a:rPr lang="en" sz="265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3R Planar Robot (3D)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0000"/>
              </a:lnSpc>
              <a:spcBef>
                <a:spcPts val="4200"/>
              </a:spcBef>
              <a:spcAft>
                <a:spcPts val="1700"/>
              </a:spcAft>
              <a:buNone/>
            </a:pPr>
            <a:r>
              <a:rPr lang="en" sz="265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Side View</a:t>
            </a:r>
            <a:endParaRPr/>
          </a:p>
        </p:txBody>
      </p:sp>
      <p:sp>
        <p:nvSpPr>
          <p:cNvPr id="554" name="Google Shape;554;p37"/>
          <p:cNvSpPr txBox="1"/>
          <p:nvPr/>
        </p:nvSpPr>
        <p:spPr>
          <a:xfrm>
            <a:off x="311700" y="1144675"/>
            <a:ext cx="4215900" cy="14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solve the 2R Planar part, using the earlier concepts of this lecture. The equations we get are: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L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​cosθ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​+ L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​cos(-180 + 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z = L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sin⁡θ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+ L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sin⁡(-180 + θ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+ θ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) + h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5" name="Google Shape;555;p37"/>
          <p:cNvGrpSpPr/>
          <p:nvPr/>
        </p:nvGrpSpPr>
        <p:grpSpPr>
          <a:xfrm>
            <a:off x="4757471" y="776625"/>
            <a:ext cx="3708074" cy="2952964"/>
            <a:chOff x="2284296" y="939575"/>
            <a:chExt cx="3708074" cy="2952964"/>
          </a:xfrm>
        </p:grpSpPr>
        <p:sp>
          <p:nvSpPr>
            <p:cNvPr id="556" name="Google Shape;556;p37"/>
            <p:cNvSpPr/>
            <p:nvPr/>
          </p:nvSpPr>
          <p:spPr>
            <a:xfrm rot="-2696320">
              <a:off x="4223002" y="1788936"/>
              <a:ext cx="990869" cy="137037"/>
            </a:xfrm>
            <a:prstGeom prst="rect">
              <a:avLst/>
            </a:prstGeom>
            <a:solidFill>
              <a:schemeClr val="lt2"/>
            </a:solidFill>
            <a:ln cap="flat" cmpd="sng" w="143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7700" lIns="137700" spcFirstLastPara="1" rIns="137700" wrap="square" tIns="137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8"/>
            </a:p>
          </p:txBody>
        </p:sp>
        <p:sp>
          <p:nvSpPr>
            <p:cNvPr id="557" name="Google Shape;557;p37"/>
            <p:cNvSpPr/>
            <p:nvPr/>
          </p:nvSpPr>
          <p:spPr>
            <a:xfrm rot="1517077">
              <a:off x="3314993" y="2643068"/>
              <a:ext cx="438289" cy="483652"/>
            </a:xfrm>
            <a:prstGeom prst="arc">
              <a:avLst>
                <a:gd fmla="val 16200000" name="adj1"/>
                <a:gd fmla="val 20489641" name="adj2"/>
              </a:avLst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stealth"/>
              <a:tailEnd len="sm" w="sm" type="none"/>
            </a:ln>
          </p:spPr>
          <p:txBody>
            <a:bodyPr anchorCtr="0" anchor="ctr" bIns="137700" lIns="137700" spcFirstLastPara="1" rIns="137700" wrap="square" tIns="137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8"/>
            </a:p>
          </p:txBody>
        </p:sp>
        <p:cxnSp>
          <p:nvCxnSpPr>
            <p:cNvPr id="558" name="Google Shape;558;p37"/>
            <p:cNvCxnSpPr/>
            <p:nvPr/>
          </p:nvCxnSpPr>
          <p:spPr>
            <a:xfrm>
              <a:off x="2984487" y="1089678"/>
              <a:ext cx="0" cy="2328300"/>
            </a:xfrm>
            <a:prstGeom prst="straightConnector1">
              <a:avLst/>
            </a:prstGeom>
            <a:noFill/>
            <a:ln cap="flat" cmpd="sng" w="14350">
              <a:solidFill>
                <a:schemeClr val="dk1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cxnSp>
          <p:nvCxnSpPr>
            <p:cNvPr id="559" name="Google Shape;559;p37"/>
            <p:cNvCxnSpPr/>
            <p:nvPr/>
          </p:nvCxnSpPr>
          <p:spPr>
            <a:xfrm>
              <a:off x="2978647" y="3416700"/>
              <a:ext cx="2644500" cy="0"/>
            </a:xfrm>
            <a:prstGeom prst="straightConnector1">
              <a:avLst/>
            </a:prstGeom>
            <a:noFill/>
            <a:ln cap="flat" cmpd="sng" w="14350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560" name="Google Shape;560;p37"/>
            <p:cNvSpPr/>
            <p:nvPr/>
          </p:nvSpPr>
          <p:spPr>
            <a:xfrm rot="-1532021">
              <a:off x="2912342" y="2498199"/>
              <a:ext cx="1513079" cy="137003"/>
            </a:xfrm>
            <a:prstGeom prst="rect">
              <a:avLst/>
            </a:prstGeom>
            <a:solidFill>
              <a:schemeClr val="lt2"/>
            </a:solidFill>
            <a:ln cap="flat" cmpd="sng" w="143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7700" lIns="137700" spcFirstLastPara="1" rIns="137700" wrap="square" tIns="137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8"/>
            </a:p>
          </p:txBody>
        </p:sp>
        <p:sp>
          <p:nvSpPr>
            <p:cNvPr id="561" name="Google Shape;561;p37"/>
            <p:cNvSpPr/>
            <p:nvPr/>
          </p:nvSpPr>
          <p:spPr>
            <a:xfrm>
              <a:off x="2861502" y="2778298"/>
              <a:ext cx="239700" cy="239700"/>
            </a:xfrm>
            <a:prstGeom prst="ellipse">
              <a:avLst/>
            </a:prstGeom>
            <a:solidFill>
              <a:schemeClr val="lt2"/>
            </a:solidFill>
            <a:ln cap="flat" cmpd="sng" w="143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86071" rotWithShape="0" algn="bl" dir="5400000" dist="28690">
                <a:srgbClr val="000000">
                  <a:alpha val="50000"/>
                </a:srgbClr>
              </a:outerShdw>
            </a:effectLst>
          </p:spPr>
          <p:txBody>
            <a:bodyPr anchorCtr="0" anchor="ctr" bIns="137700" lIns="137700" spcFirstLastPara="1" rIns="137700" wrap="square" tIns="137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8"/>
            </a:p>
          </p:txBody>
        </p:sp>
        <p:sp>
          <p:nvSpPr>
            <p:cNvPr id="562" name="Google Shape;562;p37"/>
            <p:cNvSpPr txBox="1"/>
            <p:nvPr/>
          </p:nvSpPr>
          <p:spPr>
            <a:xfrm>
              <a:off x="5244751" y="3382540"/>
              <a:ext cx="471600" cy="5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7700" lIns="137700" spcFirstLastPara="1" rIns="137700" wrap="square" tIns="1377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6">
                  <a:solidFill>
                    <a:schemeClr val="dk2"/>
                  </a:solidFill>
                </a:rPr>
                <a:t>X</a:t>
              </a:r>
              <a:endParaRPr sz="1506">
                <a:solidFill>
                  <a:schemeClr val="dk2"/>
                </a:solidFill>
              </a:endParaRPr>
            </a:p>
          </p:txBody>
        </p:sp>
        <p:sp>
          <p:nvSpPr>
            <p:cNvPr id="563" name="Google Shape;563;p37"/>
            <p:cNvSpPr txBox="1"/>
            <p:nvPr/>
          </p:nvSpPr>
          <p:spPr>
            <a:xfrm>
              <a:off x="2529960" y="1049020"/>
              <a:ext cx="471600" cy="5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7700" lIns="137700" spcFirstLastPara="1" rIns="137700" wrap="square" tIns="1377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6">
                  <a:solidFill>
                    <a:schemeClr val="dk2"/>
                  </a:solidFill>
                </a:rPr>
                <a:t>Z</a:t>
              </a:r>
              <a:endParaRPr sz="1506">
                <a:solidFill>
                  <a:schemeClr val="dk2"/>
                </a:solidFill>
              </a:endParaRPr>
            </a:p>
          </p:txBody>
        </p:sp>
        <p:sp>
          <p:nvSpPr>
            <p:cNvPr id="564" name="Google Shape;564;p37"/>
            <p:cNvSpPr/>
            <p:nvPr/>
          </p:nvSpPr>
          <p:spPr>
            <a:xfrm rot="9089001">
              <a:off x="3966846" y="1882160"/>
              <a:ext cx="760346" cy="743563"/>
            </a:xfrm>
            <a:prstGeom prst="arc">
              <a:avLst>
                <a:gd fmla="val 10351248" name="adj1"/>
                <a:gd fmla="val 21123469" name="adj2"/>
              </a:avLst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stealth"/>
              <a:tailEnd len="sm" w="sm" type="none"/>
            </a:ln>
          </p:spPr>
          <p:txBody>
            <a:bodyPr anchorCtr="0" anchor="ctr" bIns="137700" lIns="137700" spcFirstLastPara="1" rIns="137700" wrap="square" tIns="137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8"/>
            </a:p>
          </p:txBody>
        </p:sp>
        <p:sp>
          <p:nvSpPr>
            <p:cNvPr id="565" name="Google Shape;565;p37"/>
            <p:cNvSpPr txBox="1"/>
            <p:nvPr/>
          </p:nvSpPr>
          <p:spPr>
            <a:xfrm>
              <a:off x="4667411" y="1962780"/>
              <a:ext cx="577200" cy="5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7700" lIns="137700" spcFirstLastPara="1" rIns="137700" wrap="square" tIns="1377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4">
                  <a:solidFill>
                    <a:srgbClr val="4472C4"/>
                  </a:solidFill>
                </a:rPr>
                <a:t>θ</a:t>
              </a:r>
              <a:r>
                <a:rPr baseline="-25000" lang="en" sz="1504">
                  <a:solidFill>
                    <a:srgbClr val="4472C4"/>
                  </a:solidFill>
                </a:rPr>
                <a:t>3</a:t>
              </a:r>
              <a:endParaRPr baseline="-25000" sz="1504">
                <a:solidFill>
                  <a:srgbClr val="4472C4"/>
                </a:solidFill>
              </a:endParaRPr>
            </a:p>
          </p:txBody>
        </p:sp>
        <p:sp>
          <p:nvSpPr>
            <p:cNvPr id="566" name="Google Shape;566;p37"/>
            <p:cNvSpPr txBox="1"/>
            <p:nvPr/>
          </p:nvSpPr>
          <p:spPr>
            <a:xfrm>
              <a:off x="2284296" y="2918181"/>
              <a:ext cx="577200" cy="5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7700" lIns="137700" spcFirstLastPara="1" rIns="137700" wrap="square" tIns="1377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7">
                  <a:solidFill>
                    <a:srgbClr val="4472C4"/>
                  </a:solidFill>
                </a:rPr>
                <a:t>h</a:t>
              </a:r>
              <a:endParaRPr baseline="-25000" sz="1807">
                <a:solidFill>
                  <a:srgbClr val="4472C4"/>
                </a:solidFill>
              </a:endParaRPr>
            </a:p>
          </p:txBody>
        </p:sp>
        <p:sp>
          <p:nvSpPr>
            <p:cNvPr id="567" name="Google Shape;567;p37"/>
            <p:cNvSpPr txBox="1"/>
            <p:nvPr/>
          </p:nvSpPr>
          <p:spPr>
            <a:xfrm>
              <a:off x="4260386" y="1297246"/>
              <a:ext cx="577200" cy="5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7700" lIns="137700" spcFirstLastPara="1" rIns="137700" wrap="square" tIns="1377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7">
                  <a:solidFill>
                    <a:srgbClr val="4472C4"/>
                  </a:solidFill>
                </a:rPr>
                <a:t>L</a:t>
              </a:r>
              <a:r>
                <a:rPr baseline="-25000" lang="en" sz="1807">
                  <a:solidFill>
                    <a:srgbClr val="4472C4"/>
                  </a:solidFill>
                </a:rPr>
                <a:t>3</a:t>
              </a:r>
              <a:endParaRPr baseline="-25000" sz="1807">
                <a:solidFill>
                  <a:srgbClr val="4472C4"/>
                </a:solidFill>
              </a:endParaRPr>
            </a:p>
          </p:txBody>
        </p:sp>
        <p:sp>
          <p:nvSpPr>
            <p:cNvPr id="568" name="Google Shape;568;p37"/>
            <p:cNvSpPr txBox="1"/>
            <p:nvPr/>
          </p:nvSpPr>
          <p:spPr>
            <a:xfrm>
              <a:off x="3363236" y="1962784"/>
              <a:ext cx="577200" cy="5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7700" lIns="137700" spcFirstLastPara="1" rIns="137700" wrap="square" tIns="1377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7">
                  <a:solidFill>
                    <a:srgbClr val="4472C4"/>
                  </a:solidFill>
                </a:rPr>
                <a:t>L</a:t>
              </a:r>
              <a:r>
                <a:rPr baseline="-25000" lang="en" sz="1807">
                  <a:solidFill>
                    <a:srgbClr val="4472C4"/>
                  </a:solidFill>
                </a:rPr>
                <a:t>2</a:t>
              </a:r>
              <a:endParaRPr baseline="-25000" sz="1807">
                <a:solidFill>
                  <a:srgbClr val="4472C4"/>
                </a:solidFill>
              </a:endParaRPr>
            </a:p>
          </p:txBody>
        </p:sp>
        <p:sp>
          <p:nvSpPr>
            <p:cNvPr id="569" name="Google Shape;569;p37"/>
            <p:cNvSpPr txBox="1"/>
            <p:nvPr/>
          </p:nvSpPr>
          <p:spPr>
            <a:xfrm>
              <a:off x="4923470" y="939575"/>
              <a:ext cx="1068900" cy="4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3675" lIns="103675" spcFirstLastPara="1" rIns="103675" wrap="square" tIns="1036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88">
                  <a:solidFill>
                    <a:schemeClr val="dk2"/>
                  </a:solidFill>
                </a:rPr>
                <a:t>P(x,y,z)</a:t>
              </a:r>
              <a:endParaRPr sz="1588">
                <a:solidFill>
                  <a:schemeClr val="dk2"/>
                </a:solidFill>
              </a:endParaRPr>
            </a:p>
          </p:txBody>
        </p:sp>
        <p:sp>
          <p:nvSpPr>
            <p:cNvPr id="570" name="Google Shape;570;p37"/>
            <p:cNvSpPr/>
            <p:nvPr/>
          </p:nvSpPr>
          <p:spPr>
            <a:xfrm>
              <a:off x="4227094" y="2121002"/>
              <a:ext cx="239700" cy="239700"/>
            </a:xfrm>
            <a:prstGeom prst="ellipse">
              <a:avLst/>
            </a:prstGeom>
            <a:solidFill>
              <a:schemeClr val="lt2"/>
            </a:solidFill>
            <a:ln cap="flat" cmpd="sng" w="143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86071" rotWithShape="0" algn="bl" dir="5400000" dist="28690">
                <a:srgbClr val="000000">
                  <a:alpha val="50000"/>
                </a:srgbClr>
              </a:outerShdw>
            </a:effectLst>
          </p:spPr>
          <p:txBody>
            <a:bodyPr anchorCtr="0" anchor="ctr" bIns="137700" lIns="137700" spcFirstLastPara="1" rIns="137700" wrap="square" tIns="137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8"/>
            </a:p>
          </p:txBody>
        </p:sp>
        <p:sp>
          <p:nvSpPr>
            <p:cNvPr id="571" name="Google Shape;571;p37"/>
            <p:cNvSpPr/>
            <p:nvPr/>
          </p:nvSpPr>
          <p:spPr>
            <a:xfrm>
              <a:off x="4965060" y="1378187"/>
              <a:ext cx="239700" cy="239700"/>
            </a:xfrm>
            <a:prstGeom prst="ellipse">
              <a:avLst/>
            </a:prstGeom>
            <a:solidFill>
              <a:schemeClr val="lt2"/>
            </a:solidFill>
            <a:ln cap="flat" cmpd="sng" w="143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86071" rotWithShape="0" algn="bl" dir="5400000" dist="28690">
                <a:srgbClr val="000000">
                  <a:alpha val="50000"/>
                </a:srgbClr>
              </a:outerShdw>
            </a:effectLst>
          </p:spPr>
          <p:txBody>
            <a:bodyPr anchorCtr="0" anchor="ctr" bIns="137700" lIns="137700" spcFirstLastPara="1" rIns="137700" wrap="square" tIns="137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8"/>
            </a:p>
          </p:txBody>
        </p:sp>
        <p:cxnSp>
          <p:nvCxnSpPr>
            <p:cNvPr id="572" name="Google Shape;572;p37"/>
            <p:cNvCxnSpPr/>
            <p:nvPr/>
          </p:nvCxnSpPr>
          <p:spPr>
            <a:xfrm>
              <a:off x="2984487" y="2916495"/>
              <a:ext cx="1243200" cy="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573" name="Google Shape;573;p37"/>
            <p:cNvSpPr txBox="1"/>
            <p:nvPr/>
          </p:nvSpPr>
          <p:spPr>
            <a:xfrm>
              <a:off x="3649766" y="2494497"/>
              <a:ext cx="577200" cy="5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7700" lIns="137700" spcFirstLastPara="1" rIns="137700" wrap="square" tIns="1377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4">
                  <a:solidFill>
                    <a:srgbClr val="4472C4"/>
                  </a:solidFill>
                </a:rPr>
                <a:t>θ</a:t>
              </a:r>
              <a:r>
                <a:rPr baseline="-25000" lang="en" sz="1504">
                  <a:solidFill>
                    <a:srgbClr val="4472C4"/>
                  </a:solidFill>
                </a:rPr>
                <a:t>2</a:t>
              </a:r>
              <a:endParaRPr baseline="-25000" sz="1504">
                <a:solidFill>
                  <a:srgbClr val="4472C4"/>
                </a:solidFill>
              </a:endParaRPr>
            </a:p>
          </p:txBody>
        </p:sp>
        <p:sp>
          <p:nvSpPr>
            <p:cNvPr id="574" name="Google Shape;574;p37"/>
            <p:cNvSpPr/>
            <p:nvPr/>
          </p:nvSpPr>
          <p:spPr>
            <a:xfrm>
              <a:off x="2667550" y="2879602"/>
              <a:ext cx="168000" cy="5562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08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675" lIns="103675" spcFirstLastPara="1" rIns="103675" wrap="square" tIns="103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8"/>
            </a:p>
          </p:txBody>
        </p:sp>
      </p:grpSp>
      <p:cxnSp>
        <p:nvCxnSpPr>
          <p:cNvPr id="575" name="Google Shape;575;p37"/>
          <p:cNvCxnSpPr/>
          <p:nvPr/>
        </p:nvCxnSpPr>
        <p:spPr>
          <a:xfrm>
            <a:off x="7573537" y="1338445"/>
            <a:ext cx="0" cy="19236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76" name="Google Shape;576;p37"/>
          <p:cNvCxnSpPr/>
          <p:nvPr/>
        </p:nvCxnSpPr>
        <p:spPr>
          <a:xfrm rot="10800000">
            <a:off x="5326873" y="2754202"/>
            <a:ext cx="22602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77" name="Google Shape;577;p37"/>
          <p:cNvSpPr/>
          <p:nvPr/>
        </p:nvSpPr>
        <p:spPr>
          <a:xfrm rot="-5400000">
            <a:off x="6431800" y="2327914"/>
            <a:ext cx="168000" cy="21096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08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675" lIns="103675" spcFirstLastPara="1" rIns="103675" wrap="square" tIns="103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88"/>
          </a:p>
        </p:txBody>
      </p:sp>
      <p:sp>
        <p:nvSpPr>
          <p:cNvPr id="578" name="Google Shape;578;p37"/>
          <p:cNvSpPr/>
          <p:nvPr/>
        </p:nvSpPr>
        <p:spPr>
          <a:xfrm rot="10800000">
            <a:off x="7734732" y="1338349"/>
            <a:ext cx="168000" cy="1910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08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675" lIns="103675" spcFirstLastPara="1" rIns="103675" wrap="square" tIns="103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88"/>
          </a:p>
        </p:txBody>
      </p:sp>
      <p:sp>
        <p:nvSpPr>
          <p:cNvPr id="579" name="Google Shape;579;p37"/>
          <p:cNvSpPr txBox="1"/>
          <p:nvPr/>
        </p:nvSpPr>
        <p:spPr>
          <a:xfrm>
            <a:off x="5905152" y="3398675"/>
            <a:ext cx="122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FF"/>
                </a:solidFill>
              </a:rPr>
              <a:t>d</a:t>
            </a:r>
            <a:r>
              <a:rPr lang="en" sz="1200">
                <a:solidFill>
                  <a:srgbClr val="FF00FF"/>
                </a:solidFill>
              </a:rPr>
              <a:t> </a:t>
            </a:r>
            <a:br>
              <a:rPr lang="en" sz="1200">
                <a:solidFill>
                  <a:srgbClr val="FF00FF"/>
                </a:solidFill>
              </a:rPr>
            </a:br>
            <a:r>
              <a:rPr lang="en" sz="1200">
                <a:solidFill>
                  <a:srgbClr val="FF00FF"/>
                </a:solidFill>
              </a:rPr>
              <a:t>(projection)</a:t>
            </a:r>
            <a:endParaRPr baseline="-25000" sz="1200">
              <a:solidFill>
                <a:srgbClr val="FF00FF"/>
              </a:solidFill>
            </a:endParaRPr>
          </a:p>
        </p:txBody>
      </p:sp>
      <p:sp>
        <p:nvSpPr>
          <p:cNvPr id="580" name="Google Shape;580;p37"/>
          <p:cNvSpPr txBox="1"/>
          <p:nvPr/>
        </p:nvSpPr>
        <p:spPr>
          <a:xfrm>
            <a:off x="7902728" y="2137433"/>
            <a:ext cx="35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5"/>
                </a:solidFill>
              </a:rPr>
              <a:t>z</a:t>
            </a:r>
            <a:endParaRPr baseline="-25000" sz="1200">
              <a:solidFill>
                <a:schemeClr val="accent5"/>
              </a:solidFill>
            </a:endParaRPr>
          </a:p>
        </p:txBody>
      </p:sp>
      <p:sp>
        <p:nvSpPr>
          <p:cNvPr id="581" name="Google Shape;581;p37"/>
          <p:cNvSpPr txBox="1"/>
          <p:nvPr/>
        </p:nvSpPr>
        <p:spPr>
          <a:xfrm>
            <a:off x="311700" y="3140200"/>
            <a:ext cx="44457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NOTE: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analyzing the robot from the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side view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the horizontal coordinate obtained does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represent the true x-coordinate of the end-effector. Instead, it represents the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projection (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denoted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 d)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the arm in the horizontal plane.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8"/>
          <p:cNvSpPr/>
          <p:nvPr/>
        </p:nvSpPr>
        <p:spPr>
          <a:xfrm>
            <a:off x="5037625" y="2794875"/>
            <a:ext cx="873000" cy="873000"/>
          </a:xfrm>
          <a:prstGeom prst="ellipse">
            <a:avLst/>
          </a:prstGeom>
          <a:solidFill>
            <a:srgbClr val="88888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0000"/>
              </a:lnSpc>
              <a:spcBef>
                <a:spcPts val="4200"/>
              </a:spcBef>
              <a:spcAft>
                <a:spcPts val="1700"/>
              </a:spcAft>
              <a:buNone/>
            </a:pPr>
            <a:r>
              <a:rPr lang="en" sz="265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Top</a:t>
            </a:r>
            <a:r>
              <a:rPr lang="en" sz="265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View</a:t>
            </a:r>
            <a:endParaRPr/>
          </a:p>
        </p:txBody>
      </p:sp>
      <p:sp>
        <p:nvSpPr>
          <p:cNvPr id="588" name="Google Shape;588;p38"/>
          <p:cNvSpPr txBox="1"/>
          <p:nvPr/>
        </p:nvSpPr>
        <p:spPr>
          <a:xfrm>
            <a:off x="311700" y="1262875"/>
            <a:ext cx="4260300" cy="3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the top view, we simply see how the arm is rotated around the base and how the projected length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spreads into the X and Y directions.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real coordinates,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 = dcos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x = (L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​cosθ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​+L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​cos(-180 + θ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+ θ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))cosθ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baseline="-250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dsin⁡θ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y 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= (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2​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cosθ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​+L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​cos(-180 + θ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+ θ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sin⁡θ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baseline="-250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8"/>
          <p:cNvSpPr/>
          <p:nvPr/>
        </p:nvSpPr>
        <p:spPr>
          <a:xfrm rot="750738">
            <a:off x="5419933" y="2706550"/>
            <a:ext cx="790679" cy="873069"/>
          </a:xfrm>
          <a:prstGeom prst="arc">
            <a:avLst>
              <a:gd fmla="val 17769257" name="adj1"/>
              <a:gd fmla="val 280597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stealth"/>
            <a:tailEnd len="sm" w="sm" type="none"/>
          </a:ln>
        </p:spPr>
        <p:txBody>
          <a:bodyPr anchorCtr="0" anchor="ctr" bIns="137700" lIns="137700" spcFirstLastPara="1" rIns="137700" wrap="square" tIns="13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8"/>
          </a:p>
        </p:txBody>
      </p:sp>
      <p:cxnSp>
        <p:nvCxnSpPr>
          <p:cNvPr id="590" name="Google Shape;590;p38"/>
          <p:cNvCxnSpPr/>
          <p:nvPr/>
        </p:nvCxnSpPr>
        <p:spPr>
          <a:xfrm>
            <a:off x="5457662" y="926728"/>
            <a:ext cx="0" cy="2328300"/>
          </a:xfrm>
          <a:prstGeom prst="straightConnector1">
            <a:avLst/>
          </a:prstGeom>
          <a:noFill/>
          <a:ln cap="flat" cmpd="sng" w="14350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91" name="Google Shape;591;p38"/>
          <p:cNvCxnSpPr/>
          <p:nvPr/>
        </p:nvCxnSpPr>
        <p:spPr>
          <a:xfrm>
            <a:off x="5451822" y="3253750"/>
            <a:ext cx="2644500" cy="0"/>
          </a:xfrm>
          <a:prstGeom prst="straightConnector1">
            <a:avLst/>
          </a:prstGeom>
          <a:noFill/>
          <a:ln cap="flat" cmpd="sng" w="143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92" name="Google Shape;592;p38"/>
          <p:cNvSpPr/>
          <p:nvPr/>
        </p:nvSpPr>
        <p:spPr>
          <a:xfrm rot="-2373596">
            <a:off x="5206272" y="2495517"/>
            <a:ext cx="2141360" cy="137013"/>
          </a:xfrm>
          <a:prstGeom prst="rect">
            <a:avLst/>
          </a:prstGeom>
          <a:solidFill>
            <a:schemeClr val="lt2"/>
          </a:solidFill>
          <a:ln cap="flat" cmpd="sng" w="143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7700" lIns="137700" spcFirstLastPara="1" rIns="137700" wrap="square" tIns="13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8"/>
          </a:p>
        </p:txBody>
      </p:sp>
      <p:sp>
        <p:nvSpPr>
          <p:cNvPr id="593" name="Google Shape;593;p38"/>
          <p:cNvSpPr/>
          <p:nvPr/>
        </p:nvSpPr>
        <p:spPr>
          <a:xfrm>
            <a:off x="5337802" y="3111523"/>
            <a:ext cx="239700" cy="239700"/>
          </a:xfrm>
          <a:prstGeom prst="ellipse">
            <a:avLst/>
          </a:prstGeom>
          <a:solidFill>
            <a:schemeClr val="lt2"/>
          </a:solidFill>
          <a:ln cap="flat" cmpd="sng" w="143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86071" rotWithShape="0" algn="bl" dir="5400000" dist="28690">
              <a:srgbClr val="000000">
                <a:alpha val="50000"/>
              </a:srgbClr>
            </a:outerShdw>
          </a:effectLst>
        </p:spPr>
        <p:txBody>
          <a:bodyPr anchorCtr="0" anchor="ctr" bIns="137700" lIns="137700" spcFirstLastPara="1" rIns="137700" wrap="square" tIns="13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8"/>
          </a:p>
        </p:txBody>
      </p:sp>
      <p:sp>
        <p:nvSpPr>
          <p:cNvPr id="594" name="Google Shape;594;p38"/>
          <p:cNvSpPr txBox="1"/>
          <p:nvPr/>
        </p:nvSpPr>
        <p:spPr>
          <a:xfrm>
            <a:off x="7717926" y="3219590"/>
            <a:ext cx="4716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700" lIns="137700" spcFirstLastPara="1" rIns="137700" wrap="square" tIns="13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6">
                <a:solidFill>
                  <a:schemeClr val="dk2"/>
                </a:solidFill>
              </a:rPr>
              <a:t>X</a:t>
            </a:r>
            <a:endParaRPr sz="1506">
              <a:solidFill>
                <a:schemeClr val="dk2"/>
              </a:solidFill>
            </a:endParaRPr>
          </a:p>
        </p:txBody>
      </p:sp>
      <p:sp>
        <p:nvSpPr>
          <p:cNvPr id="595" name="Google Shape;595;p38"/>
          <p:cNvSpPr txBox="1"/>
          <p:nvPr/>
        </p:nvSpPr>
        <p:spPr>
          <a:xfrm>
            <a:off x="5003135" y="886070"/>
            <a:ext cx="4716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700" lIns="137700" spcFirstLastPara="1" rIns="137700" wrap="square" tIns="13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6">
                <a:solidFill>
                  <a:schemeClr val="dk2"/>
                </a:solidFill>
              </a:rPr>
              <a:t>Y</a:t>
            </a:r>
            <a:endParaRPr sz="1506">
              <a:solidFill>
                <a:schemeClr val="dk2"/>
              </a:solidFill>
            </a:endParaRPr>
          </a:p>
        </p:txBody>
      </p:sp>
      <p:sp>
        <p:nvSpPr>
          <p:cNvPr id="596" name="Google Shape;596;p38"/>
          <p:cNvSpPr txBox="1"/>
          <p:nvPr/>
        </p:nvSpPr>
        <p:spPr>
          <a:xfrm>
            <a:off x="6885745" y="1306850"/>
            <a:ext cx="10689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675" lIns="103675" spcFirstLastPara="1" rIns="103675" wrap="square" tIns="103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88">
                <a:solidFill>
                  <a:schemeClr val="dk2"/>
                </a:solidFill>
              </a:rPr>
              <a:t>P(x,y,z)</a:t>
            </a:r>
            <a:endParaRPr sz="1588">
              <a:solidFill>
                <a:schemeClr val="dk2"/>
              </a:solidFill>
            </a:endParaRPr>
          </a:p>
        </p:txBody>
      </p:sp>
      <p:sp>
        <p:nvSpPr>
          <p:cNvPr id="597" name="Google Shape;597;p38"/>
          <p:cNvSpPr/>
          <p:nvPr/>
        </p:nvSpPr>
        <p:spPr>
          <a:xfrm>
            <a:off x="6254344" y="2359502"/>
            <a:ext cx="239700" cy="239700"/>
          </a:xfrm>
          <a:prstGeom prst="ellipse">
            <a:avLst/>
          </a:prstGeom>
          <a:solidFill>
            <a:schemeClr val="lt2"/>
          </a:solidFill>
          <a:ln cap="flat" cmpd="sng" w="143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86071" rotWithShape="0" algn="bl" dir="5400000" dist="28690">
              <a:srgbClr val="000000">
                <a:alpha val="50000"/>
              </a:srgbClr>
            </a:outerShdw>
          </a:effectLst>
        </p:spPr>
        <p:txBody>
          <a:bodyPr anchorCtr="0" anchor="ctr" bIns="137700" lIns="137700" spcFirstLastPara="1" rIns="137700" wrap="square" tIns="13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8"/>
          </a:p>
        </p:txBody>
      </p:sp>
      <p:sp>
        <p:nvSpPr>
          <p:cNvPr id="598" name="Google Shape;598;p38"/>
          <p:cNvSpPr/>
          <p:nvPr/>
        </p:nvSpPr>
        <p:spPr>
          <a:xfrm>
            <a:off x="6954323" y="1760762"/>
            <a:ext cx="239700" cy="239700"/>
          </a:xfrm>
          <a:prstGeom prst="ellipse">
            <a:avLst/>
          </a:prstGeom>
          <a:solidFill>
            <a:schemeClr val="lt2"/>
          </a:solidFill>
          <a:ln cap="flat" cmpd="sng" w="143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86071" rotWithShape="0" algn="bl" dir="5400000" dist="28690">
              <a:srgbClr val="000000">
                <a:alpha val="50000"/>
              </a:srgbClr>
            </a:outerShdw>
          </a:effectLst>
        </p:spPr>
        <p:txBody>
          <a:bodyPr anchorCtr="0" anchor="ctr" bIns="137700" lIns="137700" spcFirstLastPara="1" rIns="137700" wrap="square" tIns="13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8"/>
          </a:p>
        </p:txBody>
      </p:sp>
      <p:sp>
        <p:nvSpPr>
          <p:cNvPr id="599" name="Google Shape;599;p38"/>
          <p:cNvSpPr txBox="1"/>
          <p:nvPr/>
        </p:nvSpPr>
        <p:spPr>
          <a:xfrm>
            <a:off x="6107746" y="2737405"/>
            <a:ext cx="5772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700" lIns="137700" spcFirstLastPara="1" rIns="137700" wrap="square" tIns="13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4">
                <a:solidFill>
                  <a:srgbClr val="4472C4"/>
                </a:solidFill>
              </a:rPr>
              <a:t>θ</a:t>
            </a:r>
            <a:r>
              <a:rPr baseline="-25000" lang="en" sz="1404">
                <a:solidFill>
                  <a:srgbClr val="4472C4"/>
                </a:solidFill>
              </a:rPr>
              <a:t>1</a:t>
            </a:r>
            <a:endParaRPr baseline="-25000" sz="1404">
              <a:solidFill>
                <a:srgbClr val="4472C4"/>
              </a:solidFill>
            </a:endParaRPr>
          </a:p>
        </p:txBody>
      </p:sp>
      <p:sp>
        <p:nvSpPr>
          <p:cNvPr id="600" name="Google Shape;600;p38"/>
          <p:cNvSpPr/>
          <p:nvPr/>
        </p:nvSpPr>
        <p:spPr>
          <a:xfrm flipH="1" rot="-7755442">
            <a:off x="6060233" y="1309739"/>
            <a:ext cx="188684" cy="2030351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08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675" lIns="103675" spcFirstLastPara="1" rIns="103675" wrap="square" tIns="103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88"/>
          </a:p>
        </p:txBody>
      </p:sp>
      <p:sp>
        <p:nvSpPr>
          <p:cNvPr id="601" name="Google Shape;601;p38"/>
          <p:cNvSpPr txBox="1"/>
          <p:nvPr/>
        </p:nvSpPr>
        <p:spPr>
          <a:xfrm>
            <a:off x="5896753" y="2000458"/>
            <a:ext cx="35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FF"/>
                </a:solidFill>
              </a:rPr>
              <a:t>d</a:t>
            </a:r>
            <a:endParaRPr baseline="-25000" sz="1200">
              <a:solidFill>
                <a:srgbClr val="FF00FF"/>
              </a:solidFill>
            </a:endParaRPr>
          </a:p>
        </p:txBody>
      </p:sp>
      <p:cxnSp>
        <p:nvCxnSpPr>
          <p:cNvPr id="602" name="Google Shape;602;p38"/>
          <p:cNvCxnSpPr/>
          <p:nvPr/>
        </p:nvCxnSpPr>
        <p:spPr>
          <a:xfrm>
            <a:off x="7074175" y="1875873"/>
            <a:ext cx="0" cy="13710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03" name="Google Shape;603;p38"/>
          <p:cNvSpPr txBox="1"/>
          <p:nvPr/>
        </p:nvSpPr>
        <p:spPr>
          <a:xfrm>
            <a:off x="7074178" y="2322608"/>
            <a:ext cx="35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5"/>
                </a:solidFill>
              </a:rPr>
              <a:t>y</a:t>
            </a:r>
            <a:endParaRPr baseline="-25000" sz="1200">
              <a:solidFill>
                <a:schemeClr val="accent5"/>
              </a:solidFill>
            </a:endParaRPr>
          </a:p>
        </p:txBody>
      </p:sp>
      <p:sp>
        <p:nvSpPr>
          <p:cNvPr id="604" name="Google Shape;604;p38"/>
          <p:cNvSpPr txBox="1"/>
          <p:nvPr/>
        </p:nvSpPr>
        <p:spPr>
          <a:xfrm>
            <a:off x="6295878" y="3246883"/>
            <a:ext cx="35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5"/>
                </a:solidFill>
              </a:rPr>
              <a:t>x</a:t>
            </a:r>
            <a:endParaRPr baseline="-25000" sz="12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39"/>
          <p:cNvSpPr/>
          <p:nvPr/>
        </p:nvSpPr>
        <p:spPr>
          <a:xfrm>
            <a:off x="5335956" y="2431792"/>
            <a:ext cx="705000" cy="705000"/>
          </a:xfrm>
          <a:prstGeom prst="ellipse">
            <a:avLst/>
          </a:prstGeom>
          <a:solidFill>
            <a:srgbClr val="888888"/>
          </a:solidFill>
          <a:ln cap="flat" cmpd="sng" w="7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850" lIns="73850" spcFirstLastPara="1" rIns="73850" wrap="square" tIns="73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1"/>
          </a:p>
        </p:txBody>
      </p:sp>
      <p:sp>
        <p:nvSpPr>
          <p:cNvPr id="610" name="Google Shape;610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0000"/>
              </a:lnSpc>
              <a:spcBef>
                <a:spcPts val="4200"/>
              </a:spcBef>
              <a:spcAft>
                <a:spcPts val="1700"/>
              </a:spcAft>
              <a:buNone/>
            </a:pPr>
            <a:r>
              <a:rPr lang="en" sz="265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Common confusion</a:t>
            </a:r>
            <a:endParaRPr/>
          </a:p>
        </p:txBody>
      </p:sp>
      <p:sp>
        <p:nvSpPr>
          <p:cNvPr id="611" name="Google Shape;611;p39"/>
          <p:cNvSpPr/>
          <p:nvPr/>
        </p:nvSpPr>
        <p:spPr>
          <a:xfrm rot="750502">
            <a:off x="5644671" y="2360420"/>
            <a:ext cx="638557" cy="705002"/>
          </a:xfrm>
          <a:prstGeom prst="arc">
            <a:avLst>
              <a:gd fmla="val 17769257" name="adj1"/>
              <a:gd fmla="val 280597" name="adj2"/>
            </a:avLst>
          </a:prstGeom>
          <a:noFill/>
          <a:ln cap="flat" cmpd="sng" w="15375">
            <a:solidFill>
              <a:srgbClr val="FF0000"/>
            </a:solidFill>
            <a:prstDash val="solid"/>
            <a:round/>
            <a:headEnd len="sm" w="sm" type="stealth"/>
            <a:tailEnd len="sm" w="sm" type="none"/>
          </a:ln>
        </p:spPr>
        <p:txBody>
          <a:bodyPr anchorCtr="0" anchor="ctr" bIns="111200" lIns="111200" spcFirstLastPara="1" rIns="111200" wrap="square" tIns="111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3"/>
          </a:p>
        </p:txBody>
      </p:sp>
      <p:cxnSp>
        <p:nvCxnSpPr>
          <p:cNvPr id="612" name="Google Shape;612;p39"/>
          <p:cNvCxnSpPr/>
          <p:nvPr/>
        </p:nvCxnSpPr>
        <p:spPr>
          <a:xfrm>
            <a:off x="5675194" y="923011"/>
            <a:ext cx="0" cy="1880400"/>
          </a:xfrm>
          <a:prstGeom prst="straightConnector1">
            <a:avLst/>
          </a:prstGeom>
          <a:noFill/>
          <a:ln cap="flat" cmpd="sng" w="11600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13" name="Google Shape;613;p39"/>
          <p:cNvCxnSpPr/>
          <p:nvPr/>
        </p:nvCxnSpPr>
        <p:spPr>
          <a:xfrm>
            <a:off x="5670478" y="2802396"/>
            <a:ext cx="2135700" cy="0"/>
          </a:xfrm>
          <a:prstGeom prst="straightConnector1">
            <a:avLst/>
          </a:prstGeom>
          <a:noFill/>
          <a:ln cap="flat" cmpd="sng" w="116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14" name="Google Shape;614;p39"/>
          <p:cNvSpPr/>
          <p:nvPr/>
        </p:nvSpPr>
        <p:spPr>
          <a:xfrm rot="-2373980">
            <a:off x="5472098" y="2189939"/>
            <a:ext cx="1729435" cy="110586"/>
          </a:xfrm>
          <a:prstGeom prst="rect">
            <a:avLst/>
          </a:prstGeom>
          <a:solidFill>
            <a:schemeClr val="lt2"/>
          </a:solidFill>
          <a:ln cap="flat" cmpd="sng" w="11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1200" lIns="111200" spcFirstLastPara="1" rIns="111200" wrap="square" tIns="111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3"/>
          </a:p>
        </p:txBody>
      </p:sp>
      <p:sp>
        <p:nvSpPr>
          <p:cNvPr id="615" name="Google Shape;615;p39"/>
          <p:cNvSpPr/>
          <p:nvPr/>
        </p:nvSpPr>
        <p:spPr>
          <a:xfrm>
            <a:off x="5578391" y="2687529"/>
            <a:ext cx="193500" cy="193500"/>
          </a:xfrm>
          <a:prstGeom prst="ellipse">
            <a:avLst/>
          </a:prstGeom>
          <a:solidFill>
            <a:schemeClr val="lt2"/>
          </a:solidFill>
          <a:ln cap="flat" cmpd="sng" w="11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69514" rotWithShape="0" algn="bl" dir="5400000" dist="23171">
              <a:srgbClr val="000000">
                <a:alpha val="50000"/>
              </a:srgbClr>
            </a:outerShdw>
          </a:effectLst>
        </p:spPr>
        <p:txBody>
          <a:bodyPr anchorCtr="0" anchor="ctr" bIns="111200" lIns="111200" spcFirstLastPara="1" rIns="111200" wrap="square" tIns="111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3"/>
          </a:p>
        </p:txBody>
      </p:sp>
      <p:sp>
        <p:nvSpPr>
          <p:cNvPr id="616" name="Google Shape;616;p39"/>
          <p:cNvSpPr txBox="1"/>
          <p:nvPr/>
        </p:nvSpPr>
        <p:spPr>
          <a:xfrm>
            <a:off x="7500670" y="2774807"/>
            <a:ext cx="381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1200" lIns="111200" spcFirstLastPara="1" rIns="111200" wrap="square" tIns="111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16">
                <a:solidFill>
                  <a:schemeClr val="dk2"/>
                </a:solidFill>
              </a:rPr>
              <a:t>X</a:t>
            </a:r>
            <a:endParaRPr sz="1216">
              <a:solidFill>
                <a:schemeClr val="dk2"/>
              </a:solidFill>
            </a:endParaRPr>
          </a:p>
        </p:txBody>
      </p:sp>
      <p:sp>
        <p:nvSpPr>
          <p:cNvPr id="617" name="Google Shape;617;p39"/>
          <p:cNvSpPr txBox="1"/>
          <p:nvPr/>
        </p:nvSpPr>
        <p:spPr>
          <a:xfrm>
            <a:off x="5308100" y="890174"/>
            <a:ext cx="381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1200" lIns="111200" spcFirstLastPara="1" rIns="111200" wrap="square" tIns="111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16">
                <a:solidFill>
                  <a:schemeClr val="dk2"/>
                </a:solidFill>
              </a:rPr>
              <a:t>Y</a:t>
            </a:r>
            <a:endParaRPr sz="1216">
              <a:solidFill>
                <a:schemeClr val="dk2"/>
              </a:solidFill>
            </a:endParaRPr>
          </a:p>
        </p:txBody>
      </p:sp>
      <p:sp>
        <p:nvSpPr>
          <p:cNvPr id="618" name="Google Shape;618;p39"/>
          <p:cNvSpPr txBox="1"/>
          <p:nvPr/>
        </p:nvSpPr>
        <p:spPr>
          <a:xfrm>
            <a:off x="6828569" y="1230011"/>
            <a:ext cx="8634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725" lIns="83725" spcFirstLastPara="1" rIns="83725" wrap="square" tIns="83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82">
                <a:solidFill>
                  <a:schemeClr val="dk2"/>
                </a:solidFill>
              </a:rPr>
              <a:t>P(x,y,z)</a:t>
            </a:r>
            <a:endParaRPr sz="1282">
              <a:solidFill>
                <a:schemeClr val="dk2"/>
              </a:solidFill>
            </a:endParaRPr>
          </a:p>
        </p:txBody>
      </p:sp>
      <p:sp>
        <p:nvSpPr>
          <p:cNvPr id="619" name="Google Shape;619;p39"/>
          <p:cNvSpPr/>
          <p:nvPr/>
        </p:nvSpPr>
        <p:spPr>
          <a:xfrm>
            <a:off x="6318625" y="2080170"/>
            <a:ext cx="193500" cy="193500"/>
          </a:xfrm>
          <a:prstGeom prst="ellipse">
            <a:avLst/>
          </a:prstGeom>
          <a:solidFill>
            <a:schemeClr val="lt2"/>
          </a:solidFill>
          <a:ln cap="flat" cmpd="sng" w="11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69514" rotWithShape="0" algn="bl" dir="5400000" dist="23171">
              <a:srgbClr val="000000">
                <a:alpha val="50000"/>
              </a:srgbClr>
            </a:outerShdw>
          </a:effectLst>
        </p:spPr>
        <p:txBody>
          <a:bodyPr anchorCtr="0" anchor="ctr" bIns="111200" lIns="111200" spcFirstLastPara="1" rIns="111200" wrap="square" tIns="111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3"/>
          </a:p>
        </p:txBody>
      </p:sp>
      <p:sp>
        <p:nvSpPr>
          <p:cNvPr id="620" name="Google Shape;620;p39"/>
          <p:cNvSpPr/>
          <p:nvPr/>
        </p:nvSpPr>
        <p:spPr>
          <a:xfrm>
            <a:off x="6883955" y="1596606"/>
            <a:ext cx="193500" cy="193500"/>
          </a:xfrm>
          <a:prstGeom prst="ellipse">
            <a:avLst/>
          </a:prstGeom>
          <a:solidFill>
            <a:schemeClr val="lt2"/>
          </a:solidFill>
          <a:ln cap="flat" cmpd="sng" w="11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69514" rotWithShape="0" algn="bl" dir="5400000" dist="23171">
              <a:srgbClr val="000000">
                <a:alpha val="50000"/>
              </a:srgbClr>
            </a:outerShdw>
          </a:effectLst>
        </p:spPr>
        <p:txBody>
          <a:bodyPr anchorCtr="0" anchor="ctr" bIns="111200" lIns="111200" spcFirstLastPara="1" rIns="111200" wrap="square" tIns="111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3"/>
          </a:p>
        </p:txBody>
      </p:sp>
      <p:sp>
        <p:nvSpPr>
          <p:cNvPr id="621" name="Google Shape;621;p39"/>
          <p:cNvSpPr txBox="1"/>
          <p:nvPr/>
        </p:nvSpPr>
        <p:spPr>
          <a:xfrm>
            <a:off x="6200227" y="2385377"/>
            <a:ext cx="4662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11200" lIns="111200" spcFirstLastPara="1" rIns="111200" wrap="square" tIns="111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4">
                <a:solidFill>
                  <a:srgbClr val="4472C4"/>
                </a:solidFill>
              </a:rPr>
              <a:t>θ</a:t>
            </a:r>
            <a:r>
              <a:rPr baseline="-25000" lang="en" sz="1134">
                <a:solidFill>
                  <a:srgbClr val="4472C4"/>
                </a:solidFill>
              </a:rPr>
              <a:t>1</a:t>
            </a:r>
            <a:endParaRPr baseline="-25000" sz="1134">
              <a:solidFill>
                <a:srgbClr val="4472C4"/>
              </a:solidFill>
            </a:endParaRPr>
          </a:p>
        </p:txBody>
      </p:sp>
      <p:sp>
        <p:nvSpPr>
          <p:cNvPr id="622" name="Google Shape;622;p39"/>
          <p:cNvSpPr/>
          <p:nvPr/>
        </p:nvSpPr>
        <p:spPr>
          <a:xfrm flipH="1" rot="-7754504">
            <a:off x="6161891" y="1232347"/>
            <a:ext cx="152230" cy="163977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87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725" lIns="83725" spcFirstLastPara="1" rIns="83725" wrap="square" tIns="83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2"/>
          </a:p>
        </p:txBody>
      </p:sp>
      <p:sp>
        <p:nvSpPr>
          <p:cNvPr id="623" name="Google Shape;623;p39"/>
          <p:cNvSpPr txBox="1"/>
          <p:nvPr/>
        </p:nvSpPr>
        <p:spPr>
          <a:xfrm>
            <a:off x="6029821" y="1790193"/>
            <a:ext cx="2889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73850" lIns="73850" spcFirstLastPara="1" rIns="73850" wrap="square" tIns="738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9">
                <a:solidFill>
                  <a:srgbClr val="FF00FF"/>
                </a:solidFill>
              </a:rPr>
              <a:t>d</a:t>
            </a:r>
            <a:endParaRPr baseline="-25000" sz="969">
              <a:solidFill>
                <a:srgbClr val="FF00FF"/>
              </a:solidFill>
            </a:endParaRPr>
          </a:p>
        </p:txBody>
      </p:sp>
      <p:cxnSp>
        <p:nvCxnSpPr>
          <p:cNvPr id="624" name="Google Shape;624;p39"/>
          <p:cNvCxnSpPr/>
          <p:nvPr/>
        </p:nvCxnSpPr>
        <p:spPr>
          <a:xfrm>
            <a:off x="6980752" y="1689574"/>
            <a:ext cx="0" cy="1107300"/>
          </a:xfrm>
          <a:prstGeom prst="straightConnector1">
            <a:avLst/>
          </a:prstGeom>
          <a:noFill/>
          <a:ln cap="flat" cmpd="sng" w="15375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25" name="Google Shape;625;p39"/>
          <p:cNvSpPr txBox="1"/>
          <p:nvPr/>
        </p:nvSpPr>
        <p:spPr>
          <a:xfrm>
            <a:off x="6980755" y="2050373"/>
            <a:ext cx="2889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73850" lIns="73850" spcFirstLastPara="1" rIns="73850" wrap="square" tIns="738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9">
                <a:solidFill>
                  <a:schemeClr val="accent5"/>
                </a:solidFill>
              </a:rPr>
              <a:t>y</a:t>
            </a:r>
            <a:endParaRPr baseline="-25000" sz="969">
              <a:solidFill>
                <a:schemeClr val="accent5"/>
              </a:solidFill>
            </a:endParaRPr>
          </a:p>
        </p:txBody>
      </p:sp>
      <p:sp>
        <p:nvSpPr>
          <p:cNvPr id="626" name="Google Shape;626;p39"/>
          <p:cNvSpPr txBox="1"/>
          <p:nvPr/>
        </p:nvSpPr>
        <p:spPr>
          <a:xfrm>
            <a:off x="6352170" y="2796850"/>
            <a:ext cx="2889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73850" lIns="73850" spcFirstLastPara="1" rIns="73850" wrap="square" tIns="738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9">
                <a:solidFill>
                  <a:schemeClr val="accent5"/>
                </a:solidFill>
              </a:rPr>
              <a:t>x</a:t>
            </a:r>
            <a:endParaRPr baseline="-25000" sz="969">
              <a:solidFill>
                <a:schemeClr val="accent5"/>
              </a:solidFill>
            </a:endParaRPr>
          </a:p>
        </p:txBody>
      </p:sp>
      <p:grpSp>
        <p:nvGrpSpPr>
          <p:cNvPr id="627" name="Google Shape;627;p39"/>
          <p:cNvGrpSpPr/>
          <p:nvPr/>
        </p:nvGrpSpPr>
        <p:grpSpPr>
          <a:xfrm>
            <a:off x="1262339" y="890171"/>
            <a:ext cx="2994641" cy="2384814"/>
            <a:chOff x="2284296" y="939575"/>
            <a:chExt cx="3708074" cy="2952964"/>
          </a:xfrm>
        </p:grpSpPr>
        <p:sp>
          <p:nvSpPr>
            <p:cNvPr id="628" name="Google Shape;628;p39"/>
            <p:cNvSpPr/>
            <p:nvPr/>
          </p:nvSpPr>
          <p:spPr>
            <a:xfrm rot="-2696320">
              <a:off x="4223002" y="1788936"/>
              <a:ext cx="990869" cy="137037"/>
            </a:xfrm>
            <a:prstGeom prst="rect">
              <a:avLst/>
            </a:prstGeom>
            <a:solidFill>
              <a:schemeClr val="lt2"/>
            </a:solidFill>
            <a:ln cap="flat" cmpd="sng" w="116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1200" lIns="111200" spcFirstLastPara="1" rIns="111200" wrap="square" tIns="111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3"/>
            </a:p>
          </p:txBody>
        </p:sp>
        <p:sp>
          <p:nvSpPr>
            <p:cNvPr id="629" name="Google Shape;629;p39"/>
            <p:cNvSpPr/>
            <p:nvPr/>
          </p:nvSpPr>
          <p:spPr>
            <a:xfrm rot="1517077">
              <a:off x="3314993" y="2643068"/>
              <a:ext cx="438289" cy="483652"/>
            </a:xfrm>
            <a:prstGeom prst="arc">
              <a:avLst>
                <a:gd fmla="val 16200000" name="adj1"/>
                <a:gd fmla="val 20489641" name="adj2"/>
              </a:avLst>
            </a:prstGeom>
            <a:noFill/>
            <a:ln cap="flat" cmpd="sng" w="15375">
              <a:solidFill>
                <a:srgbClr val="FF0000"/>
              </a:solidFill>
              <a:prstDash val="solid"/>
              <a:round/>
              <a:headEnd len="sm" w="sm" type="stealth"/>
              <a:tailEnd len="sm" w="sm" type="none"/>
            </a:ln>
          </p:spPr>
          <p:txBody>
            <a:bodyPr anchorCtr="0" anchor="ctr" bIns="111200" lIns="111200" spcFirstLastPara="1" rIns="111200" wrap="square" tIns="111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3"/>
            </a:p>
          </p:txBody>
        </p:sp>
        <p:cxnSp>
          <p:nvCxnSpPr>
            <p:cNvPr id="630" name="Google Shape;630;p39"/>
            <p:cNvCxnSpPr/>
            <p:nvPr/>
          </p:nvCxnSpPr>
          <p:spPr>
            <a:xfrm>
              <a:off x="2984487" y="1089678"/>
              <a:ext cx="0" cy="2328300"/>
            </a:xfrm>
            <a:prstGeom prst="straightConnector1">
              <a:avLst/>
            </a:prstGeom>
            <a:noFill/>
            <a:ln cap="flat" cmpd="sng" w="11600">
              <a:solidFill>
                <a:schemeClr val="dk1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cxnSp>
          <p:nvCxnSpPr>
            <p:cNvPr id="631" name="Google Shape;631;p39"/>
            <p:cNvCxnSpPr/>
            <p:nvPr/>
          </p:nvCxnSpPr>
          <p:spPr>
            <a:xfrm>
              <a:off x="2978647" y="3416700"/>
              <a:ext cx="2644500" cy="0"/>
            </a:xfrm>
            <a:prstGeom prst="straightConnector1">
              <a:avLst/>
            </a:prstGeom>
            <a:noFill/>
            <a:ln cap="flat" cmpd="sng" w="11600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632" name="Google Shape;632;p39"/>
            <p:cNvSpPr/>
            <p:nvPr/>
          </p:nvSpPr>
          <p:spPr>
            <a:xfrm rot="-1532021">
              <a:off x="2912342" y="2498199"/>
              <a:ext cx="1513079" cy="137003"/>
            </a:xfrm>
            <a:prstGeom prst="rect">
              <a:avLst/>
            </a:prstGeom>
            <a:solidFill>
              <a:schemeClr val="lt2"/>
            </a:solidFill>
            <a:ln cap="flat" cmpd="sng" w="116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1200" lIns="111200" spcFirstLastPara="1" rIns="111200" wrap="square" tIns="111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3"/>
            </a:p>
          </p:txBody>
        </p:sp>
        <p:sp>
          <p:nvSpPr>
            <p:cNvPr id="633" name="Google Shape;633;p39"/>
            <p:cNvSpPr/>
            <p:nvPr/>
          </p:nvSpPr>
          <p:spPr>
            <a:xfrm>
              <a:off x="2861502" y="2778298"/>
              <a:ext cx="239700" cy="239700"/>
            </a:xfrm>
            <a:prstGeom prst="ellipse">
              <a:avLst/>
            </a:prstGeom>
            <a:solidFill>
              <a:schemeClr val="lt2"/>
            </a:solidFill>
            <a:ln cap="flat" cmpd="sng" w="116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9514" rotWithShape="0" algn="bl" dir="5400000" dist="23171">
                <a:srgbClr val="000000">
                  <a:alpha val="50000"/>
                </a:srgbClr>
              </a:outerShdw>
            </a:effectLst>
          </p:spPr>
          <p:txBody>
            <a:bodyPr anchorCtr="0" anchor="ctr" bIns="111200" lIns="111200" spcFirstLastPara="1" rIns="111200" wrap="square" tIns="111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3"/>
            </a:p>
          </p:txBody>
        </p:sp>
        <p:sp>
          <p:nvSpPr>
            <p:cNvPr id="634" name="Google Shape;634;p39"/>
            <p:cNvSpPr txBox="1"/>
            <p:nvPr/>
          </p:nvSpPr>
          <p:spPr>
            <a:xfrm>
              <a:off x="5244751" y="3382540"/>
              <a:ext cx="471600" cy="5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1200" lIns="111200" spcFirstLastPara="1" rIns="111200" wrap="square" tIns="1112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16">
                  <a:solidFill>
                    <a:schemeClr val="dk2"/>
                  </a:solidFill>
                </a:rPr>
                <a:t>X</a:t>
              </a:r>
              <a:endParaRPr sz="1216">
                <a:solidFill>
                  <a:schemeClr val="dk2"/>
                </a:solidFill>
              </a:endParaRPr>
            </a:p>
          </p:txBody>
        </p:sp>
        <p:sp>
          <p:nvSpPr>
            <p:cNvPr id="635" name="Google Shape;635;p39"/>
            <p:cNvSpPr txBox="1"/>
            <p:nvPr/>
          </p:nvSpPr>
          <p:spPr>
            <a:xfrm>
              <a:off x="2529960" y="1049020"/>
              <a:ext cx="471600" cy="5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1200" lIns="111200" spcFirstLastPara="1" rIns="111200" wrap="square" tIns="1112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16">
                  <a:solidFill>
                    <a:schemeClr val="dk2"/>
                  </a:solidFill>
                </a:rPr>
                <a:t>Z</a:t>
              </a:r>
              <a:endParaRPr sz="1216">
                <a:solidFill>
                  <a:schemeClr val="dk2"/>
                </a:solidFill>
              </a:endParaRPr>
            </a:p>
          </p:txBody>
        </p:sp>
        <p:sp>
          <p:nvSpPr>
            <p:cNvPr id="636" name="Google Shape;636;p39"/>
            <p:cNvSpPr/>
            <p:nvPr/>
          </p:nvSpPr>
          <p:spPr>
            <a:xfrm rot="9089001">
              <a:off x="3966846" y="1882160"/>
              <a:ext cx="760346" cy="743563"/>
            </a:xfrm>
            <a:prstGeom prst="arc">
              <a:avLst>
                <a:gd fmla="val 10351248" name="adj1"/>
                <a:gd fmla="val 21123469" name="adj2"/>
              </a:avLst>
            </a:prstGeom>
            <a:noFill/>
            <a:ln cap="flat" cmpd="sng" w="15375">
              <a:solidFill>
                <a:srgbClr val="FF0000"/>
              </a:solidFill>
              <a:prstDash val="solid"/>
              <a:round/>
              <a:headEnd len="sm" w="sm" type="stealth"/>
              <a:tailEnd len="sm" w="sm" type="none"/>
            </a:ln>
          </p:spPr>
          <p:txBody>
            <a:bodyPr anchorCtr="0" anchor="ctr" bIns="111200" lIns="111200" spcFirstLastPara="1" rIns="111200" wrap="square" tIns="111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3"/>
            </a:p>
          </p:txBody>
        </p:sp>
        <p:sp>
          <p:nvSpPr>
            <p:cNvPr id="637" name="Google Shape;637;p39"/>
            <p:cNvSpPr txBox="1"/>
            <p:nvPr/>
          </p:nvSpPr>
          <p:spPr>
            <a:xfrm>
              <a:off x="4667411" y="1962780"/>
              <a:ext cx="577200" cy="5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1200" lIns="111200" spcFirstLastPara="1" rIns="111200" wrap="square" tIns="1112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15">
                  <a:solidFill>
                    <a:srgbClr val="4472C4"/>
                  </a:solidFill>
                </a:rPr>
                <a:t>θ</a:t>
              </a:r>
              <a:r>
                <a:rPr baseline="-25000" lang="en" sz="1215">
                  <a:solidFill>
                    <a:srgbClr val="4472C4"/>
                  </a:solidFill>
                </a:rPr>
                <a:t>3</a:t>
              </a:r>
              <a:endParaRPr baseline="-25000" sz="1215">
                <a:solidFill>
                  <a:srgbClr val="4472C4"/>
                </a:solidFill>
              </a:endParaRPr>
            </a:p>
          </p:txBody>
        </p:sp>
        <p:sp>
          <p:nvSpPr>
            <p:cNvPr id="638" name="Google Shape;638;p39"/>
            <p:cNvSpPr txBox="1"/>
            <p:nvPr/>
          </p:nvSpPr>
          <p:spPr>
            <a:xfrm>
              <a:off x="2284296" y="2918181"/>
              <a:ext cx="577200" cy="5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1200" lIns="111200" spcFirstLastPara="1" rIns="111200" wrap="square" tIns="1112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60">
                  <a:solidFill>
                    <a:srgbClr val="4472C4"/>
                  </a:solidFill>
                </a:rPr>
                <a:t>h</a:t>
              </a:r>
              <a:endParaRPr baseline="-25000" sz="1460">
                <a:solidFill>
                  <a:srgbClr val="4472C4"/>
                </a:solidFill>
              </a:endParaRPr>
            </a:p>
          </p:txBody>
        </p:sp>
        <p:sp>
          <p:nvSpPr>
            <p:cNvPr id="639" name="Google Shape;639;p39"/>
            <p:cNvSpPr txBox="1"/>
            <p:nvPr/>
          </p:nvSpPr>
          <p:spPr>
            <a:xfrm>
              <a:off x="4260386" y="1297246"/>
              <a:ext cx="577200" cy="5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1200" lIns="111200" spcFirstLastPara="1" rIns="111200" wrap="square" tIns="1112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60">
                  <a:solidFill>
                    <a:srgbClr val="4472C4"/>
                  </a:solidFill>
                </a:rPr>
                <a:t>L</a:t>
              </a:r>
              <a:r>
                <a:rPr baseline="-25000" lang="en" sz="1460">
                  <a:solidFill>
                    <a:srgbClr val="4472C4"/>
                  </a:solidFill>
                </a:rPr>
                <a:t>3</a:t>
              </a:r>
              <a:endParaRPr baseline="-25000" sz="1460">
                <a:solidFill>
                  <a:srgbClr val="4472C4"/>
                </a:solidFill>
              </a:endParaRPr>
            </a:p>
          </p:txBody>
        </p:sp>
        <p:sp>
          <p:nvSpPr>
            <p:cNvPr id="640" name="Google Shape;640;p39"/>
            <p:cNvSpPr txBox="1"/>
            <p:nvPr/>
          </p:nvSpPr>
          <p:spPr>
            <a:xfrm>
              <a:off x="3363236" y="1962784"/>
              <a:ext cx="577200" cy="5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1200" lIns="111200" spcFirstLastPara="1" rIns="111200" wrap="square" tIns="1112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60">
                  <a:solidFill>
                    <a:srgbClr val="4472C4"/>
                  </a:solidFill>
                </a:rPr>
                <a:t>L</a:t>
              </a:r>
              <a:r>
                <a:rPr baseline="-25000" lang="en" sz="1460">
                  <a:solidFill>
                    <a:srgbClr val="4472C4"/>
                  </a:solidFill>
                </a:rPr>
                <a:t>2</a:t>
              </a:r>
              <a:endParaRPr baseline="-25000" sz="1460">
                <a:solidFill>
                  <a:srgbClr val="4472C4"/>
                </a:solidFill>
              </a:endParaRPr>
            </a:p>
          </p:txBody>
        </p:sp>
        <p:sp>
          <p:nvSpPr>
            <p:cNvPr id="641" name="Google Shape;641;p39"/>
            <p:cNvSpPr txBox="1"/>
            <p:nvPr/>
          </p:nvSpPr>
          <p:spPr>
            <a:xfrm>
              <a:off x="4923470" y="939575"/>
              <a:ext cx="1068900" cy="4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725" lIns="83725" spcFirstLastPara="1" rIns="83725" wrap="square" tIns="837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82">
                  <a:solidFill>
                    <a:schemeClr val="dk2"/>
                  </a:solidFill>
                </a:rPr>
                <a:t>P(x,y,z)</a:t>
              </a:r>
              <a:endParaRPr sz="1282">
                <a:solidFill>
                  <a:schemeClr val="dk2"/>
                </a:solidFill>
              </a:endParaRPr>
            </a:p>
          </p:txBody>
        </p:sp>
        <p:sp>
          <p:nvSpPr>
            <p:cNvPr id="642" name="Google Shape;642;p39"/>
            <p:cNvSpPr/>
            <p:nvPr/>
          </p:nvSpPr>
          <p:spPr>
            <a:xfrm>
              <a:off x="4227094" y="2121002"/>
              <a:ext cx="239700" cy="239700"/>
            </a:xfrm>
            <a:prstGeom prst="ellipse">
              <a:avLst/>
            </a:prstGeom>
            <a:solidFill>
              <a:schemeClr val="lt2"/>
            </a:solidFill>
            <a:ln cap="flat" cmpd="sng" w="116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9514" rotWithShape="0" algn="bl" dir="5400000" dist="23171">
                <a:srgbClr val="000000">
                  <a:alpha val="50000"/>
                </a:srgbClr>
              </a:outerShdw>
            </a:effectLst>
          </p:spPr>
          <p:txBody>
            <a:bodyPr anchorCtr="0" anchor="ctr" bIns="111200" lIns="111200" spcFirstLastPara="1" rIns="111200" wrap="square" tIns="111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3"/>
            </a:p>
          </p:txBody>
        </p:sp>
        <p:sp>
          <p:nvSpPr>
            <p:cNvPr id="643" name="Google Shape;643;p39"/>
            <p:cNvSpPr/>
            <p:nvPr/>
          </p:nvSpPr>
          <p:spPr>
            <a:xfrm>
              <a:off x="4965060" y="1378187"/>
              <a:ext cx="239700" cy="239700"/>
            </a:xfrm>
            <a:prstGeom prst="ellipse">
              <a:avLst/>
            </a:prstGeom>
            <a:solidFill>
              <a:schemeClr val="lt2"/>
            </a:solidFill>
            <a:ln cap="flat" cmpd="sng" w="116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9514" rotWithShape="0" algn="bl" dir="5400000" dist="23171">
                <a:srgbClr val="000000">
                  <a:alpha val="50000"/>
                </a:srgbClr>
              </a:outerShdw>
            </a:effectLst>
          </p:spPr>
          <p:txBody>
            <a:bodyPr anchorCtr="0" anchor="ctr" bIns="111200" lIns="111200" spcFirstLastPara="1" rIns="111200" wrap="square" tIns="111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3"/>
            </a:p>
          </p:txBody>
        </p:sp>
        <p:cxnSp>
          <p:nvCxnSpPr>
            <p:cNvPr id="644" name="Google Shape;644;p39"/>
            <p:cNvCxnSpPr/>
            <p:nvPr/>
          </p:nvCxnSpPr>
          <p:spPr>
            <a:xfrm>
              <a:off x="2984487" y="2916495"/>
              <a:ext cx="1243200" cy="0"/>
            </a:xfrm>
            <a:prstGeom prst="straightConnector1">
              <a:avLst/>
            </a:prstGeom>
            <a:noFill/>
            <a:ln cap="flat" cmpd="sng" w="15375">
              <a:solidFill>
                <a:srgbClr val="FF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645" name="Google Shape;645;p39"/>
            <p:cNvSpPr txBox="1"/>
            <p:nvPr/>
          </p:nvSpPr>
          <p:spPr>
            <a:xfrm>
              <a:off x="3649766" y="2494497"/>
              <a:ext cx="577200" cy="5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1200" lIns="111200" spcFirstLastPara="1" rIns="111200" wrap="square" tIns="1112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15">
                  <a:solidFill>
                    <a:srgbClr val="4472C4"/>
                  </a:solidFill>
                </a:rPr>
                <a:t>θ</a:t>
              </a:r>
              <a:r>
                <a:rPr baseline="-25000" lang="en" sz="1215">
                  <a:solidFill>
                    <a:srgbClr val="4472C4"/>
                  </a:solidFill>
                </a:rPr>
                <a:t>2</a:t>
              </a:r>
              <a:endParaRPr baseline="-25000" sz="1215">
                <a:solidFill>
                  <a:srgbClr val="4472C4"/>
                </a:solidFill>
              </a:endParaRPr>
            </a:p>
          </p:txBody>
        </p:sp>
        <p:sp>
          <p:nvSpPr>
            <p:cNvPr id="646" name="Google Shape;646;p39"/>
            <p:cNvSpPr/>
            <p:nvPr/>
          </p:nvSpPr>
          <p:spPr>
            <a:xfrm>
              <a:off x="2667550" y="2879602"/>
              <a:ext cx="168000" cy="5562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87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3725" lIns="83725" spcFirstLastPara="1" rIns="83725" wrap="square" tIns="837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82"/>
            </a:p>
          </p:txBody>
        </p:sp>
      </p:grpSp>
      <p:cxnSp>
        <p:nvCxnSpPr>
          <p:cNvPr id="647" name="Google Shape;647;p39"/>
          <p:cNvCxnSpPr/>
          <p:nvPr/>
        </p:nvCxnSpPr>
        <p:spPr>
          <a:xfrm>
            <a:off x="3536791" y="1343949"/>
            <a:ext cx="0" cy="1553700"/>
          </a:xfrm>
          <a:prstGeom prst="straightConnector1">
            <a:avLst/>
          </a:prstGeom>
          <a:noFill/>
          <a:ln cap="flat" cmpd="sng" w="15375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48" name="Google Shape;648;p39"/>
          <p:cNvCxnSpPr/>
          <p:nvPr/>
        </p:nvCxnSpPr>
        <p:spPr>
          <a:xfrm rot="10800000">
            <a:off x="1722223" y="2487364"/>
            <a:ext cx="1825500" cy="0"/>
          </a:xfrm>
          <a:prstGeom prst="straightConnector1">
            <a:avLst/>
          </a:prstGeom>
          <a:noFill/>
          <a:ln cap="flat" cmpd="sng" w="15375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49" name="Google Shape;649;p39"/>
          <p:cNvSpPr/>
          <p:nvPr/>
        </p:nvSpPr>
        <p:spPr>
          <a:xfrm rot="-5400000">
            <a:off x="2614674" y="2143164"/>
            <a:ext cx="135600" cy="17037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87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725" lIns="83725" spcFirstLastPara="1" rIns="83725" wrap="square" tIns="83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2"/>
          </a:p>
        </p:txBody>
      </p:sp>
      <p:sp>
        <p:nvSpPr>
          <p:cNvPr id="650" name="Google Shape;650;p39"/>
          <p:cNvSpPr/>
          <p:nvPr/>
        </p:nvSpPr>
        <p:spPr>
          <a:xfrm rot="10800000">
            <a:off x="3667061" y="1343878"/>
            <a:ext cx="135600" cy="15429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87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725" lIns="83725" spcFirstLastPara="1" rIns="83725" wrap="square" tIns="83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2"/>
          </a:p>
        </p:txBody>
      </p:sp>
      <p:sp>
        <p:nvSpPr>
          <p:cNvPr id="651" name="Google Shape;651;p39"/>
          <p:cNvSpPr txBox="1"/>
          <p:nvPr/>
        </p:nvSpPr>
        <p:spPr>
          <a:xfrm>
            <a:off x="2189339" y="3007863"/>
            <a:ext cx="9864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73850" lIns="73850" spcFirstLastPara="1" rIns="73850" wrap="square" tIns="738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9">
                <a:solidFill>
                  <a:srgbClr val="FF00FF"/>
                </a:solidFill>
              </a:rPr>
              <a:t>d </a:t>
            </a:r>
            <a:br>
              <a:rPr lang="en" sz="969">
                <a:solidFill>
                  <a:srgbClr val="FF00FF"/>
                </a:solidFill>
              </a:rPr>
            </a:br>
            <a:r>
              <a:rPr lang="en" sz="969">
                <a:solidFill>
                  <a:srgbClr val="FF00FF"/>
                </a:solidFill>
              </a:rPr>
              <a:t>(projection)</a:t>
            </a:r>
            <a:endParaRPr baseline="-25000" sz="969">
              <a:solidFill>
                <a:srgbClr val="FF00FF"/>
              </a:solidFill>
            </a:endParaRPr>
          </a:p>
        </p:txBody>
      </p:sp>
      <p:sp>
        <p:nvSpPr>
          <p:cNvPr id="652" name="Google Shape;652;p39"/>
          <p:cNvSpPr txBox="1"/>
          <p:nvPr/>
        </p:nvSpPr>
        <p:spPr>
          <a:xfrm>
            <a:off x="4178783" y="1985115"/>
            <a:ext cx="2889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73850" lIns="73850" spcFirstLastPara="1" rIns="73850" wrap="square" tIns="738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9">
                <a:solidFill>
                  <a:schemeClr val="accent5"/>
                </a:solidFill>
              </a:rPr>
              <a:t>z</a:t>
            </a:r>
            <a:endParaRPr baseline="-25000" sz="969">
              <a:solidFill>
                <a:schemeClr val="accent5"/>
              </a:solidFill>
            </a:endParaRPr>
          </a:p>
        </p:txBody>
      </p:sp>
      <p:sp>
        <p:nvSpPr>
          <p:cNvPr id="653" name="Google Shape;653;p39"/>
          <p:cNvSpPr txBox="1"/>
          <p:nvPr/>
        </p:nvSpPr>
        <p:spPr>
          <a:xfrm>
            <a:off x="311700" y="3775550"/>
            <a:ext cx="8520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the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side view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d is just the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horizontal reach of the arm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meaning how far the arm extends forward, ignoring whether it goes left or right.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view hides the rotation of the base, so it loses direction information in the horizontal plane.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That’s why we cannot get the real x-value from the side view alone. We only get the length, not where it points.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39"/>
          <p:cNvSpPr txBox="1"/>
          <p:nvPr/>
        </p:nvSpPr>
        <p:spPr>
          <a:xfrm rot="-5398749">
            <a:off x="293388" y="1739348"/>
            <a:ext cx="164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lang="en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ide View</a:t>
            </a:r>
            <a:endParaRPr>
              <a:solidFill>
                <a:srgbClr val="2E75B5"/>
              </a:solidFill>
            </a:endParaRPr>
          </a:p>
        </p:txBody>
      </p:sp>
      <p:sp>
        <p:nvSpPr>
          <p:cNvPr id="655" name="Google Shape;655;p39"/>
          <p:cNvSpPr txBox="1"/>
          <p:nvPr/>
        </p:nvSpPr>
        <p:spPr>
          <a:xfrm rot="-1877">
            <a:off x="5914220" y="531275"/>
            <a:ext cx="164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Top</a:t>
            </a:r>
            <a:r>
              <a:rPr b="1" lang="en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 View</a:t>
            </a:r>
            <a:endParaRPr>
              <a:solidFill>
                <a:srgbClr val="2E75B5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0000"/>
              </a:lnSpc>
              <a:spcBef>
                <a:spcPts val="4200"/>
              </a:spcBef>
              <a:spcAft>
                <a:spcPts val="1700"/>
              </a:spcAft>
              <a:buNone/>
            </a:pPr>
            <a:r>
              <a:rPr lang="en" sz="265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3R-3D Planar Robot [Extension]</a:t>
            </a:r>
            <a:endParaRPr/>
          </a:p>
        </p:txBody>
      </p:sp>
      <p:sp>
        <p:nvSpPr>
          <p:cNvPr id="661" name="Google Shape;661;p40"/>
          <p:cNvSpPr txBox="1"/>
          <p:nvPr/>
        </p:nvSpPr>
        <p:spPr>
          <a:xfrm>
            <a:off x="311700" y="982975"/>
            <a:ext cx="516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angles are given with respect to previous link’s length across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2" name="Google Shape;662;p40"/>
          <p:cNvGrpSpPr/>
          <p:nvPr/>
        </p:nvGrpSpPr>
        <p:grpSpPr>
          <a:xfrm>
            <a:off x="909066" y="1451032"/>
            <a:ext cx="2661322" cy="2363464"/>
            <a:chOff x="1949651" y="939575"/>
            <a:chExt cx="4042719" cy="3590253"/>
          </a:xfrm>
        </p:grpSpPr>
        <p:sp>
          <p:nvSpPr>
            <p:cNvPr id="663" name="Google Shape;663;p40"/>
            <p:cNvSpPr/>
            <p:nvPr/>
          </p:nvSpPr>
          <p:spPr>
            <a:xfrm rot="-2696320">
              <a:off x="4223002" y="1788936"/>
              <a:ext cx="990869" cy="137037"/>
            </a:xfrm>
            <a:prstGeom prst="rect">
              <a:avLst/>
            </a:prstGeom>
            <a:solidFill>
              <a:schemeClr val="lt2"/>
            </a:solidFill>
            <a:ln cap="flat" cmpd="sng" w="9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650" lIns="90650" spcFirstLastPara="1" rIns="90650" wrap="square" tIns="90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88"/>
            </a:p>
          </p:txBody>
        </p:sp>
        <p:sp>
          <p:nvSpPr>
            <p:cNvPr id="664" name="Google Shape;664;p40"/>
            <p:cNvSpPr/>
            <p:nvPr/>
          </p:nvSpPr>
          <p:spPr>
            <a:xfrm>
              <a:off x="2575388" y="2778300"/>
              <a:ext cx="812100" cy="978300"/>
            </a:xfrm>
            <a:prstGeom prst="can">
              <a:avLst>
                <a:gd fmla="val 38881" name="adj"/>
              </a:avLst>
            </a:prstGeom>
            <a:solidFill>
              <a:srgbClr val="888888"/>
            </a:solidFill>
            <a:ln cap="flat" cmpd="sng" w="7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2662" rotWithShape="0" algn="bl" dir="5400000" dist="14221">
                <a:srgbClr val="000000">
                  <a:alpha val="50000"/>
                </a:srgbClr>
              </a:outerShdw>
            </a:effectLst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/>
            </a:p>
          </p:txBody>
        </p:sp>
        <p:sp>
          <p:nvSpPr>
            <p:cNvPr id="665" name="Google Shape;665;p40"/>
            <p:cNvSpPr/>
            <p:nvPr/>
          </p:nvSpPr>
          <p:spPr>
            <a:xfrm rot="1517077">
              <a:off x="3314993" y="2643068"/>
              <a:ext cx="438289" cy="483652"/>
            </a:xfrm>
            <a:prstGeom prst="arc">
              <a:avLst>
                <a:gd fmla="val 16200000" name="adj1"/>
                <a:gd fmla="val 20489641" name="adj2"/>
              </a:avLst>
            </a:prstGeom>
            <a:noFill/>
            <a:ln cap="flat" cmpd="sng" w="12550">
              <a:solidFill>
                <a:srgbClr val="FF0000"/>
              </a:solidFill>
              <a:prstDash val="solid"/>
              <a:round/>
              <a:headEnd len="sm" w="sm" type="stealth"/>
              <a:tailEnd len="sm" w="sm" type="none"/>
            </a:ln>
          </p:spPr>
          <p:txBody>
            <a:bodyPr anchorCtr="0" anchor="ctr" bIns="90650" lIns="90650" spcFirstLastPara="1" rIns="90650" wrap="square" tIns="90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88"/>
            </a:p>
          </p:txBody>
        </p:sp>
        <p:cxnSp>
          <p:nvCxnSpPr>
            <p:cNvPr id="666" name="Google Shape;666;p40"/>
            <p:cNvCxnSpPr/>
            <p:nvPr/>
          </p:nvCxnSpPr>
          <p:spPr>
            <a:xfrm>
              <a:off x="2984487" y="1089678"/>
              <a:ext cx="0" cy="2328300"/>
            </a:xfrm>
            <a:prstGeom prst="straightConnector1">
              <a:avLst/>
            </a:prstGeom>
            <a:noFill/>
            <a:ln cap="flat" cmpd="sng" w="9450">
              <a:solidFill>
                <a:schemeClr val="dk1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cxnSp>
          <p:nvCxnSpPr>
            <p:cNvPr id="667" name="Google Shape;667;p40"/>
            <p:cNvCxnSpPr/>
            <p:nvPr/>
          </p:nvCxnSpPr>
          <p:spPr>
            <a:xfrm>
              <a:off x="2978647" y="3416700"/>
              <a:ext cx="2644500" cy="0"/>
            </a:xfrm>
            <a:prstGeom prst="straightConnector1">
              <a:avLst/>
            </a:prstGeom>
            <a:noFill/>
            <a:ln cap="flat" cmpd="sng" w="9450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668" name="Google Shape;668;p40"/>
            <p:cNvSpPr/>
            <p:nvPr/>
          </p:nvSpPr>
          <p:spPr>
            <a:xfrm rot="-1532021">
              <a:off x="2912342" y="2498199"/>
              <a:ext cx="1513079" cy="137003"/>
            </a:xfrm>
            <a:prstGeom prst="rect">
              <a:avLst/>
            </a:prstGeom>
            <a:solidFill>
              <a:schemeClr val="lt2"/>
            </a:solidFill>
            <a:ln cap="flat" cmpd="sng" w="9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650" lIns="90650" spcFirstLastPara="1" rIns="90650" wrap="square" tIns="90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88"/>
            </a:p>
          </p:txBody>
        </p:sp>
        <p:sp>
          <p:nvSpPr>
            <p:cNvPr id="669" name="Google Shape;669;p40"/>
            <p:cNvSpPr/>
            <p:nvPr/>
          </p:nvSpPr>
          <p:spPr>
            <a:xfrm>
              <a:off x="2861502" y="2778298"/>
              <a:ext cx="239700" cy="239700"/>
            </a:xfrm>
            <a:prstGeom prst="ellipse">
              <a:avLst/>
            </a:prstGeom>
            <a:solidFill>
              <a:schemeClr val="lt2"/>
            </a:solidFill>
            <a:ln cap="flat" cmpd="sng" w="9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6657" rotWithShape="0" algn="bl" dir="5400000" dist="18886">
                <a:srgbClr val="000000">
                  <a:alpha val="50000"/>
                </a:srgbClr>
              </a:outerShdw>
            </a:effectLst>
          </p:spPr>
          <p:txBody>
            <a:bodyPr anchorCtr="0" anchor="ctr" bIns="90650" lIns="90650" spcFirstLastPara="1" rIns="90650" wrap="square" tIns="90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88"/>
            </a:p>
          </p:txBody>
        </p:sp>
        <p:sp>
          <p:nvSpPr>
            <p:cNvPr id="670" name="Google Shape;670;p40"/>
            <p:cNvSpPr txBox="1"/>
            <p:nvPr/>
          </p:nvSpPr>
          <p:spPr>
            <a:xfrm>
              <a:off x="5244751" y="3382540"/>
              <a:ext cx="471600" cy="5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0650" lIns="90650" spcFirstLastPara="1" rIns="90650" wrap="square" tIns="906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91">
                  <a:solidFill>
                    <a:schemeClr val="dk2"/>
                  </a:solidFill>
                </a:rPr>
                <a:t>X</a:t>
              </a:r>
              <a:endParaRPr sz="991">
                <a:solidFill>
                  <a:schemeClr val="dk2"/>
                </a:solidFill>
              </a:endParaRPr>
            </a:p>
          </p:txBody>
        </p:sp>
        <p:sp>
          <p:nvSpPr>
            <p:cNvPr id="671" name="Google Shape;671;p40"/>
            <p:cNvSpPr txBox="1"/>
            <p:nvPr/>
          </p:nvSpPr>
          <p:spPr>
            <a:xfrm>
              <a:off x="2529960" y="1049020"/>
              <a:ext cx="471600" cy="5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0650" lIns="90650" spcFirstLastPara="1" rIns="90650" wrap="square" tIns="906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91">
                  <a:solidFill>
                    <a:schemeClr val="dk2"/>
                  </a:solidFill>
                </a:rPr>
                <a:t>Z</a:t>
              </a:r>
              <a:endParaRPr sz="991">
                <a:solidFill>
                  <a:schemeClr val="dk2"/>
                </a:solidFill>
              </a:endParaRPr>
            </a:p>
          </p:txBody>
        </p:sp>
        <p:sp>
          <p:nvSpPr>
            <p:cNvPr id="672" name="Google Shape;672;p40"/>
            <p:cNvSpPr txBox="1"/>
            <p:nvPr/>
          </p:nvSpPr>
          <p:spPr>
            <a:xfrm>
              <a:off x="3526103" y="3636204"/>
              <a:ext cx="577200" cy="5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0650" lIns="90650" spcFirstLastPara="1" rIns="90650" wrap="square" tIns="906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90">
                  <a:solidFill>
                    <a:srgbClr val="4472C4"/>
                  </a:solidFill>
                </a:rPr>
                <a:t>θ</a:t>
              </a:r>
              <a:r>
                <a:rPr baseline="-25000" lang="en" sz="990">
                  <a:solidFill>
                    <a:srgbClr val="4472C4"/>
                  </a:solidFill>
                </a:rPr>
                <a:t>1</a:t>
              </a:r>
              <a:endParaRPr baseline="-25000" sz="990">
                <a:solidFill>
                  <a:srgbClr val="4472C4"/>
                </a:solidFill>
              </a:endParaRPr>
            </a:p>
          </p:txBody>
        </p:sp>
        <p:sp>
          <p:nvSpPr>
            <p:cNvPr id="673" name="Google Shape;673;p40"/>
            <p:cNvSpPr txBox="1"/>
            <p:nvPr/>
          </p:nvSpPr>
          <p:spPr>
            <a:xfrm>
              <a:off x="4753507" y="1853422"/>
              <a:ext cx="577200" cy="5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0650" lIns="90650" spcFirstLastPara="1" rIns="90650" wrap="square" tIns="906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90">
                  <a:solidFill>
                    <a:srgbClr val="4472C4"/>
                  </a:solidFill>
                </a:rPr>
                <a:t>θ</a:t>
              </a:r>
              <a:r>
                <a:rPr baseline="-25000" lang="en" sz="990">
                  <a:solidFill>
                    <a:srgbClr val="4472C4"/>
                  </a:solidFill>
                </a:rPr>
                <a:t>3</a:t>
              </a:r>
              <a:endParaRPr baseline="-25000" sz="990">
                <a:solidFill>
                  <a:srgbClr val="4472C4"/>
                </a:solidFill>
              </a:endParaRPr>
            </a:p>
          </p:txBody>
        </p:sp>
        <p:sp>
          <p:nvSpPr>
            <p:cNvPr id="674" name="Google Shape;674;p40"/>
            <p:cNvSpPr txBox="1"/>
            <p:nvPr/>
          </p:nvSpPr>
          <p:spPr>
            <a:xfrm>
              <a:off x="2064371" y="2989406"/>
              <a:ext cx="577200" cy="5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0650" lIns="90650" spcFirstLastPara="1" rIns="90650" wrap="square" tIns="906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90">
                  <a:solidFill>
                    <a:srgbClr val="4472C4"/>
                  </a:solidFill>
                </a:rPr>
                <a:t>h</a:t>
              </a:r>
              <a:endParaRPr baseline="-25000" sz="1190">
                <a:solidFill>
                  <a:srgbClr val="4472C4"/>
                </a:solidFill>
              </a:endParaRPr>
            </a:p>
          </p:txBody>
        </p:sp>
        <p:sp>
          <p:nvSpPr>
            <p:cNvPr id="675" name="Google Shape;675;p40"/>
            <p:cNvSpPr txBox="1"/>
            <p:nvPr/>
          </p:nvSpPr>
          <p:spPr>
            <a:xfrm>
              <a:off x="4260386" y="1297246"/>
              <a:ext cx="577200" cy="5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0650" lIns="90650" spcFirstLastPara="1" rIns="90650" wrap="square" tIns="906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90">
                  <a:solidFill>
                    <a:srgbClr val="4472C4"/>
                  </a:solidFill>
                </a:rPr>
                <a:t>L</a:t>
              </a:r>
              <a:r>
                <a:rPr baseline="-25000" lang="en" sz="1190">
                  <a:solidFill>
                    <a:srgbClr val="4472C4"/>
                  </a:solidFill>
                </a:rPr>
                <a:t>3</a:t>
              </a:r>
              <a:endParaRPr baseline="-25000" sz="1190">
                <a:solidFill>
                  <a:srgbClr val="4472C4"/>
                </a:solidFill>
              </a:endParaRPr>
            </a:p>
          </p:txBody>
        </p:sp>
        <p:sp>
          <p:nvSpPr>
            <p:cNvPr id="676" name="Google Shape;676;p40"/>
            <p:cNvSpPr txBox="1"/>
            <p:nvPr/>
          </p:nvSpPr>
          <p:spPr>
            <a:xfrm>
              <a:off x="3363236" y="1962784"/>
              <a:ext cx="577200" cy="5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0650" lIns="90650" spcFirstLastPara="1" rIns="90650" wrap="square" tIns="906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90">
                  <a:solidFill>
                    <a:srgbClr val="4472C4"/>
                  </a:solidFill>
                </a:rPr>
                <a:t>L</a:t>
              </a:r>
              <a:r>
                <a:rPr baseline="-25000" lang="en" sz="1190">
                  <a:solidFill>
                    <a:srgbClr val="4472C4"/>
                  </a:solidFill>
                </a:rPr>
                <a:t>2</a:t>
              </a:r>
              <a:endParaRPr baseline="-25000" sz="1190">
                <a:solidFill>
                  <a:srgbClr val="4472C4"/>
                </a:solidFill>
              </a:endParaRPr>
            </a:p>
          </p:txBody>
        </p:sp>
        <p:sp>
          <p:nvSpPr>
            <p:cNvPr id="677" name="Google Shape;677;p40"/>
            <p:cNvSpPr txBox="1"/>
            <p:nvPr/>
          </p:nvSpPr>
          <p:spPr>
            <a:xfrm>
              <a:off x="4923470" y="939575"/>
              <a:ext cx="1068900" cy="4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225" lIns="68225" spcFirstLastPara="1" rIns="68225" wrap="square" tIns="682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45">
                  <a:solidFill>
                    <a:schemeClr val="dk2"/>
                  </a:solidFill>
                </a:rPr>
                <a:t>P(x,y,z)</a:t>
              </a:r>
              <a:endParaRPr sz="1045">
                <a:solidFill>
                  <a:schemeClr val="dk2"/>
                </a:solidFill>
              </a:endParaRPr>
            </a:p>
          </p:txBody>
        </p:sp>
        <p:cxnSp>
          <p:nvCxnSpPr>
            <p:cNvPr id="678" name="Google Shape;678;p40"/>
            <p:cNvCxnSpPr/>
            <p:nvPr/>
          </p:nvCxnSpPr>
          <p:spPr>
            <a:xfrm flipH="1">
              <a:off x="1974780" y="3411229"/>
              <a:ext cx="1014300" cy="797400"/>
            </a:xfrm>
            <a:prstGeom prst="straightConnector1">
              <a:avLst/>
            </a:prstGeom>
            <a:noFill/>
            <a:ln cap="flat" cmpd="sng" w="9450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679" name="Google Shape;679;p40"/>
            <p:cNvSpPr/>
            <p:nvPr/>
          </p:nvSpPr>
          <p:spPr>
            <a:xfrm>
              <a:off x="4227094" y="2121002"/>
              <a:ext cx="239700" cy="239700"/>
            </a:xfrm>
            <a:prstGeom prst="ellipse">
              <a:avLst/>
            </a:prstGeom>
            <a:solidFill>
              <a:schemeClr val="lt2"/>
            </a:solidFill>
            <a:ln cap="flat" cmpd="sng" w="9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6657" rotWithShape="0" algn="bl" dir="5400000" dist="18886">
                <a:srgbClr val="000000">
                  <a:alpha val="50000"/>
                </a:srgbClr>
              </a:outerShdw>
            </a:effectLst>
          </p:spPr>
          <p:txBody>
            <a:bodyPr anchorCtr="0" anchor="ctr" bIns="90650" lIns="90650" spcFirstLastPara="1" rIns="90650" wrap="square" tIns="90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88"/>
            </a:p>
          </p:txBody>
        </p:sp>
        <p:sp>
          <p:nvSpPr>
            <p:cNvPr id="680" name="Google Shape;680;p40"/>
            <p:cNvSpPr/>
            <p:nvPr/>
          </p:nvSpPr>
          <p:spPr>
            <a:xfrm>
              <a:off x="4965060" y="1378187"/>
              <a:ext cx="239700" cy="239700"/>
            </a:xfrm>
            <a:prstGeom prst="ellipse">
              <a:avLst/>
            </a:prstGeom>
            <a:solidFill>
              <a:schemeClr val="lt2"/>
            </a:solidFill>
            <a:ln cap="flat" cmpd="sng" w="9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6657" rotWithShape="0" algn="bl" dir="5400000" dist="18886">
                <a:srgbClr val="000000">
                  <a:alpha val="50000"/>
                </a:srgbClr>
              </a:outerShdw>
            </a:effectLst>
          </p:spPr>
          <p:txBody>
            <a:bodyPr anchorCtr="0" anchor="ctr" bIns="90650" lIns="90650" spcFirstLastPara="1" rIns="90650" wrap="square" tIns="90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88"/>
            </a:p>
          </p:txBody>
        </p:sp>
        <p:cxnSp>
          <p:nvCxnSpPr>
            <p:cNvPr id="681" name="Google Shape;681;p40"/>
            <p:cNvCxnSpPr/>
            <p:nvPr/>
          </p:nvCxnSpPr>
          <p:spPr>
            <a:xfrm>
              <a:off x="2984487" y="2916495"/>
              <a:ext cx="1243200" cy="0"/>
            </a:xfrm>
            <a:prstGeom prst="straightConnector1">
              <a:avLst/>
            </a:prstGeom>
            <a:noFill/>
            <a:ln cap="flat" cmpd="sng" w="12550">
              <a:solidFill>
                <a:srgbClr val="FF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682" name="Google Shape;682;p40"/>
            <p:cNvSpPr txBox="1"/>
            <p:nvPr/>
          </p:nvSpPr>
          <p:spPr>
            <a:xfrm>
              <a:off x="3649766" y="2494497"/>
              <a:ext cx="577200" cy="5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0650" lIns="90650" spcFirstLastPara="1" rIns="90650" wrap="square" tIns="906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90">
                  <a:solidFill>
                    <a:srgbClr val="4472C4"/>
                  </a:solidFill>
                </a:rPr>
                <a:t>θ</a:t>
              </a:r>
              <a:r>
                <a:rPr baseline="-25000" lang="en" sz="990">
                  <a:solidFill>
                    <a:srgbClr val="4472C4"/>
                  </a:solidFill>
                </a:rPr>
                <a:t>2</a:t>
              </a:r>
              <a:endParaRPr baseline="-25000" sz="990">
                <a:solidFill>
                  <a:srgbClr val="4472C4"/>
                </a:solidFill>
              </a:endParaRPr>
            </a:p>
          </p:txBody>
        </p:sp>
        <p:sp>
          <p:nvSpPr>
            <p:cNvPr id="683" name="Google Shape;683;p40"/>
            <p:cNvSpPr/>
            <p:nvPr/>
          </p:nvSpPr>
          <p:spPr>
            <a:xfrm>
              <a:off x="2506695" y="3510201"/>
              <a:ext cx="1222763" cy="509648"/>
            </a:xfrm>
            <a:custGeom>
              <a:rect b="b" l="l" r="r" t="t"/>
              <a:pathLst>
                <a:path extrusionOk="0" h="23129" w="44012">
                  <a:moveTo>
                    <a:pt x="0" y="14945"/>
                  </a:moveTo>
                  <a:cubicBezTo>
                    <a:pt x="3681" y="23523"/>
                    <a:pt x="18562" y="24734"/>
                    <a:pt x="27261" y="21350"/>
                  </a:cubicBezTo>
                  <a:cubicBezTo>
                    <a:pt x="35691" y="18070"/>
                    <a:pt x="44012" y="9046"/>
                    <a:pt x="44012" y="0"/>
                  </a:cubicBezTo>
                </a:path>
              </a:pathLst>
            </a:custGeom>
            <a:noFill/>
            <a:ln cap="flat" cmpd="sng" w="14225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sp>
        <p:sp>
          <p:nvSpPr>
            <p:cNvPr id="684" name="Google Shape;684;p40"/>
            <p:cNvSpPr/>
            <p:nvPr/>
          </p:nvSpPr>
          <p:spPr>
            <a:xfrm>
              <a:off x="2361908" y="2879682"/>
              <a:ext cx="168000" cy="775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7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/>
            </a:p>
          </p:txBody>
        </p:sp>
        <p:sp>
          <p:nvSpPr>
            <p:cNvPr id="685" name="Google Shape;685;p40"/>
            <p:cNvSpPr txBox="1"/>
            <p:nvPr/>
          </p:nvSpPr>
          <p:spPr>
            <a:xfrm>
              <a:off x="1949651" y="4019829"/>
              <a:ext cx="471600" cy="5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0650" lIns="90650" spcFirstLastPara="1" rIns="90650" wrap="square" tIns="906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91">
                  <a:solidFill>
                    <a:schemeClr val="dk2"/>
                  </a:solidFill>
                </a:rPr>
                <a:t>Y</a:t>
              </a:r>
              <a:endParaRPr sz="991">
                <a:solidFill>
                  <a:schemeClr val="dk2"/>
                </a:solidFill>
              </a:endParaRPr>
            </a:p>
          </p:txBody>
        </p:sp>
        <p:sp>
          <p:nvSpPr>
            <p:cNvPr id="686" name="Google Shape;686;p40"/>
            <p:cNvSpPr/>
            <p:nvPr/>
          </p:nvSpPr>
          <p:spPr>
            <a:xfrm rot="8442063">
              <a:off x="4295015" y="1634229"/>
              <a:ext cx="760223" cy="743590"/>
            </a:xfrm>
            <a:prstGeom prst="arc">
              <a:avLst>
                <a:gd fmla="val 10351248" name="adj1"/>
                <a:gd fmla="val 12524800" name="adj2"/>
              </a:avLst>
            </a:prstGeom>
            <a:noFill/>
            <a:ln cap="flat" cmpd="sng" w="12550">
              <a:solidFill>
                <a:srgbClr val="FF0000"/>
              </a:solidFill>
              <a:prstDash val="solid"/>
              <a:round/>
              <a:headEnd len="sm" w="sm" type="stealth"/>
              <a:tailEnd len="sm" w="sm" type="none"/>
            </a:ln>
          </p:spPr>
          <p:txBody>
            <a:bodyPr anchorCtr="0" anchor="ctr" bIns="90650" lIns="90650" spcFirstLastPara="1" rIns="90650" wrap="square" tIns="90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88"/>
            </a:p>
          </p:txBody>
        </p:sp>
      </p:grpSp>
      <p:cxnSp>
        <p:nvCxnSpPr>
          <p:cNvPr id="687" name="Google Shape;687;p40"/>
          <p:cNvCxnSpPr/>
          <p:nvPr/>
        </p:nvCxnSpPr>
        <p:spPr>
          <a:xfrm flipH="1" rot="10800000">
            <a:off x="1592750" y="1999269"/>
            <a:ext cx="1563600" cy="747600"/>
          </a:xfrm>
          <a:prstGeom prst="straightConnector1">
            <a:avLst/>
          </a:prstGeom>
          <a:noFill/>
          <a:ln cap="flat" cmpd="sng" w="125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688" name="Google Shape;688;p40"/>
          <p:cNvGrpSpPr/>
          <p:nvPr/>
        </p:nvGrpSpPr>
        <p:grpSpPr>
          <a:xfrm>
            <a:off x="5630349" y="1191342"/>
            <a:ext cx="2661322" cy="2363464"/>
            <a:chOff x="1949651" y="939575"/>
            <a:chExt cx="4042719" cy="3590253"/>
          </a:xfrm>
        </p:grpSpPr>
        <p:sp>
          <p:nvSpPr>
            <p:cNvPr id="689" name="Google Shape;689;p40"/>
            <p:cNvSpPr/>
            <p:nvPr/>
          </p:nvSpPr>
          <p:spPr>
            <a:xfrm rot="414204">
              <a:off x="4335346" y="2237853"/>
              <a:ext cx="990884" cy="136862"/>
            </a:xfrm>
            <a:prstGeom prst="rect">
              <a:avLst/>
            </a:prstGeom>
            <a:solidFill>
              <a:schemeClr val="lt2"/>
            </a:solidFill>
            <a:ln cap="flat" cmpd="sng" w="9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650" lIns="90650" spcFirstLastPara="1" rIns="90650" wrap="square" tIns="90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88"/>
            </a:p>
          </p:txBody>
        </p:sp>
        <p:sp>
          <p:nvSpPr>
            <p:cNvPr id="690" name="Google Shape;690;p40"/>
            <p:cNvSpPr/>
            <p:nvPr/>
          </p:nvSpPr>
          <p:spPr>
            <a:xfrm>
              <a:off x="2575388" y="2778300"/>
              <a:ext cx="812100" cy="978300"/>
            </a:xfrm>
            <a:prstGeom prst="can">
              <a:avLst>
                <a:gd fmla="val 38881" name="adj"/>
              </a:avLst>
            </a:prstGeom>
            <a:solidFill>
              <a:srgbClr val="888888"/>
            </a:solidFill>
            <a:ln cap="flat" cmpd="sng" w="7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2664" rotWithShape="0" algn="bl" dir="5400000" dist="14221">
                <a:srgbClr val="000000">
                  <a:alpha val="50000"/>
                </a:srgbClr>
              </a:outerShdw>
            </a:effectLst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/>
            </a:p>
          </p:txBody>
        </p:sp>
        <p:sp>
          <p:nvSpPr>
            <p:cNvPr id="691" name="Google Shape;691;p40"/>
            <p:cNvSpPr/>
            <p:nvPr/>
          </p:nvSpPr>
          <p:spPr>
            <a:xfrm rot="1517077">
              <a:off x="3314993" y="2643068"/>
              <a:ext cx="438289" cy="483652"/>
            </a:xfrm>
            <a:prstGeom prst="arc">
              <a:avLst>
                <a:gd fmla="val 16200000" name="adj1"/>
                <a:gd fmla="val 20489641" name="adj2"/>
              </a:avLst>
            </a:prstGeom>
            <a:noFill/>
            <a:ln cap="flat" cmpd="sng" w="12550">
              <a:solidFill>
                <a:srgbClr val="FF0000"/>
              </a:solidFill>
              <a:prstDash val="solid"/>
              <a:round/>
              <a:headEnd len="sm" w="sm" type="stealth"/>
              <a:tailEnd len="sm" w="sm" type="none"/>
            </a:ln>
          </p:spPr>
          <p:txBody>
            <a:bodyPr anchorCtr="0" anchor="ctr" bIns="90650" lIns="90650" spcFirstLastPara="1" rIns="90650" wrap="square" tIns="90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88"/>
            </a:p>
          </p:txBody>
        </p:sp>
        <p:cxnSp>
          <p:nvCxnSpPr>
            <p:cNvPr id="692" name="Google Shape;692;p40"/>
            <p:cNvCxnSpPr/>
            <p:nvPr/>
          </p:nvCxnSpPr>
          <p:spPr>
            <a:xfrm>
              <a:off x="2984487" y="1089678"/>
              <a:ext cx="0" cy="2328300"/>
            </a:xfrm>
            <a:prstGeom prst="straightConnector1">
              <a:avLst/>
            </a:prstGeom>
            <a:noFill/>
            <a:ln cap="flat" cmpd="sng" w="9450">
              <a:solidFill>
                <a:schemeClr val="dk1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cxnSp>
          <p:nvCxnSpPr>
            <p:cNvPr id="693" name="Google Shape;693;p40"/>
            <p:cNvCxnSpPr/>
            <p:nvPr/>
          </p:nvCxnSpPr>
          <p:spPr>
            <a:xfrm>
              <a:off x="2978647" y="3416700"/>
              <a:ext cx="2644500" cy="0"/>
            </a:xfrm>
            <a:prstGeom prst="straightConnector1">
              <a:avLst/>
            </a:prstGeom>
            <a:noFill/>
            <a:ln cap="flat" cmpd="sng" w="9450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694" name="Google Shape;694;p40"/>
            <p:cNvSpPr/>
            <p:nvPr/>
          </p:nvSpPr>
          <p:spPr>
            <a:xfrm rot="-1532021">
              <a:off x="2912342" y="2498199"/>
              <a:ext cx="1513079" cy="137003"/>
            </a:xfrm>
            <a:prstGeom prst="rect">
              <a:avLst/>
            </a:prstGeom>
            <a:solidFill>
              <a:schemeClr val="lt2"/>
            </a:solidFill>
            <a:ln cap="flat" cmpd="sng" w="9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650" lIns="90650" spcFirstLastPara="1" rIns="90650" wrap="square" tIns="90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88"/>
            </a:p>
          </p:txBody>
        </p:sp>
        <p:sp>
          <p:nvSpPr>
            <p:cNvPr id="695" name="Google Shape;695;p40"/>
            <p:cNvSpPr/>
            <p:nvPr/>
          </p:nvSpPr>
          <p:spPr>
            <a:xfrm>
              <a:off x="2861502" y="2778298"/>
              <a:ext cx="239700" cy="239700"/>
            </a:xfrm>
            <a:prstGeom prst="ellipse">
              <a:avLst/>
            </a:prstGeom>
            <a:solidFill>
              <a:schemeClr val="lt2"/>
            </a:solidFill>
            <a:ln cap="flat" cmpd="sng" w="9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6660" rotWithShape="0" algn="bl" dir="5400000" dist="18887">
                <a:srgbClr val="000000">
                  <a:alpha val="50000"/>
                </a:srgbClr>
              </a:outerShdw>
            </a:effectLst>
          </p:spPr>
          <p:txBody>
            <a:bodyPr anchorCtr="0" anchor="ctr" bIns="90650" lIns="90650" spcFirstLastPara="1" rIns="90650" wrap="square" tIns="90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88"/>
            </a:p>
          </p:txBody>
        </p:sp>
        <p:sp>
          <p:nvSpPr>
            <p:cNvPr id="696" name="Google Shape;696;p40"/>
            <p:cNvSpPr txBox="1"/>
            <p:nvPr/>
          </p:nvSpPr>
          <p:spPr>
            <a:xfrm>
              <a:off x="5244751" y="3382540"/>
              <a:ext cx="471600" cy="5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0650" lIns="90650" spcFirstLastPara="1" rIns="90650" wrap="square" tIns="906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91">
                  <a:solidFill>
                    <a:schemeClr val="dk2"/>
                  </a:solidFill>
                </a:rPr>
                <a:t>X</a:t>
              </a:r>
              <a:endParaRPr sz="991">
                <a:solidFill>
                  <a:schemeClr val="dk2"/>
                </a:solidFill>
              </a:endParaRPr>
            </a:p>
          </p:txBody>
        </p:sp>
        <p:sp>
          <p:nvSpPr>
            <p:cNvPr id="697" name="Google Shape;697;p40"/>
            <p:cNvSpPr txBox="1"/>
            <p:nvPr/>
          </p:nvSpPr>
          <p:spPr>
            <a:xfrm>
              <a:off x="2529960" y="1049020"/>
              <a:ext cx="471600" cy="5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0650" lIns="90650" spcFirstLastPara="1" rIns="90650" wrap="square" tIns="906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91">
                  <a:solidFill>
                    <a:schemeClr val="dk2"/>
                  </a:solidFill>
                </a:rPr>
                <a:t>Z</a:t>
              </a:r>
              <a:endParaRPr sz="991">
                <a:solidFill>
                  <a:schemeClr val="dk2"/>
                </a:solidFill>
              </a:endParaRPr>
            </a:p>
          </p:txBody>
        </p:sp>
        <p:sp>
          <p:nvSpPr>
            <p:cNvPr id="698" name="Google Shape;698;p40"/>
            <p:cNvSpPr txBox="1"/>
            <p:nvPr/>
          </p:nvSpPr>
          <p:spPr>
            <a:xfrm>
              <a:off x="3526103" y="3636204"/>
              <a:ext cx="577200" cy="5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0650" lIns="90650" spcFirstLastPara="1" rIns="90650" wrap="square" tIns="906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90">
                  <a:solidFill>
                    <a:srgbClr val="4472C4"/>
                  </a:solidFill>
                </a:rPr>
                <a:t>θ</a:t>
              </a:r>
              <a:r>
                <a:rPr baseline="-25000" lang="en" sz="990">
                  <a:solidFill>
                    <a:srgbClr val="4472C4"/>
                  </a:solidFill>
                </a:rPr>
                <a:t>1</a:t>
              </a:r>
              <a:endParaRPr baseline="-25000" sz="990">
                <a:solidFill>
                  <a:srgbClr val="4472C4"/>
                </a:solidFill>
              </a:endParaRPr>
            </a:p>
          </p:txBody>
        </p:sp>
        <p:sp>
          <p:nvSpPr>
            <p:cNvPr id="699" name="Google Shape;699;p40"/>
            <p:cNvSpPr txBox="1"/>
            <p:nvPr/>
          </p:nvSpPr>
          <p:spPr>
            <a:xfrm>
              <a:off x="4753507" y="1853422"/>
              <a:ext cx="577200" cy="5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0650" lIns="90650" spcFirstLastPara="1" rIns="90650" wrap="square" tIns="906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90">
                  <a:solidFill>
                    <a:srgbClr val="4472C4"/>
                  </a:solidFill>
                </a:rPr>
                <a:t>θ</a:t>
              </a:r>
              <a:r>
                <a:rPr baseline="-25000" lang="en" sz="990">
                  <a:solidFill>
                    <a:srgbClr val="4472C4"/>
                  </a:solidFill>
                </a:rPr>
                <a:t>3</a:t>
              </a:r>
              <a:endParaRPr baseline="-25000" sz="990">
                <a:solidFill>
                  <a:srgbClr val="4472C4"/>
                </a:solidFill>
              </a:endParaRPr>
            </a:p>
          </p:txBody>
        </p:sp>
        <p:sp>
          <p:nvSpPr>
            <p:cNvPr id="700" name="Google Shape;700;p40"/>
            <p:cNvSpPr txBox="1"/>
            <p:nvPr/>
          </p:nvSpPr>
          <p:spPr>
            <a:xfrm>
              <a:off x="2064371" y="2989406"/>
              <a:ext cx="577200" cy="5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0650" lIns="90650" spcFirstLastPara="1" rIns="90650" wrap="square" tIns="906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90">
                  <a:solidFill>
                    <a:srgbClr val="4472C4"/>
                  </a:solidFill>
                </a:rPr>
                <a:t>h</a:t>
              </a:r>
              <a:endParaRPr baseline="-25000" sz="1190">
                <a:solidFill>
                  <a:srgbClr val="4472C4"/>
                </a:solidFill>
              </a:endParaRPr>
            </a:p>
          </p:txBody>
        </p:sp>
        <p:sp>
          <p:nvSpPr>
            <p:cNvPr id="701" name="Google Shape;701;p40"/>
            <p:cNvSpPr txBox="1"/>
            <p:nvPr/>
          </p:nvSpPr>
          <p:spPr>
            <a:xfrm>
              <a:off x="4260386" y="1297246"/>
              <a:ext cx="577200" cy="5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0650" lIns="90650" spcFirstLastPara="1" rIns="90650" wrap="square" tIns="906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90">
                  <a:solidFill>
                    <a:srgbClr val="4472C4"/>
                  </a:solidFill>
                </a:rPr>
                <a:t>L</a:t>
              </a:r>
              <a:r>
                <a:rPr baseline="-25000" lang="en" sz="1190">
                  <a:solidFill>
                    <a:srgbClr val="4472C4"/>
                  </a:solidFill>
                </a:rPr>
                <a:t>3</a:t>
              </a:r>
              <a:endParaRPr baseline="-25000" sz="1190">
                <a:solidFill>
                  <a:srgbClr val="4472C4"/>
                </a:solidFill>
              </a:endParaRPr>
            </a:p>
          </p:txBody>
        </p:sp>
        <p:sp>
          <p:nvSpPr>
            <p:cNvPr id="702" name="Google Shape;702;p40"/>
            <p:cNvSpPr txBox="1"/>
            <p:nvPr/>
          </p:nvSpPr>
          <p:spPr>
            <a:xfrm>
              <a:off x="3363236" y="1962784"/>
              <a:ext cx="577200" cy="5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0650" lIns="90650" spcFirstLastPara="1" rIns="90650" wrap="square" tIns="906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90">
                  <a:solidFill>
                    <a:srgbClr val="4472C4"/>
                  </a:solidFill>
                </a:rPr>
                <a:t>L</a:t>
              </a:r>
              <a:r>
                <a:rPr baseline="-25000" lang="en" sz="1190">
                  <a:solidFill>
                    <a:srgbClr val="4472C4"/>
                  </a:solidFill>
                </a:rPr>
                <a:t>2</a:t>
              </a:r>
              <a:endParaRPr baseline="-25000" sz="1190">
                <a:solidFill>
                  <a:srgbClr val="4472C4"/>
                </a:solidFill>
              </a:endParaRPr>
            </a:p>
          </p:txBody>
        </p:sp>
        <p:sp>
          <p:nvSpPr>
            <p:cNvPr id="703" name="Google Shape;703;p40"/>
            <p:cNvSpPr txBox="1"/>
            <p:nvPr/>
          </p:nvSpPr>
          <p:spPr>
            <a:xfrm>
              <a:off x="4923470" y="939575"/>
              <a:ext cx="1068900" cy="4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225" lIns="68225" spcFirstLastPara="1" rIns="68225" wrap="square" tIns="682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45">
                  <a:solidFill>
                    <a:schemeClr val="dk2"/>
                  </a:solidFill>
                </a:rPr>
                <a:t>P(x,y,z)</a:t>
              </a:r>
              <a:endParaRPr sz="1045">
                <a:solidFill>
                  <a:schemeClr val="dk2"/>
                </a:solidFill>
              </a:endParaRPr>
            </a:p>
          </p:txBody>
        </p:sp>
        <p:cxnSp>
          <p:nvCxnSpPr>
            <p:cNvPr id="704" name="Google Shape;704;p40"/>
            <p:cNvCxnSpPr/>
            <p:nvPr/>
          </p:nvCxnSpPr>
          <p:spPr>
            <a:xfrm flipH="1">
              <a:off x="1974780" y="3411229"/>
              <a:ext cx="1014300" cy="797400"/>
            </a:xfrm>
            <a:prstGeom prst="straightConnector1">
              <a:avLst/>
            </a:prstGeom>
            <a:noFill/>
            <a:ln cap="flat" cmpd="sng" w="9450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705" name="Google Shape;705;p40"/>
            <p:cNvSpPr/>
            <p:nvPr/>
          </p:nvSpPr>
          <p:spPr>
            <a:xfrm>
              <a:off x="4227094" y="2121002"/>
              <a:ext cx="239700" cy="239700"/>
            </a:xfrm>
            <a:prstGeom prst="ellipse">
              <a:avLst/>
            </a:prstGeom>
            <a:solidFill>
              <a:schemeClr val="lt2"/>
            </a:solidFill>
            <a:ln cap="flat" cmpd="sng" w="9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6660" rotWithShape="0" algn="bl" dir="5400000" dist="18887">
                <a:srgbClr val="000000">
                  <a:alpha val="50000"/>
                </a:srgbClr>
              </a:outerShdw>
            </a:effectLst>
          </p:spPr>
          <p:txBody>
            <a:bodyPr anchorCtr="0" anchor="ctr" bIns="90650" lIns="90650" spcFirstLastPara="1" rIns="90650" wrap="square" tIns="90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88"/>
            </a:p>
          </p:txBody>
        </p:sp>
        <p:sp>
          <p:nvSpPr>
            <p:cNvPr id="706" name="Google Shape;706;p40"/>
            <p:cNvSpPr/>
            <p:nvPr/>
          </p:nvSpPr>
          <p:spPr>
            <a:xfrm>
              <a:off x="5204766" y="2254836"/>
              <a:ext cx="239700" cy="239700"/>
            </a:xfrm>
            <a:prstGeom prst="ellipse">
              <a:avLst/>
            </a:prstGeom>
            <a:solidFill>
              <a:schemeClr val="lt2"/>
            </a:solidFill>
            <a:ln cap="flat" cmpd="sng" w="9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6660" rotWithShape="0" algn="bl" dir="5400000" dist="18887">
                <a:srgbClr val="000000">
                  <a:alpha val="50000"/>
                </a:srgbClr>
              </a:outerShdw>
            </a:effectLst>
          </p:spPr>
          <p:txBody>
            <a:bodyPr anchorCtr="0" anchor="ctr" bIns="90650" lIns="90650" spcFirstLastPara="1" rIns="90650" wrap="square" tIns="90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88"/>
            </a:p>
          </p:txBody>
        </p:sp>
        <p:cxnSp>
          <p:nvCxnSpPr>
            <p:cNvPr id="707" name="Google Shape;707;p40"/>
            <p:cNvCxnSpPr/>
            <p:nvPr/>
          </p:nvCxnSpPr>
          <p:spPr>
            <a:xfrm>
              <a:off x="2984487" y="2916495"/>
              <a:ext cx="1243200" cy="0"/>
            </a:xfrm>
            <a:prstGeom prst="straightConnector1">
              <a:avLst/>
            </a:prstGeom>
            <a:noFill/>
            <a:ln cap="flat" cmpd="sng" w="12550">
              <a:solidFill>
                <a:srgbClr val="FF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708" name="Google Shape;708;p40"/>
            <p:cNvSpPr txBox="1"/>
            <p:nvPr/>
          </p:nvSpPr>
          <p:spPr>
            <a:xfrm>
              <a:off x="3649766" y="2494497"/>
              <a:ext cx="577200" cy="5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0650" lIns="90650" spcFirstLastPara="1" rIns="90650" wrap="square" tIns="906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90">
                  <a:solidFill>
                    <a:srgbClr val="4472C4"/>
                  </a:solidFill>
                </a:rPr>
                <a:t>θ</a:t>
              </a:r>
              <a:r>
                <a:rPr baseline="-25000" lang="en" sz="990">
                  <a:solidFill>
                    <a:srgbClr val="4472C4"/>
                  </a:solidFill>
                </a:rPr>
                <a:t>2</a:t>
              </a:r>
              <a:endParaRPr baseline="-25000" sz="990">
                <a:solidFill>
                  <a:srgbClr val="4472C4"/>
                </a:solidFill>
              </a:endParaRPr>
            </a:p>
          </p:txBody>
        </p:sp>
        <p:sp>
          <p:nvSpPr>
            <p:cNvPr id="709" name="Google Shape;709;p40"/>
            <p:cNvSpPr/>
            <p:nvPr/>
          </p:nvSpPr>
          <p:spPr>
            <a:xfrm>
              <a:off x="2506695" y="3510201"/>
              <a:ext cx="1222763" cy="509648"/>
            </a:xfrm>
            <a:custGeom>
              <a:rect b="b" l="l" r="r" t="t"/>
              <a:pathLst>
                <a:path extrusionOk="0" h="23129" w="44012">
                  <a:moveTo>
                    <a:pt x="0" y="14945"/>
                  </a:moveTo>
                  <a:cubicBezTo>
                    <a:pt x="3681" y="23523"/>
                    <a:pt x="18562" y="24734"/>
                    <a:pt x="27261" y="21350"/>
                  </a:cubicBezTo>
                  <a:cubicBezTo>
                    <a:pt x="35691" y="18070"/>
                    <a:pt x="44012" y="9046"/>
                    <a:pt x="44012" y="0"/>
                  </a:cubicBezTo>
                </a:path>
              </a:pathLst>
            </a:custGeom>
            <a:noFill/>
            <a:ln cap="flat" cmpd="sng" w="14225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sp>
        <p:sp>
          <p:nvSpPr>
            <p:cNvPr id="710" name="Google Shape;710;p40"/>
            <p:cNvSpPr/>
            <p:nvPr/>
          </p:nvSpPr>
          <p:spPr>
            <a:xfrm>
              <a:off x="2361908" y="2879682"/>
              <a:ext cx="168000" cy="775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7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/>
            </a:p>
          </p:txBody>
        </p:sp>
        <p:sp>
          <p:nvSpPr>
            <p:cNvPr id="711" name="Google Shape;711;p40"/>
            <p:cNvSpPr txBox="1"/>
            <p:nvPr/>
          </p:nvSpPr>
          <p:spPr>
            <a:xfrm>
              <a:off x="1949651" y="4019829"/>
              <a:ext cx="471600" cy="5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0650" lIns="90650" spcFirstLastPara="1" rIns="90650" wrap="square" tIns="906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91">
                  <a:solidFill>
                    <a:schemeClr val="dk2"/>
                  </a:solidFill>
                </a:rPr>
                <a:t>Y</a:t>
              </a:r>
              <a:endParaRPr sz="991">
                <a:solidFill>
                  <a:schemeClr val="dk2"/>
                </a:solidFill>
              </a:endParaRPr>
            </a:p>
          </p:txBody>
        </p:sp>
        <p:sp>
          <p:nvSpPr>
            <p:cNvPr id="712" name="Google Shape;712;p40"/>
            <p:cNvSpPr/>
            <p:nvPr/>
          </p:nvSpPr>
          <p:spPr>
            <a:xfrm rot="9593526">
              <a:off x="4334863" y="1788600"/>
              <a:ext cx="776639" cy="766001"/>
            </a:xfrm>
            <a:prstGeom prst="arc">
              <a:avLst>
                <a:gd fmla="val 9672714" name="adj1"/>
                <a:gd fmla="val 12880657" name="adj2"/>
              </a:avLst>
            </a:prstGeom>
            <a:noFill/>
            <a:ln cap="flat" cmpd="sng" w="12550">
              <a:solidFill>
                <a:srgbClr val="FF0000"/>
              </a:solidFill>
              <a:prstDash val="solid"/>
              <a:round/>
              <a:headEnd len="sm" w="sm" type="none"/>
              <a:tailEnd len="sm" w="sm" type="stealth"/>
            </a:ln>
          </p:spPr>
          <p:txBody>
            <a:bodyPr anchorCtr="0" anchor="ctr" bIns="90650" lIns="90650" spcFirstLastPara="1" rIns="90650" wrap="square" tIns="90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88"/>
            </a:p>
          </p:txBody>
        </p:sp>
      </p:grpSp>
      <p:cxnSp>
        <p:nvCxnSpPr>
          <p:cNvPr id="713" name="Google Shape;713;p40"/>
          <p:cNvCxnSpPr/>
          <p:nvPr/>
        </p:nvCxnSpPr>
        <p:spPr>
          <a:xfrm flipH="1" rot="10800000">
            <a:off x="6304134" y="1724677"/>
            <a:ext cx="1563600" cy="747600"/>
          </a:xfrm>
          <a:prstGeom prst="straightConnector1">
            <a:avLst/>
          </a:prstGeom>
          <a:noFill/>
          <a:ln cap="flat" cmpd="sng" w="125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14" name="Google Shape;714;p40"/>
          <p:cNvSpPr txBox="1"/>
          <p:nvPr/>
        </p:nvSpPr>
        <p:spPr>
          <a:xfrm>
            <a:off x="6304125" y="3584725"/>
            <a:ext cx="1157100" cy="1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= ?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 = ?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 = ?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40"/>
          <p:cNvSpPr txBox="1"/>
          <p:nvPr/>
        </p:nvSpPr>
        <p:spPr>
          <a:xfrm>
            <a:off x="739738" y="3826525"/>
            <a:ext cx="3000000" cy="12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= (L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​cosθ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​+L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​cos(θ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))cosθ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 = (L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​cosθ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​+L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​cos(θ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))sinθ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 = L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​sinθ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​+L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sin(θ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+ h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