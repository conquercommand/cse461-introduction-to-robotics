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Q71F3xNZWaB+5cb0Dby/G57Bu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df9c420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1df9c420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df9c4205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1df9c4205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df9c420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1df9c420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df9c4205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1df9c4205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df9c4205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1df9c4205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df9c4205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1df9c4205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df9c4205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1df9c4205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Introduction to Robotics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CSE 461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46975" y="2834125"/>
            <a:ext cx="89787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PID Practice Problem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Rafid Ahnaf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311700" y="1152475"/>
            <a:ext cx="8520600" cy="3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A car is equipped with a PID controller to maintain a constant speed of 100 km/h on a straight road. Due to external disturbances, such as wind resistance and slope, the car's speed fluctuates. The initial speed of the car is 60 km/h.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The system has the following parameters: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i="1" lang="en" sz="1400"/>
              <a:t>Kp​=0.5, Ki=0.1, Kd=0.05</a:t>
            </a:r>
            <a:endParaRPr b="1" i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car accelerates based on the controller output, and the new speed is given by:</a:t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" sz="1400"/>
              <a:t>New Speed = Previous Speed + Output</a:t>
            </a:r>
            <a:endParaRPr i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Simulate 5 time steps of the car's speed control, calculating the error, output, and new speed at each step.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400"/>
              <a:t>By default, consider that all three sub controllers are employed from the very beginning</a:t>
            </a:r>
            <a:endParaRPr sz="1400"/>
          </a:p>
        </p:txBody>
      </p:sp>
      <p:pic>
        <p:nvPicPr>
          <p:cNvPr descr="File:Race-car-309123 960 720.png - Wikimedia Commons" id="62" name="Google Shape;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693325"/>
            <a:ext cx="3350351" cy="335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df9c42054_0_6"/>
          <p:cNvSpPr txBox="1"/>
          <p:nvPr>
            <p:ph type="title"/>
          </p:nvPr>
        </p:nvSpPr>
        <p:spPr>
          <a:xfrm>
            <a:off x="311700" y="30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Step-by-step Calculation:</a:t>
            </a:r>
            <a:endParaRPr sz="1920"/>
          </a:p>
        </p:txBody>
      </p:sp>
      <p:sp>
        <p:nvSpPr>
          <p:cNvPr id="68" name="Google Shape;68;g31df9c42054_0_6"/>
          <p:cNvSpPr txBox="1"/>
          <p:nvPr>
            <p:ph idx="1" type="body"/>
          </p:nvPr>
        </p:nvSpPr>
        <p:spPr>
          <a:xfrm>
            <a:off x="311700" y="912025"/>
            <a:ext cx="85206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" sz="1600">
                <a:solidFill>
                  <a:srgbClr val="434343"/>
                </a:solidFill>
              </a:rPr>
              <a:t>Step 1: At time t_1​:</a:t>
            </a:r>
            <a:endParaRPr b="1"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Previous Speed = 60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Error = 100 − 60 = 40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Output = (0.5⋅40)+(0.1⋅40)+(0.05⋅0) = 20+4+0 = 24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en" sz="1600">
                <a:solidFill>
                  <a:srgbClr val="434343"/>
                </a:solidFill>
              </a:rPr>
              <a:t>New Speed = 60+24 = 84 km/h</a:t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95">
              <a:solidFill>
                <a:srgbClr val="434343"/>
              </a:solidFill>
            </a:endParaRPr>
          </a:p>
        </p:txBody>
      </p:sp>
      <p:pic>
        <p:nvPicPr>
          <p:cNvPr id="69" name="Google Shape;69;g31df9c4205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850" y="2607050"/>
            <a:ext cx="3289014" cy="219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1df9c42054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2964" y="2571750"/>
            <a:ext cx="3289014" cy="219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df9c42054_0_39"/>
          <p:cNvSpPr txBox="1"/>
          <p:nvPr>
            <p:ph type="title"/>
          </p:nvPr>
        </p:nvSpPr>
        <p:spPr>
          <a:xfrm>
            <a:off x="311700" y="30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Step-by-step Calculation:</a:t>
            </a:r>
            <a:endParaRPr sz="1920"/>
          </a:p>
        </p:txBody>
      </p:sp>
      <p:sp>
        <p:nvSpPr>
          <p:cNvPr id="76" name="Google Shape;76;g31df9c42054_0_39"/>
          <p:cNvSpPr txBox="1"/>
          <p:nvPr>
            <p:ph idx="1" type="body"/>
          </p:nvPr>
        </p:nvSpPr>
        <p:spPr>
          <a:xfrm>
            <a:off x="311700" y="912025"/>
            <a:ext cx="8520600" cy="17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600">
                <a:solidFill>
                  <a:srgbClr val="434343"/>
                </a:solidFill>
              </a:rPr>
              <a:t>Step 2: At time t_2:</a:t>
            </a:r>
            <a:endParaRPr b="1"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Previous Speed = 84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Error = 100−84 = 16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Output = (0.5⋅16)+(0.1⋅(40+16))+(0.05⋅(16−40)) = 8+5.6−1.2 = 12.4 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en" sz="1600">
                <a:solidFill>
                  <a:srgbClr val="434343"/>
                </a:solidFill>
              </a:rPr>
              <a:t>New Speed = 84+12.4 = 96.4 km/h</a:t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95">
              <a:solidFill>
                <a:srgbClr val="434343"/>
              </a:solidFill>
            </a:endParaRPr>
          </a:p>
        </p:txBody>
      </p:sp>
      <p:pic>
        <p:nvPicPr>
          <p:cNvPr id="77" name="Google Shape;77;g31df9c42054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5813" y="2688700"/>
            <a:ext cx="3272364" cy="218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df9c42054_0_15"/>
          <p:cNvSpPr txBox="1"/>
          <p:nvPr>
            <p:ph type="title"/>
          </p:nvPr>
        </p:nvSpPr>
        <p:spPr>
          <a:xfrm>
            <a:off x="311700" y="30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Step-by-step Calculation:</a:t>
            </a:r>
            <a:endParaRPr sz="1920"/>
          </a:p>
        </p:txBody>
      </p:sp>
      <p:sp>
        <p:nvSpPr>
          <p:cNvPr id="83" name="Google Shape;83;g31df9c42054_0_15"/>
          <p:cNvSpPr txBox="1"/>
          <p:nvPr>
            <p:ph idx="1" type="body"/>
          </p:nvPr>
        </p:nvSpPr>
        <p:spPr>
          <a:xfrm>
            <a:off x="311700" y="912025"/>
            <a:ext cx="85206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600">
                <a:solidFill>
                  <a:srgbClr val="434343"/>
                </a:solidFill>
              </a:rPr>
              <a:t>Step 3: At time t_3:</a:t>
            </a:r>
            <a:endParaRPr b="1"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Previous Speed = 96.4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Error = 100−96.4 = 3.6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Output = (0.5⋅3.6)+(0.1⋅(40+16+3.6))+(0.05⋅(3.6−16)) = 1.8+5.96−0.62 = 7.14km/h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en" sz="1600">
                <a:solidFill>
                  <a:srgbClr val="434343"/>
                </a:solidFill>
              </a:rPr>
              <a:t>New Speed = 96.4+7.14 = 103.54 km/h</a:t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95">
              <a:solidFill>
                <a:srgbClr val="434343"/>
              </a:solidFill>
            </a:endParaRPr>
          </a:p>
        </p:txBody>
      </p:sp>
      <p:pic>
        <p:nvPicPr>
          <p:cNvPr id="84" name="Google Shape;84;g31df9c42054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9163" y="2648200"/>
            <a:ext cx="3205674" cy="213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df9c42054_0_44"/>
          <p:cNvSpPr txBox="1"/>
          <p:nvPr>
            <p:ph type="title"/>
          </p:nvPr>
        </p:nvSpPr>
        <p:spPr>
          <a:xfrm>
            <a:off x="311700" y="30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Step-by-step Calculation:</a:t>
            </a:r>
            <a:endParaRPr sz="1920"/>
          </a:p>
        </p:txBody>
      </p:sp>
      <p:sp>
        <p:nvSpPr>
          <p:cNvPr id="90" name="Google Shape;90;g31df9c42054_0_44"/>
          <p:cNvSpPr txBox="1"/>
          <p:nvPr>
            <p:ph idx="1" type="body"/>
          </p:nvPr>
        </p:nvSpPr>
        <p:spPr>
          <a:xfrm>
            <a:off x="311700" y="912025"/>
            <a:ext cx="85206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434343"/>
                </a:solidFill>
              </a:rPr>
              <a:t>Step 4: At time t_4​:</a:t>
            </a:r>
            <a:endParaRPr b="1"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Previous Speed = 103.54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Error = 100 − 103.54 = −3.54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Output = (0.5⋅−3.54)+(0.1⋅(40+16+3.6−3.54))+(0.05⋅(−3.54−3.6)) = −1.77+5.6−0.36           = 3.47km/h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en" sz="1600">
                <a:solidFill>
                  <a:srgbClr val="434343"/>
                </a:solidFill>
              </a:rPr>
              <a:t>New Speed = 103.54+3.47=107.01 km/h</a:t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95">
              <a:solidFill>
                <a:srgbClr val="434343"/>
              </a:solidFill>
            </a:endParaRPr>
          </a:p>
        </p:txBody>
      </p:sp>
      <p:pic>
        <p:nvPicPr>
          <p:cNvPr id="91" name="Google Shape;91;g31df9c42054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4100" y="2713025"/>
            <a:ext cx="3275799" cy="218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df9c42054_0_31"/>
          <p:cNvSpPr txBox="1"/>
          <p:nvPr>
            <p:ph type="title"/>
          </p:nvPr>
        </p:nvSpPr>
        <p:spPr>
          <a:xfrm>
            <a:off x="311700" y="30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Step-by-step Calculation:</a:t>
            </a:r>
            <a:endParaRPr sz="1920"/>
          </a:p>
        </p:txBody>
      </p:sp>
      <p:sp>
        <p:nvSpPr>
          <p:cNvPr id="97" name="Google Shape;97;g31df9c42054_0_31"/>
          <p:cNvSpPr txBox="1"/>
          <p:nvPr>
            <p:ph idx="1" type="body"/>
          </p:nvPr>
        </p:nvSpPr>
        <p:spPr>
          <a:xfrm>
            <a:off x="311700" y="912025"/>
            <a:ext cx="8520600" cy="18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600">
                <a:solidFill>
                  <a:srgbClr val="434343"/>
                </a:solidFill>
              </a:rPr>
              <a:t>Step 5: At time t_5:</a:t>
            </a:r>
            <a:endParaRPr b="1"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Previous Speed = 107.01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Error = 100−107.01 = −7.01 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Output = (0.5⋅−7.01)+(0.1⋅(40+16+3.6−3.54−7.01))+(0.05⋅(−7.01−(−3.54)))                    = −3.51+4.6−0.17   =0.92km/h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b="1" lang="en" sz="1600">
                <a:solidFill>
                  <a:srgbClr val="434343"/>
                </a:solidFill>
              </a:rPr>
              <a:t>New Speed = 107.01+0.92 = 107.93 km/h</a:t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95">
              <a:solidFill>
                <a:srgbClr val="434343"/>
              </a:solidFill>
            </a:endParaRPr>
          </a:p>
        </p:txBody>
      </p:sp>
      <p:pic>
        <p:nvPicPr>
          <p:cNvPr id="98" name="Google Shape;98;g31df9c42054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175" y="2711800"/>
            <a:ext cx="3383649" cy="225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df9c42054_0_68"/>
          <p:cNvSpPr txBox="1"/>
          <p:nvPr>
            <p:ph type="title"/>
          </p:nvPr>
        </p:nvSpPr>
        <p:spPr>
          <a:xfrm>
            <a:off x="311700" y="30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Step-by-step Calculation:</a:t>
            </a:r>
            <a:endParaRPr sz="1920"/>
          </a:p>
        </p:txBody>
      </p:sp>
      <p:pic>
        <p:nvPicPr>
          <p:cNvPr id="104" name="Google Shape;104;g31df9c42054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313" y="950575"/>
            <a:ext cx="5937375" cy="39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1df9c42054_0_68"/>
          <p:cNvSpPr txBox="1"/>
          <p:nvPr/>
        </p:nvSpPr>
        <p:spPr>
          <a:xfrm>
            <a:off x="5061500" y="3125625"/>
            <a:ext cx="24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 time t_10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df9c42054_0_76"/>
          <p:cNvSpPr txBox="1"/>
          <p:nvPr>
            <p:ph type="title"/>
          </p:nvPr>
        </p:nvSpPr>
        <p:spPr>
          <a:xfrm>
            <a:off x="311700" y="30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Step-by-step Calculation:</a:t>
            </a:r>
            <a:endParaRPr sz="1920"/>
          </a:p>
        </p:txBody>
      </p:sp>
      <p:pic>
        <p:nvPicPr>
          <p:cNvPr id="111" name="Google Shape;111;g31df9c42054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313" y="915275"/>
            <a:ext cx="5937375" cy="39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1df9c42054_0_76"/>
          <p:cNvSpPr txBox="1"/>
          <p:nvPr/>
        </p:nvSpPr>
        <p:spPr>
          <a:xfrm>
            <a:off x="5061500" y="3125625"/>
            <a:ext cx="24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 time t_20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