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Z8GeHBs3uaJemTFdcq6w5HNcQ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710898294_0_2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c71089829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c710898294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c71089829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710898294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c7108982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710898294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c71089829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10898294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c71089829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710898294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c71089829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710898294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c71089829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0ba3fc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e0ba3fc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0ba3fc9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0ba3fc9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e0ba3fc9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e0ba3fc9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0ba3fc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e0ba3fc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e0ba3fc9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e0ba3fc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0ba3fc9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e0ba3fc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e0ba3fc9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e0ba3fc9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e0ba3fc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e0ba3fc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3465095"/>
            <a:ext cx="8520600" cy="1299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https://youtube.com/playlist?list=PLBlnK6fEyqRineUwP-HPdkQvowXqq5IxA&amp;si=1dXffwOVbx4EpPoL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04832" y="1184587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Control System Theory Block Diagram Reduction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2c710898294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50" y="2708175"/>
            <a:ext cx="8829223" cy="22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2c710898294_0_2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211" y="843566"/>
            <a:ext cx="8829966" cy="188031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2c710898294_0_294"/>
          <p:cNvSpPr txBox="1"/>
          <p:nvPr/>
        </p:nvSpPr>
        <p:spPr>
          <a:xfrm>
            <a:off x="2701650" y="281850"/>
            <a:ext cx="374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Block Diagrams</a:t>
            </a:r>
            <a:endParaRPr b="1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74" y="273864"/>
            <a:ext cx="8229600" cy="456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4847650" y="3541750"/>
            <a:ext cx="137100" cy="2031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15" y="284331"/>
            <a:ext cx="8229600" cy="465237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307975" y="4749400"/>
            <a:ext cx="1438200" cy="1866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311700" y="15360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Block Diagram Reduction rule</a:t>
            </a:r>
            <a:endParaRPr/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838" y="2404820"/>
            <a:ext cx="5364326" cy="10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44" y="508195"/>
            <a:ext cx="8229600" cy="442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73135" l="0" r="0" t="0"/>
          <a:stretch/>
        </p:blipFill>
        <p:spPr>
          <a:xfrm>
            <a:off x="281216" y="601020"/>
            <a:ext cx="8229600" cy="131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948" y="2471638"/>
            <a:ext cx="8229600" cy="226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964" y="310594"/>
            <a:ext cx="8229600" cy="438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c710898294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175" y="624475"/>
            <a:ext cx="8839199" cy="398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c710898294_0_92"/>
          <p:cNvSpPr txBox="1"/>
          <p:nvPr/>
        </p:nvSpPr>
        <p:spPr>
          <a:xfrm>
            <a:off x="152400" y="84925"/>
            <a:ext cx="5125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 : </a:t>
            </a:r>
            <a:r>
              <a:rPr b="1" lang="en" sz="1800">
                <a:solidFill>
                  <a:schemeClr val="dk1"/>
                </a:solidFill>
              </a:rPr>
              <a:t>Shifting take-off before an adder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c710898294_0_92"/>
          <p:cNvSpPr/>
          <p:nvPr/>
        </p:nvSpPr>
        <p:spPr>
          <a:xfrm>
            <a:off x="7641175" y="4425375"/>
            <a:ext cx="1438200" cy="1866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2c710898294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25" y="622125"/>
            <a:ext cx="8839199" cy="409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c710898294_0_97"/>
          <p:cNvSpPr txBox="1"/>
          <p:nvPr/>
        </p:nvSpPr>
        <p:spPr>
          <a:xfrm>
            <a:off x="152400" y="84925"/>
            <a:ext cx="46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7: </a:t>
            </a:r>
            <a:r>
              <a:rPr b="1" lang="en" sz="1800">
                <a:solidFill>
                  <a:schemeClr val="dk1"/>
                </a:solidFill>
              </a:rPr>
              <a:t>Shifting take-off after an adder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c710898294_0_97"/>
          <p:cNvSpPr/>
          <p:nvPr/>
        </p:nvSpPr>
        <p:spPr>
          <a:xfrm>
            <a:off x="7647325" y="4534875"/>
            <a:ext cx="1438200" cy="1866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849" y="317280"/>
            <a:ext cx="8229600" cy="4695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9" y="496624"/>
            <a:ext cx="8229600" cy="434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Block Diagram Reduction Algorithm</a:t>
            </a:r>
            <a:endParaRPr/>
          </a:p>
        </p:txBody>
      </p:sp>
      <p:sp>
        <p:nvSpPr>
          <p:cNvPr id="126" name="Google Shape;12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1</a:t>
            </a:r>
            <a:r>
              <a:rPr lang="en"/>
              <a:t> − Check for the blocks connected in series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2</a:t>
            </a:r>
            <a:r>
              <a:rPr lang="en"/>
              <a:t> − Check for the blocks connected in parallel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3</a:t>
            </a:r>
            <a:r>
              <a:rPr lang="en"/>
              <a:t> − Check for the blocks connected in feedback loop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4</a:t>
            </a:r>
            <a:r>
              <a:rPr lang="en"/>
              <a:t> − If there is difficulty with take-off point while simplifying, shift it towards right/left.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5</a:t>
            </a:r>
            <a:r>
              <a:rPr lang="en"/>
              <a:t> − If there is difficulty with summing point while simplifying, shift it towards right/left.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6</a:t>
            </a:r>
            <a:r>
              <a:rPr lang="en"/>
              <a:t> − Repeat the above steps till you get the simplified form, i.e., single block.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2c710898294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85" y="504296"/>
            <a:ext cx="707501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c710898294_0_102"/>
          <p:cNvSpPr txBox="1"/>
          <p:nvPr/>
        </p:nvSpPr>
        <p:spPr>
          <a:xfrm>
            <a:off x="131525" y="0"/>
            <a:ext cx="3546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1: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c710898294_0_102"/>
          <p:cNvSpPr txBox="1"/>
          <p:nvPr/>
        </p:nvSpPr>
        <p:spPr>
          <a:xfrm>
            <a:off x="3478845" y="3389467"/>
            <a:ext cx="5435957" cy="161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4 − If there is difficulty with take-off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2c71089829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663" y="515638"/>
            <a:ext cx="5301488" cy="201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c710898294_0_107"/>
          <p:cNvPicPr preferRelativeResize="0"/>
          <p:nvPr/>
        </p:nvPicPr>
        <p:blipFill rotWithShape="1">
          <a:blip r:embed="rId4">
            <a:alphaModFix/>
          </a:blip>
          <a:srcRect b="0" l="0" r="0" t="18291"/>
          <a:stretch/>
        </p:blipFill>
        <p:spPr>
          <a:xfrm>
            <a:off x="199927" y="2894454"/>
            <a:ext cx="5307100" cy="178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c710898294_0_107"/>
          <p:cNvSpPr txBox="1"/>
          <p:nvPr/>
        </p:nvSpPr>
        <p:spPr>
          <a:xfrm>
            <a:off x="5754532" y="770021"/>
            <a:ext cx="2947139" cy="365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4 − If there is difficulty with take-off point while simplifying, shift it towards right</a:t>
            </a:r>
            <a:r>
              <a:rPr b="1" lang="en" sz="1200" u="sng">
                <a:solidFill>
                  <a:srgbClr val="FF0000"/>
                </a:solidFill>
              </a:rPr>
              <a:t>/left</a:t>
            </a: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615" y="2633196"/>
            <a:ext cx="5468791" cy="19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/>
          <p:cNvPicPr preferRelativeResize="0"/>
          <p:nvPr/>
        </p:nvPicPr>
        <p:blipFill rotWithShape="1">
          <a:blip r:embed="rId4">
            <a:alphaModFix/>
          </a:blip>
          <a:srcRect b="0" l="0" r="0" t="20486"/>
          <a:stretch/>
        </p:blipFill>
        <p:spPr>
          <a:xfrm>
            <a:off x="273611" y="735644"/>
            <a:ext cx="5632175" cy="1574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 txBox="1"/>
          <p:nvPr/>
        </p:nvSpPr>
        <p:spPr>
          <a:xfrm>
            <a:off x="5981412" y="1038154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1 −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</a:t>
            </a:r>
            <a:r>
              <a:rPr lang="en" sz="1200">
                <a:solidFill>
                  <a:schemeClr val="dk1"/>
                </a:solidFill>
              </a:rPr>
              <a:t>/left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2c710898294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14" y="80451"/>
            <a:ext cx="5647994" cy="22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710898294_0_117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right/left.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2c710898294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56" y="2785944"/>
            <a:ext cx="5669280" cy="171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84" y="656806"/>
            <a:ext cx="5525372" cy="166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87" y="2796561"/>
            <a:ext cx="5650897" cy="16998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2"/>
          <p:cNvGrpSpPr/>
          <p:nvPr/>
        </p:nvGrpSpPr>
        <p:grpSpPr>
          <a:xfrm>
            <a:off x="2626463" y="3338662"/>
            <a:ext cx="717000" cy="302475"/>
            <a:chOff x="4093125" y="2141987"/>
            <a:chExt cx="717000" cy="302475"/>
          </a:xfrm>
        </p:grpSpPr>
        <p:pic>
          <p:nvPicPr>
            <p:cNvPr id="163" name="Google Shape;163;p12"/>
            <p:cNvPicPr preferRelativeResize="0"/>
            <p:nvPr/>
          </p:nvPicPr>
          <p:blipFill rotWithShape="1">
            <a:blip r:embed="rId5">
              <a:alphaModFix/>
            </a:blip>
            <a:srcRect b="14340" l="0" r="0" t="0"/>
            <a:stretch/>
          </p:blipFill>
          <p:spPr>
            <a:xfrm>
              <a:off x="4093125" y="2161873"/>
              <a:ext cx="255250" cy="27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33875" y="2141987"/>
              <a:ext cx="476250" cy="302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2c710898294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38" y="1476526"/>
            <a:ext cx="5410264" cy="164481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c710898294_0_122"/>
          <p:cNvSpPr txBox="1"/>
          <p:nvPr/>
        </p:nvSpPr>
        <p:spPr>
          <a:xfrm>
            <a:off x="730425" y="873700"/>
            <a:ext cx="1244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c710898294_0_122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e0ba3fc91_0_0"/>
          <p:cNvSpPr txBox="1"/>
          <p:nvPr/>
        </p:nvSpPr>
        <p:spPr>
          <a:xfrm>
            <a:off x="2524500" y="1396350"/>
            <a:ext cx="4095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Practice for Home</a:t>
            </a:r>
            <a:endParaRPr b="1"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ae0ba3fc91_0_4" title="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50" y="876663"/>
            <a:ext cx="8527501" cy="33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ae0ba3fc91_0_4"/>
          <p:cNvSpPr txBox="1"/>
          <p:nvPr/>
        </p:nvSpPr>
        <p:spPr>
          <a:xfrm>
            <a:off x="445275" y="249250"/>
            <a:ext cx="5044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Problem 1</a:t>
            </a:r>
            <a:endParaRPr b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ae0ba3fc91_0_9" title="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43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ae0ba3fc91_0_13" title="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38" y="-62325"/>
            <a:ext cx="7895325" cy="52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ae0ba3fc91_0_17" title="s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425" y="0"/>
            <a:ext cx="68011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0ba3fc91_0_21"/>
          <p:cNvSpPr txBox="1"/>
          <p:nvPr/>
        </p:nvSpPr>
        <p:spPr>
          <a:xfrm>
            <a:off x="445275" y="249250"/>
            <a:ext cx="5044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Problem 2</a:t>
            </a:r>
            <a:endParaRPr b="1" sz="2700">
              <a:solidFill>
                <a:schemeClr val="dk2"/>
              </a:solidFill>
            </a:endParaRPr>
          </a:p>
        </p:txBody>
      </p:sp>
      <p:pic>
        <p:nvPicPr>
          <p:cNvPr id="203" name="Google Shape;203;g3ae0ba3fc91_0_21" title="q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250" y="876550"/>
            <a:ext cx="6731501" cy="42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ae0ba3fc91_0_26" title="q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875" y="152400"/>
            <a:ext cx="660225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ae0ba3fc91_0_30" title="q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25" y="471488"/>
            <a:ext cx="683895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PID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